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39"/>
  </p:normalViewPr>
  <p:slideViewPr>
    <p:cSldViewPr snapToGrid="0">
      <p:cViewPr>
        <p:scale>
          <a:sx n="84" d="100"/>
          <a:sy n="84" d="100"/>
        </p:scale>
        <p:origin x="-144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bg">
            <a:extLst>
              <a:ext uri="{FF2B5EF4-FFF2-40B4-BE49-F238E27FC236}">
                <a16:creationId xmlns:a16="http://schemas.microsoft.com/office/drawing/2014/main" id="{8D468969-50D0-49C6-A48F-825A409E45BB}"/>
              </a:ext>
            </a:extLst>
          </p:cNvPr>
          <p:cNvSpPr>
            <a:spLocks noGrp="1"/>
          </p:cNvSpPr>
          <p:nvPr/>
        </p:nvSpPr>
        <p:spPr>
          <a:xfrm>
            <a:off x="0" y="-152400"/>
            <a:ext cx="18288000" cy="10287000"/>
          </a:xfrm>
          <a:prstGeom prst="rect">
            <a:avLst/>
          </a:prstGeom>
          <a:solidFill>
            <a:srgbClr val="0D0D0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407038-4E1C-4B12-8C1D-96B8EEDAC7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4800" cy="10287000"/>
          </a:xfrm>
          <a:prstGeom prst="rect">
            <a:avLst/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7115F4-5BBF-4F19-A753-BB24492BBD80}"/>
              </a:ext>
            </a:extLst>
          </p:cNvPr>
          <p:cNvSpPr>
            <a:spLocks noGrp="1"/>
          </p:cNvSpPr>
          <p:nvPr/>
        </p:nvSpPr>
        <p:spPr>
          <a:xfrm>
            <a:off x="12801600" y="-152400"/>
            <a:ext cx="5334000" cy="10112829"/>
          </a:xfrm>
          <a:prstGeom prst="rect">
            <a:avLst/>
          </a:prstGeom>
          <a:solidFill>
            <a:srgbClr val="121816"/>
          </a:solidFill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4DBA3C3-0380-46A0-A992-F5871A9C1EC9}"/>
              </a:ext>
            </a:extLst>
          </p:cNvPr>
          <p:cNvSpPr>
            <a:spLocks noGrp="1"/>
          </p:cNvSpPr>
          <p:nvPr/>
        </p:nvSpPr>
        <p:spPr>
          <a:xfrm>
            <a:off x="13258800" y="4657725"/>
            <a:ext cx="4038600" cy="76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73F1067D-FCA3-43DF-A049-CDB9C9759050}"/>
              </a:ext>
            </a:extLst>
          </p:cNvPr>
          <p:cNvSpPr>
            <a:spLocks noGrp="1"/>
          </p:cNvSpPr>
          <p:nvPr/>
        </p:nvSpPr>
        <p:spPr>
          <a:xfrm>
            <a:off x="13258800" y="5343525"/>
            <a:ext cx="2590800" cy="762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FFCA8F63-FE4E-46B6-AC64-A9572897DC3D}"/>
              </a:ext>
            </a:extLst>
          </p:cNvPr>
          <p:cNvSpPr>
            <a:spLocks noGrp="1"/>
          </p:cNvSpPr>
          <p:nvPr/>
        </p:nvSpPr>
        <p:spPr>
          <a:xfrm>
            <a:off x="13258800" y="5953125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C94A703B-DD6B-4E8B-A760-B66A0AB2606D}"/>
              </a:ext>
            </a:extLst>
          </p:cNvPr>
          <p:cNvSpPr>
            <a:spLocks noGrp="1"/>
          </p:cNvSpPr>
          <p:nvPr/>
        </p:nvSpPr>
        <p:spPr>
          <a:xfrm>
            <a:off x="13258800" y="6562725"/>
            <a:ext cx="2133600" cy="76200"/>
          </a:xfrm>
          <a:prstGeom prst="roundRect">
            <a:avLst>
              <a:gd name="adj" fmla="val 50000"/>
            </a:avLst>
          </a:prstGeom>
          <a:solidFill>
            <a:srgbClr val="86EFAC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8" name="cover-title">
            <a:extLst>
              <a:ext uri="{FF2B5EF4-FFF2-40B4-BE49-F238E27FC236}">
                <a16:creationId xmlns:a16="http://schemas.microsoft.com/office/drawing/2014/main" id="{9C236AD4-8490-4E9B-B941-2A285B3D4936}"/>
              </a:ext>
            </a:extLst>
          </p:cNvPr>
          <p:cNvSpPr>
            <a:spLocks noGrp="1"/>
          </p:cNvSpPr>
          <p:nvPr/>
        </p:nvSpPr>
        <p:spPr>
          <a:xfrm>
            <a:off x="1143000" y="2609850"/>
            <a:ext cx="10858500" cy="952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150" b="1">
                <a:solidFill>
                  <a:srgbClr val="FFFFFF"/>
                </a:solidFill>
              </a:defRPr>
            </a:pPr>
            <a:r>
              <a:rPr lang="en" sz="6150" b="1" dirty="0">
                <a:solidFill>
                  <a:srgbClr val="FFFFFF"/>
                </a:solidFill>
              </a:rPr>
              <a:t>OpenAI - Symphony</a:t>
            </a:r>
            <a:endParaRPr sz="6150" b="1" dirty="0">
              <a:solidFill>
                <a:srgbClr val="FFFFFF"/>
              </a:solidFill>
            </a:endParaRPr>
          </a:p>
        </p:txBody>
      </p:sp>
      <p:sp>
        <p:nvSpPr>
          <p:cNvPr id="9" name="cover-subtitle">
            <a:extLst>
              <a:ext uri="{FF2B5EF4-FFF2-40B4-BE49-F238E27FC236}">
                <a16:creationId xmlns:a16="http://schemas.microsoft.com/office/drawing/2014/main" id="{66E5DDDC-01ED-4F37-87F9-DB6A14F2ACC0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102870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>
                <a:solidFill>
                  <a:srgbClr val="DDE7E2"/>
                </a:solidFill>
              </a:defRPr>
            </a:pPr>
            <a:r>
              <a:rPr lang="en" sz="2400" dirty="0">
                <a:solidFill>
                  <a:srgbClr val="DDE7E2"/>
                </a:solidFill>
              </a:rPr>
              <a:t>AI </a:t>
            </a:r>
            <a:r>
              <a:rPr lang="ko-KR" altLang="en-US" sz="2400" dirty="0">
                <a:solidFill>
                  <a:srgbClr val="DDE7E2"/>
                </a:solidFill>
              </a:rPr>
              <a:t>워크플로우 체험기</a:t>
            </a:r>
            <a:endParaRPr sz="2400" dirty="0">
              <a:solidFill>
                <a:srgbClr val="DDE7E2"/>
              </a:solidFill>
            </a:endParaRPr>
          </a:p>
        </p:txBody>
      </p:sp>
      <p:sp>
        <p:nvSpPr>
          <p:cNvPr id="10" name="rule">
            <a:extLst>
              <a:ext uri="{FF2B5EF4-FFF2-40B4-BE49-F238E27FC236}">
                <a16:creationId xmlns:a16="http://schemas.microsoft.com/office/drawing/2014/main" id="{D15592D2-A65C-4C27-BEDE-DF3667C3FB5E}"/>
              </a:ext>
            </a:extLst>
          </p:cNvPr>
          <p:cNvSpPr>
            <a:spLocks noGrp="1"/>
          </p:cNvSpPr>
          <p:nvPr/>
        </p:nvSpPr>
        <p:spPr>
          <a:xfrm>
            <a:off x="1181100" y="4495800"/>
            <a:ext cx="3429000" cy="57150"/>
          </a:xfrm>
          <a:prstGeom prst="rect">
            <a:avLst/>
          </a:prstGeom>
          <a:solidFill>
            <a:srgbClr val="10A37F"/>
          </a:solidFill>
          <a:ln w="0">
            <a:solidFill>
              <a:srgbClr val="10A37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cover-promise">
            <a:extLst>
              <a:ext uri="{FF2B5EF4-FFF2-40B4-BE49-F238E27FC236}">
                <a16:creationId xmlns:a16="http://schemas.microsoft.com/office/drawing/2014/main" id="{331E9F62-2A3C-49FD-BAC3-7D8B6036D926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87630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>
                <a:solidFill>
                  <a:srgbClr val="A7B3AE"/>
                </a:solidFill>
              </a:defRPr>
            </a:pPr>
            <a:r>
              <a:rPr sz="1950" dirty="0">
                <a:solidFill>
                  <a:srgbClr val="A7B3AE"/>
                </a:solidFill>
              </a:rPr>
              <a:t>Project </a:t>
            </a:r>
            <a:r>
              <a:rPr sz="1950" dirty="0" err="1">
                <a:solidFill>
                  <a:srgbClr val="A7B3AE"/>
                </a:solidFill>
              </a:rPr>
              <a:t>board를</a:t>
            </a:r>
            <a:r>
              <a:rPr sz="1950" dirty="0">
                <a:solidFill>
                  <a:srgbClr val="A7B3AE"/>
                </a:solidFill>
              </a:rPr>
              <a:t> </a:t>
            </a:r>
            <a:r>
              <a:rPr sz="1950" dirty="0" err="1">
                <a:solidFill>
                  <a:srgbClr val="A7B3AE"/>
                </a:solidFill>
              </a:rPr>
              <a:t>코딩</a:t>
            </a:r>
            <a:r>
              <a:rPr sz="1950" dirty="0">
                <a:solidFill>
                  <a:srgbClr val="A7B3AE"/>
                </a:solidFill>
              </a:rPr>
              <a:t> </a:t>
            </a:r>
            <a:r>
              <a:rPr sz="1950" dirty="0" err="1">
                <a:solidFill>
                  <a:srgbClr val="A7B3AE"/>
                </a:solidFill>
              </a:rPr>
              <a:t>에이전트의</a:t>
            </a:r>
            <a:r>
              <a:rPr sz="1950" dirty="0">
                <a:solidFill>
                  <a:srgbClr val="A7B3AE"/>
                </a:solidFill>
              </a:rPr>
              <a:t> </a:t>
            </a:r>
            <a:r>
              <a:rPr sz="1950" dirty="0" err="1">
                <a:solidFill>
                  <a:srgbClr val="A7B3AE"/>
                </a:solidFill>
              </a:rPr>
              <a:t>제어</a:t>
            </a:r>
            <a:r>
              <a:rPr sz="1950" dirty="0">
                <a:solidFill>
                  <a:srgbClr val="A7B3AE"/>
                </a:solidFill>
              </a:rPr>
              <a:t> </a:t>
            </a:r>
            <a:r>
              <a:rPr sz="1950" dirty="0" err="1">
                <a:solidFill>
                  <a:srgbClr val="A7B3AE"/>
                </a:solidFill>
              </a:rPr>
              <a:t>평면으로</a:t>
            </a:r>
            <a:r>
              <a:rPr sz="1950" dirty="0">
                <a:solidFill>
                  <a:srgbClr val="A7B3AE"/>
                </a:solidFill>
              </a:rPr>
              <a:t> </a:t>
            </a:r>
            <a:r>
              <a:rPr sz="1950" dirty="0" err="1">
                <a:solidFill>
                  <a:srgbClr val="A7B3AE"/>
                </a:solidFill>
              </a:rPr>
              <a:t>바꾸는</a:t>
            </a:r>
            <a:r>
              <a:rPr sz="1950" dirty="0">
                <a:solidFill>
                  <a:srgbClr val="A7B3AE"/>
                </a:solidFill>
              </a:rPr>
              <a:t> </a:t>
            </a:r>
            <a:r>
              <a:rPr sz="1950" dirty="0" err="1">
                <a:solidFill>
                  <a:srgbClr val="A7B3AE"/>
                </a:solidFill>
              </a:rPr>
              <a:t>구현</a:t>
            </a:r>
            <a:r>
              <a:rPr sz="1950" dirty="0">
                <a:solidFill>
                  <a:srgbClr val="A7B3AE"/>
                </a:solidFill>
              </a:rPr>
              <a:t> </a:t>
            </a:r>
            <a:r>
              <a:rPr sz="1950" dirty="0" err="1">
                <a:solidFill>
                  <a:srgbClr val="A7B3AE"/>
                </a:solidFill>
              </a:rPr>
              <a:t>이야기</a:t>
            </a:r>
            <a:endParaRPr sz="1950" dirty="0">
              <a:solidFill>
                <a:srgbClr val="A7B3AE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85697C2E-0510-4C59-8D82-192C817169B4}"/>
              </a:ext>
            </a:extLst>
          </p:cNvPr>
          <p:cNvSpPr>
            <a:spLocks noGrp="1"/>
          </p:cNvSpPr>
          <p:nvPr/>
        </p:nvSpPr>
        <p:spPr>
          <a:xfrm>
            <a:off x="12954000" y="7696200"/>
            <a:ext cx="3657600" cy="1219200"/>
          </a:xfrm>
          <a:prstGeom prst="roundRect">
            <a:avLst>
              <a:gd name="adj" fmla="val 14063"/>
            </a:avLst>
          </a:prstGeom>
          <a:solidFill>
            <a:srgbClr val="202123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B3331C53-23F0-484E-9B46-196E21D8A51D}"/>
              </a:ext>
            </a:extLst>
          </p:cNvPr>
          <p:cNvSpPr>
            <a:spLocks noGrp="1"/>
          </p:cNvSpPr>
          <p:nvPr/>
        </p:nvSpPr>
        <p:spPr>
          <a:xfrm>
            <a:off x="12954000" y="7696200"/>
            <a:ext cx="76200" cy="1219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4" name="stars-label">
            <a:extLst>
              <a:ext uri="{FF2B5EF4-FFF2-40B4-BE49-F238E27FC236}">
                <a16:creationId xmlns:a16="http://schemas.microsoft.com/office/drawing/2014/main" id="{3443AD57-8BEC-4A1A-9F02-4AC1E84528E5}"/>
              </a:ext>
            </a:extLst>
          </p:cNvPr>
          <p:cNvSpPr>
            <a:spLocks noGrp="1"/>
          </p:cNvSpPr>
          <p:nvPr/>
        </p:nvSpPr>
        <p:spPr>
          <a:xfrm>
            <a:off x="13335000" y="7943850"/>
            <a:ext cx="16192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BFC7C2"/>
                </a:solidFill>
              </a:defRPr>
            </a:pPr>
            <a:r>
              <a:rPr sz="1425">
                <a:solidFill>
                  <a:srgbClr val="BFC7C2"/>
                </a:solidFill>
              </a:rPr>
              <a:t>GitHub Stars</a:t>
            </a:r>
          </a:p>
        </p:txBody>
      </p:sp>
      <p:sp>
        <p:nvSpPr>
          <p:cNvPr id="15" name="stars-value">
            <a:extLst>
              <a:ext uri="{FF2B5EF4-FFF2-40B4-BE49-F238E27FC236}">
                <a16:creationId xmlns:a16="http://schemas.microsoft.com/office/drawing/2014/main" id="{D32F519F-5FFC-4024-B539-612EFB8B66C3}"/>
              </a:ext>
            </a:extLst>
          </p:cNvPr>
          <p:cNvSpPr>
            <a:spLocks noGrp="1"/>
          </p:cNvSpPr>
          <p:nvPr/>
        </p:nvSpPr>
        <p:spPr>
          <a:xfrm>
            <a:off x="13335000" y="8210550"/>
            <a:ext cx="18097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18k+</a:t>
            </a:r>
          </a:p>
        </p:txBody>
      </p:sp>
      <p:sp>
        <p:nvSpPr>
          <p:cNvPr id="16" name="stars-repo">
            <a:extLst>
              <a:ext uri="{FF2B5EF4-FFF2-40B4-BE49-F238E27FC236}">
                <a16:creationId xmlns:a16="http://schemas.microsoft.com/office/drawing/2014/main" id="{961C49AE-53BB-4160-A5A3-84F7AAAED3A3}"/>
              </a:ext>
            </a:extLst>
          </p:cNvPr>
          <p:cNvSpPr>
            <a:spLocks noGrp="1"/>
          </p:cNvSpPr>
          <p:nvPr/>
        </p:nvSpPr>
        <p:spPr>
          <a:xfrm>
            <a:off x="15106650" y="8324850"/>
            <a:ext cx="1428750" cy="4000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275">
                <a:solidFill>
                  <a:srgbClr val="8EA098"/>
                </a:solidFill>
              </a:defRPr>
            </a:pPr>
            <a:r>
              <a:rPr sz="1275">
                <a:solidFill>
                  <a:srgbClr val="8EA098"/>
                </a:solidFill>
              </a:rPr>
              <a:t>OpenAI / symphony</a:t>
            </a:r>
          </a:p>
        </p:txBody>
      </p:sp>
      <p:sp>
        <p:nvSpPr>
          <p:cNvPr id="17" name="cover-meta-1">
            <a:extLst>
              <a:ext uri="{FF2B5EF4-FFF2-40B4-BE49-F238E27FC236}">
                <a16:creationId xmlns:a16="http://schemas.microsoft.com/office/drawing/2014/main" id="{D2108285-6A48-4779-9FA8-D7F90F814380}"/>
              </a:ext>
            </a:extLst>
          </p:cNvPr>
          <p:cNvSpPr>
            <a:spLocks noGrp="1"/>
          </p:cNvSpPr>
          <p:nvPr/>
        </p:nvSpPr>
        <p:spPr>
          <a:xfrm>
            <a:off x="1181100" y="8572500"/>
            <a:ext cx="31432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7EE0C4"/>
                </a:solidFill>
              </a:defRPr>
            </a:pPr>
            <a:r>
              <a:rPr sz="1500" b="1" dirty="0">
                <a:solidFill>
                  <a:srgbClr val="7EE0C4"/>
                </a:solidFill>
              </a:rPr>
              <a:t>OpenAI Symphony </a:t>
            </a:r>
            <a:r>
              <a:rPr sz="1500" b="1" dirty="0" err="1">
                <a:solidFill>
                  <a:srgbClr val="7EE0C4"/>
                </a:solidFill>
              </a:rPr>
              <a:t>기반</a:t>
            </a:r>
            <a:endParaRPr sz="1500" b="1" dirty="0">
              <a:solidFill>
                <a:srgbClr val="7EE0C4"/>
              </a:solidFill>
            </a:endParaRPr>
          </a:p>
        </p:txBody>
      </p:sp>
      <p:sp>
        <p:nvSpPr>
          <p:cNvPr id="18" name="cover-meta-2">
            <a:extLst>
              <a:ext uri="{FF2B5EF4-FFF2-40B4-BE49-F238E27FC236}">
                <a16:creationId xmlns:a16="http://schemas.microsoft.com/office/drawing/2014/main" id="{D36CBBF1-255A-41E1-B192-5B64E1E14F6C}"/>
              </a:ext>
            </a:extLst>
          </p:cNvPr>
          <p:cNvSpPr>
            <a:spLocks noGrp="1"/>
          </p:cNvSpPr>
          <p:nvPr/>
        </p:nvSpPr>
        <p:spPr>
          <a:xfrm>
            <a:off x="1181100" y="8915400"/>
            <a:ext cx="4191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BFC7C2"/>
                </a:solidFill>
              </a:defRPr>
            </a:pPr>
            <a:r>
              <a:rPr sz="1500" dirty="0">
                <a:solidFill>
                  <a:srgbClr val="BFC7C2"/>
                </a:solidFill>
              </a:rPr>
              <a:t>GitHub Projects + TypeScript</a:t>
            </a:r>
          </a:p>
        </p:txBody>
      </p:sp>
      <p:sp>
        <p:nvSpPr>
          <p:cNvPr id="19" name="dark-footer">
            <a:extLst>
              <a:ext uri="{FF2B5EF4-FFF2-40B4-BE49-F238E27FC236}">
                <a16:creationId xmlns:a16="http://schemas.microsoft.com/office/drawing/2014/main" id="{6BACDFAA-DA81-464B-87C8-5C254FBC90D2}"/>
              </a:ext>
            </a:extLst>
          </p:cNvPr>
          <p:cNvSpPr>
            <a:spLocks noGrp="1"/>
          </p:cNvSpPr>
          <p:nvPr/>
        </p:nvSpPr>
        <p:spPr>
          <a:xfrm>
            <a:off x="1143000" y="9601200"/>
            <a:ext cx="8572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BFC7C2"/>
                </a:solidFill>
              </a:defRPr>
            </a:pPr>
            <a:r>
              <a:rPr sz="1425" dirty="0">
                <a:solidFill>
                  <a:srgbClr val="BFC7C2"/>
                </a:solidFill>
              </a:rPr>
              <a:t>OpenAI Symphony </a:t>
            </a:r>
            <a:r>
              <a:rPr sz="1425" dirty="0" err="1">
                <a:solidFill>
                  <a:srgbClr val="BFC7C2"/>
                </a:solidFill>
              </a:rPr>
              <a:t>기반</a:t>
            </a:r>
            <a:r>
              <a:rPr sz="1425" dirty="0">
                <a:solidFill>
                  <a:srgbClr val="BFC7C2"/>
                </a:solidFill>
              </a:rPr>
              <a:t> · GitHub Projects + TypeScript </a:t>
            </a:r>
            <a:r>
              <a:rPr sz="1425" dirty="0" err="1">
                <a:solidFill>
                  <a:srgbClr val="BFC7C2"/>
                </a:solidFill>
              </a:rPr>
              <a:t>구현</a:t>
            </a:r>
            <a:r>
              <a:rPr lang="ko-KR" altLang="en-US" sz="1425" dirty="0">
                <a:solidFill>
                  <a:srgbClr val="BFC7C2"/>
                </a:solidFill>
              </a:rPr>
              <a:t>체 소개</a:t>
            </a:r>
            <a:endParaRPr sz="1425" dirty="0">
              <a:solidFill>
                <a:srgbClr val="BFC7C2"/>
              </a:solidFill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085E08A7-9EE5-4AF4-8928-235D58A98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0311" y="1465687"/>
            <a:ext cx="2465589" cy="246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bg">
            <a:extLst>
              <a:ext uri="{FF2B5EF4-FFF2-40B4-BE49-F238E27FC236}">
                <a16:creationId xmlns:a16="http://schemas.microsoft.com/office/drawing/2014/main" id="{4B11DCF4-405A-4341-9098-3691452AC8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93BACDD5-6482-4105-A30D-4CB5339F1ACA}"/>
              </a:ext>
            </a:extLst>
          </p:cNvPr>
          <p:cNvSpPr>
            <a:spLocks noGrp="1"/>
          </p:cNvSpPr>
          <p:nvPr/>
        </p:nvSpPr>
        <p:spPr>
          <a:xfrm>
            <a:off x="876300" y="876300"/>
            <a:ext cx="76200" cy="5334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slide-kicker">
            <a:extLst>
              <a:ext uri="{FF2B5EF4-FFF2-40B4-BE49-F238E27FC236}">
                <a16:creationId xmlns:a16="http://schemas.microsoft.com/office/drawing/2014/main" id="{3FCFFE23-B1B5-4690-8FB5-0CCAA45AA20C}"/>
              </a:ext>
            </a:extLst>
          </p:cNvPr>
          <p:cNvSpPr>
            <a:spLocks noGrp="1"/>
          </p:cNvSpPr>
          <p:nvPr/>
        </p:nvSpPr>
        <p:spPr>
          <a:xfrm>
            <a:off x="1143000" y="704850"/>
            <a:ext cx="1524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A37F"/>
                </a:solidFill>
              </a:defRPr>
            </a:pPr>
            <a:r>
              <a:rPr sz="1350" b="1">
                <a:solidFill>
                  <a:srgbClr val="10A37F"/>
                </a:solidFill>
              </a:rPr>
              <a:t>02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44DEE49A-0A6E-494D-AFB8-9EFCA46E14F0}"/>
              </a:ext>
            </a:extLst>
          </p:cNvPr>
          <p:cNvSpPr>
            <a:spLocks noGrp="1"/>
          </p:cNvSpPr>
          <p:nvPr/>
        </p:nvSpPr>
        <p:spPr>
          <a:xfrm>
            <a:off x="1143000" y="990600"/>
            <a:ext cx="11239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0D0D0D"/>
                </a:solidFill>
              </a:defRPr>
            </a:pPr>
            <a:r>
              <a:rPr sz="3300" b="1">
                <a:solidFill>
                  <a:srgbClr val="0D0D0D"/>
                </a:solidFill>
              </a:rPr>
              <a:t>OpenAI Symphony란?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39DBE955-61B1-4697-8B1D-0B3D369DF3E9}"/>
              </a:ext>
            </a:extLst>
          </p:cNvPr>
          <p:cNvSpPr>
            <a:spLocks noGrp="1"/>
          </p:cNvSpPr>
          <p:nvPr/>
        </p:nvSpPr>
        <p:spPr>
          <a:xfrm>
            <a:off x="1143000" y="1581150"/>
            <a:ext cx="11239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E6E80"/>
                </a:solidFill>
              </a:defRPr>
            </a:pPr>
            <a:r>
              <a:rPr sz="1650">
                <a:solidFill>
                  <a:srgbClr val="6E6E80"/>
                </a:solidFill>
              </a:rPr>
              <a:t>Project Management Board를 코딩 에이전트의 제어 평면으로 전환하는 오픈소스 스펙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2216B21-1C2E-44CD-83E0-B291D3C20323}"/>
              </a:ext>
            </a:extLst>
          </p:cNvPr>
          <p:cNvSpPr>
            <a:spLocks noGrp="1"/>
          </p:cNvSpPr>
          <p:nvPr/>
        </p:nvSpPr>
        <p:spPr>
          <a:xfrm>
            <a:off x="1447800" y="2362200"/>
            <a:ext cx="15468600" cy="1524000"/>
          </a:xfrm>
          <a:prstGeom prst="roundRect">
            <a:avLst>
              <a:gd name="adj" fmla="val 11250"/>
            </a:avLst>
          </a:prstGeom>
          <a:solidFill>
            <a:srgbClr val="F7F7F8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445201F9-7CBD-498F-BC29-60844219988C}"/>
              </a:ext>
            </a:extLst>
          </p:cNvPr>
          <p:cNvSpPr>
            <a:spLocks noGrp="1"/>
          </p:cNvSpPr>
          <p:nvPr/>
        </p:nvSpPr>
        <p:spPr>
          <a:xfrm>
            <a:off x="1447800" y="2362200"/>
            <a:ext cx="76200" cy="15240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8" name="quote">
            <a:extLst>
              <a:ext uri="{FF2B5EF4-FFF2-40B4-BE49-F238E27FC236}">
                <a16:creationId xmlns:a16="http://schemas.microsoft.com/office/drawing/2014/main" id="{2776E6AE-C2CA-40B7-A1CA-4FB561797031}"/>
              </a:ext>
            </a:extLst>
          </p:cNvPr>
          <p:cNvSpPr>
            <a:spLocks noGrp="1"/>
          </p:cNvSpPr>
          <p:nvPr/>
        </p:nvSpPr>
        <p:spPr>
          <a:xfrm>
            <a:off x="1962150" y="2781300"/>
            <a:ext cx="134302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i="1">
                <a:solidFill>
                  <a:srgbClr val="0D0D0D"/>
                </a:solidFill>
              </a:defRPr>
            </a:pPr>
            <a:r>
              <a:rPr sz="2700" i="1">
                <a:solidFill>
                  <a:srgbClr val="0D0D0D"/>
                </a:solidFill>
              </a:rPr>
              <a:t>"Project Management Board를 코딩 에이전트의 control plane으로 전환한다"</a:t>
            </a:r>
          </a:p>
        </p:txBody>
      </p:sp>
      <p:sp>
        <p:nvSpPr>
          <p:cNvPr id="9" name="quote-note">
            <a:extLst>
              <a:ext uri="{FF2B5EF4-FFF2-40B4-BE49-F238E27FC236}">
                <a16:creationId xmlns:a16="http://schemas.microsoft.com/office/drawing/2014/main" id="{ED00F14C-23D7-4E67-BD9B-3EB1A4C57656}"/>
              </a:ext>
            </a:extLst>
          </p:cNvPr>
          <p:cNvSpPr>
            <a:spLocks noGrp="1"/>
          </p:cNvSpPr>
          <p:nvPr/>
        </p:nvSpPr>
        <p:spPr>
          <a:xfrm>
            <a:off x="1981200" y="3333750"/>
            <a:ext cx="12573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E6E80"/>
                </a:solidFill>
              </a:defRPr>
            </a:pPr>
            <a:r>
              <a:rPr sz="1650">
                <a:solidFill>
                  <a:srgbClr val="6E6E80"/>
                </a:solidFill>
              </a:rPr>
              <a:t>핵심은 제품이 아니라 SPEC.md다. 트래커, 워크스페이스, 에이전트 런타임을 하나의 반복 가능한 운영 흐름으로 묶는다.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9E6D3D2A-507D-4C0F-8324-D7716BD9DFA6}"/>
              </a:ext>
            </a:extLst>
          </p:cNvPr>
          <p:cNvSpPr>
            <a:spLocks noGrp="1"/>
          </p:cNvSpPr>
          <p:nvPr/>
        </p:nvSpPr>
        <p:spPr>
          <a:xfrm>
            <a:off x="1447800" y="4495800"/>
            <a:ext cx="3581400" cy="1752600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metric-기술적 실체">
            <a:extLst>
              <a:ext uri="{FF2B5EF4-FFF2-40B4-BE49-F238E27FC236}">
                <a16:creationId xmlns:a16="http://schemas.microsoft.com/office/drawing/2014/main" id="{3D94A705-B003-4BBC-8454-1D864F90A23E}"/>
              </a:ext>
            </a:extLst>
          </p:cNvPr>
          <p:cNvSpPr>
            <a:spLocks noGrp="1"/>
          </p:cNvSpPr>
          <p:nvPr/>
        </p:nvSpPr>
        <p:spPr>
          <a:xfrm>
            <a:off x="1638300" y="4857750"/>
            <a:ext cx="3162300" cy="5143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3300" b="1">
                <a:solidFill>
                  <a:srgbClr val="10A37F"/>
                </a:solidFill>
              </a:defRPr>
            </a:pPr>
            <a:r>
              <a:rPr sz="3300" b="1">
                <a:solidFill>
                  <a:srgbClr val="10A37F"/>
                </a:solidFill>
              </a:rPr>
              <a:t>SPEC.md</a:t>
            </a:r>
          </a:p>
        </p:txBody>
      </p:sp>
      <p:sp>
        <p:nvSpPr>
          <p:cNvPr id="12" name="metric-label-기술적 실체">
            <a:extLst>
              <a:ext uri="{FF2B5EF4-FFF2-40B4-BE49-F238E27FC236}">
                <a16:creationId xmlns:a16="http://schemas.microsoft.com/office/drawing/2014/main" id="{26162D6D-16F1-4F09-A31B-1E5B23FF789B}"/>
              </a:ext>
            </a:extLst>
          </p:cNvPr>
          <p:cNvSpPr>
            <a:spLocks noGrp="1"/>
          </p:cNvSpPr>
          <p:nvPr/>
        </p:nvSpPr>
        <p:spPr>
          <a:xfrm>
            <a:off x="1638300" y="5448300"/>
            <a:ext cx="31623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>
                <a:solidFill>
                  <a:srgbClr val="6E6E80"/>
                </a:solidFill>
              </a:defRPr>
            </a:pPr>
            <a:r>
              <a:rPr sz="1500">
                <a:solidFill>
                  <a:srgbClr val="6E6E80"/>
                </a:solidFill>
              </a:rPr>
              <a:t>기술적 실체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F053A2FB-3F63-4E9A-91D1-42C28744DC56}"/>
              </a:ext>
            </a:extLst>
          </p:cNvPr>
          <p:cNvSpPr>
            <a:spLocks noGrp="1"/>
          </p:cNvSpPr>
          <p:nvPr/>
        </p:nvSpPr>
        <p:spPr>
          <a:xfrm>
            <a:off x="5410200" y="4495800"/>
            <a:ext cx="3581400" cy="1752600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metric-Issue Tracker">
            <a:extLst>
              <a:ext uri="{FF2B5EF4-FFF2-40B4-BE49-F238E27FC236}">
                <a16:creationId xmlns:a16="http://schemas.microsoft.com/office/drawing/2014/main" id="{5CF666D9-5A46-4458-9CD9-CFE5DFFC731B}"/>
              </a:ext>
            </a:extLst>
          </p:cNvPr>
          <p:cNvSpPr>
            <a:spLocks noGrp="1"/>
          </p:cNvSpPr>
          <p:nvPr/>
        </p:nvSpPr>
        <p:spPr>
          <a:xfrm>
            <a:off x="5600700" y="4857750"/>
            <a:ext cx="3162300" cy="5143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3300" b="1">
                <a:solidFill>
                  <a:srgbClr val="2563EB"/>
                </a:solidFill>
              </a:defRPr>
            </a:pPr>
            <a:r>
              <a:rPr sz="3300" b="1">
                <a:solidFill>
                  <a:srgbClr val="2563EB"/>
                </a:solidFill>
              </a:rPr>
              <a:t>Linear</a:t>
            </a:r>
          </a:p>
        </p:txBody>
      </p:sp>
      <p:sp>
        <p:nvSpPr>
          <p:cNvPr id="15" name="metric-label-Issue Tracker">
            <a:extLst>
              <a:ext uri="{FF2B5EF4-FFF2-40B4-BE49-F238E27FC236}">
                <a16:creationId xmlns:a16="http://schemas.microsoft.com/office/drawing/2014/main" id="{44619135-3CF7-4D1A-A871-599C77C2391A}"/>
              </a:ext>
            </a:extLst>
          </p:cNvPr>
          <p:cNvSpPr>
            <a:spLocks noGrp="1"/>
          </p:cNvSpPr>
          <p:nvPr/>
        </p:nvSpPr>
        <p:spPr>
          <a:xfrm>
            <a:off x="5600700" y="5448300"/>
            <a:ext cx="31623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>
                <a:solidFill>
                  <a:srgbClr val="6E6E80"/>
                </a:solidFill>
              </a:defRPr>
            </a:pPr>
            <a:r>
              <a:rPr sz="1500">
                <a:solidFill>
                  <a:srgbClr val="6E6E80"/>
                </a:solidFill>
              </a:rPr>
              <a:t>Issue Tracker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1FBFE6F9-1BB7-4635-B0D2-DA74C7CE1613}"/>
              </a:ext>
            </a:extLst>
          </p:cNvPr>
          <p:cNvSpPr>
            <a:spLocks noGrp="1"/>
          </p:cNvSpPr>
          <p:nvPr/>
        </p:nvSpPr>
        <p:spPr>
          <a:xfrm>
            <a:off x="9372600" y="4495800"/>
            <a:ext cx="3581400" cy="1752600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metric-3주 성과">
            <a:extLst>
              <a:ext uri="{FF2B5EF4-FFF2-40B4-BE49-F238E27FC236}">
                <a16:creationId xmlns:a16="http://schemas.microsoft.com/office/drawing/2014/main" id="{3683EE9D-D982-4302-9B15-9CF02716761F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3162300" cy="5143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3300" b="1">
                <a:solidFill>
                  <a:srgbClr val="F97316"/>
                </a:solidFill>
              </a:defRPr>
            </a:pPr>
            <a:r>
              <a:rPr sz="3300" b="1">
                <a:solidFill>
                  <a:srgbClr val="F97316"/>
                </a:solidFill>
              </a:rPr>
              <a:t>PR +500%</a:t>
            </a:r>
          </a:p>
        </p:txBody>
      </p:sp>
      <p:sp>
        <p:nvSpPr>
          <p:cNvPr id="18" name="metric-label-3주 성과">
            <a:extLst>
              <a:ext uri="{FF2B5EF4-FFF2-40B4-BE49-F238E27FC236}">
                <a16:creationId xmlns:a16="http://schemas.microsoft.com/office/drawing/2014/main" id="{646D488D-D56E-4DC4-9128-8F4F949A53AE}"/>
              </a:ext>
            </a:extLst>
          </p:cNvPr>
          <p:cNvSpPr>
            <a:spLocks noGrp="1"/>
          </p:cNvSpPr>
          <p:nvPr/>
        </p:nvSpPr>
        <p:spPr>
          <a:xfrm>
            <a:off x="9544050" y="5448300"/>
            <a:ext cx="31623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>
                <a:solidFill>
                  <a:srgbClr val="6E6E80"/>
                </a:solidFill>
              </a:defRPr>
            </a:pPr>
            <a:r>
              <a:rPr sz="1500">
                <a:solidFill>
                  <a:srgbClr val="6E6E80"/>
                </a:solidFill>
              </a:rPr>
              <a:t>3주 성과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F9C9F87B-2AFB-4688-B3BB-C1E7CCAB141D}"/>
              </a:ext>
            </a:extLst>
          </p:cNvPr>
          <p:cNvSpPr>
            <a:spLocks noGrp="1"/>
          </p:cNvSpPr>
          <p:nvPr/>
        </p:nvSpPr>
        <p:spPr>
          <a:xfrm>
            <a:off x="13258800" y="4495800"/>
            <a:ext cx="3581400" cy="1752600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metric-GitHub Stars">
            <a:extLst>
              <a:ext uri="{FF2B5EF4-FFF2-40B4-BE49-F238E27FC236}">
                <a16:creationId xmlns:a16="http://schemas.microsoft.com/office/drawing/2014/main" id="{985AE055-7514-41DB-AFEC-25C349FE2E86}"/>
              </a:ext>
            </a:extLst>
          </p:cNvPr>
          <p:cNvSpPr>
            <a:spLocks noGrp="1"/>
          </p:cNvSpPr>
          <p:nvPr/>
        </p:nvSpPr>
        <p:spPr>
          <a:xfrm>
            <a:off x="13506450" y="4857750"/>
            <a:ext cx="3162300" cy="5143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3300" b="1">
                <a:solidFill>
                  <a:srgbClr val="19C37D"/>
                </a:solidFill>
              </a:defRPr>
            </a:pPr>
            <a:r>
              <a:rPr sz="3300" b="1">
                <a:solidFill>
                  <a:srgbClr val="19C37D"/>
                </a:solidFill>
              </a:rPr>
              <a:t>18.3k</a:t>
            </a:r>
          </a:p>
        </p:txBody>
      </p:sp>
      <p:sp>
        <p:nvSpPr>
          <p:cNvPr id="21" name="metric-label-GitHub Stars">
            <a:extLst>
              <a:ext uri="{FF2B5EF4-FFF2-40B4-BE49-F238E27FC236}">
                <a16:creationId xmlns:a16="http://schemas.microsoft.com/office/drawing/2014/main" id="{6225F222-5B59-4648-8B73-DE016F428407}"/>
              </a:ext>
            </a:extLst>
          </p:cNvPr>
          <p:cNvSpPr>
            <a:spLocks noGrp="1"/>
          </p:cNvSpPr>
          <p:nvPr/>
        </p:nvSpPr>
        <p:spPr>
          <a:xfrm>
            <a:off x="13506450" y="5448300"/>
            <a:ext cx="31623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>
                <a:solidFill>
                  <a:srgbClr val="6E6E80"/>
                </a:solidFill>
              </a:defRPr>
            </a:pPr>
            <a:r>
              <a:rPr sz="1500">
                <a:solidFill>
                  <a:srgbClr val="6E6E80"/>
                </a:solidFill>
              </a:rPr>
              <a:t>GitHub Stars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39E2EFEF-76DD-4911-B21D-18312FB9E90B}"/>
              </a:ext>
            </a:extLst>
          </p:cNvPr>
          <p:cNvSpPr>
            <a:spLocks noGrp="1"/>
          </p:cNvSpPr>
          <p:nvPr/>
        </p:nvSpPr>
        <p:spPr>
          <a:xfrm>
            <a:off x="1447800" y="7048500"/>
            <a:ext cx="419100" cy="381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3" name="section-label">
            <a:extLst>
              <a:ext uri="{FF2B5EF4-FFF2-40B4-BE49-F238E27FC236}">
                <a16:creationId xmlns:a16="http://schemas.microsoft.com/office/drawing/2014/main" id="{3DCE3B96-DE84-46B6-B46E-D1B1560FF6DF}"/>
              </a:ext>
            </a:extLst>
          </p:cNvPr>
          <p:cNvSpPr>
            <a:spLocks noGrp="1"/>
          </p:cNvSpPr>
          <p:nvPr/>
        </p:nvSpPr>
        <p:spPr>
          <a:xfrm>
            <a:off x="1428750" y="7181850"/>
            <a:ext cx="4000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0A37F"/>
                </a:solidFill>
              </a:defRPr>
            </a:pPr>
            <a:r>
              <a:rPr sz="1650" b="1">
                <a:solidFill>
                  <a:srgbClr val="10A37F"/>
                </a:solidFill>
              </a:rPr>
              <a:t>메모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AE11AA45-A4E7-4FF7-9BE2-D20E8F566CA5}"/>
              </a:ext>
            </a:extLst>
          </p:cNvPr>
          <p:cNvSpPr>
            <a:spLocks noGrp="1"/>
          </p:cNvSpPr>
          <p:nvPr/>
        </p:nvSpPr>
        <p:spPr>
          <a:xfrm>
            <a:off x="1428750" y="77724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5" name="bullet">
            <a:extLst>
              <a:ext uri="{FF2B5EF4-FFF2-40B4-BE49-F238E27FC236}">
                <a16:creationId xmlns:a16="http://schemas.microsoft.com/office/drawing/2014/main" id="{4DC5E9A2-8D60-43A2-B4BB-2FF9B35E24CE}"/>
              </a:ext>
            </a:extLst>
          </p:cNvPr>
          <p:cNvSpPr>
            <a:spLocks noGrp="1"/>
          </p:cNvSpPr>
          <p:nvPr/>
        </p:nvSpPr>
        <p:spPr>
          <a:xfrm>
            <a:off x="1657350" y="7658100"/>
            <a:ext cx="12344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D0D0D"/>
                </a:solidFill>
              </a:defRPr>
            </a:pPr>
            <a:r>
              <a:rPr sz="1800" b="0">
                <a:solidFill>
                  <a:srgbClr val="0D0D0D"/>
                </a:solidFill>
              </a:rPr>
              <a:t>독립 제품이라기보다, 구현 가능한 레퍼런스 스펙과 Elixir 구현체로 공개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75382BB9-EF83-4BB3-B26E-EFA1A9FEA0F7}"/>
              </a:ext>
            </a:extLst>
          </p:cNvPr>
          <p:cNvSpPr>
            <a:spLocks noGrp="1"/>
          </p:cNvSpPr>
          <p:nvPr/>
        </p:nvSpPr>
        <p:spPr>
          <a:xfrm>
            <a:off x="1428750" y="82867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7" name="bullet">
            <a:extLst>
              <a:ext uri="{FF2B5EF4-FFF2-40B4-BE49-F238E27FC236}">
                <a16:creationId xmlns:a16="http://schemas.microsoft.com/office/drawing/2014/main" id="{F22A8160-9DF6-4371-BCEF-5825600DFCC6}"/>
              </a:ext>
            </a:extLst>
          </p:cNvPr>
          <p:cNvSpPr>
            <a:spLocks noGrp="1"/>
          </p:cNvSpPr>
          <p:nvPr/>
        </p:nvSpPr>
        <p:spPr>
          <a:xfrm>
            <a:off x="1657350" y="8172450"/>
            <a:ext cx="12344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D0D0D"/>
                </a:solidFill>
              </a:defRPr>
            </a:pPr>
            <a:r>
              <a:rPr sz="1800" b="0">
                <a:solidFill>
                  <a:srgbClr val="0D0D0D"/>
                </a:solidFill>
              </a:rPr>
              <a:t>현재 레퍼런스는 Linear를 사용하지만, SPEC 자체는 언어와 플랫폼에 독립적</a:t>
            </a:r>
          </a:p>
        </p:txBody>
      </p:sp>
      <p:sp>
        <p:nvSpPr>
          <p:cNvPr id="28" name="source-rail">
            <a:extLst>
              <a:ext uri="{FF2B5EF4-FFF2-40B4-BE49-F238E27FC236}">
                <a16:creationId xmlns:a16="http://schemas.microsoft.com/office/drawing/2014/main" id="{DBF9B329-0C7E-4452-9BCC-6F9ECEE37046}"/>
              </a:ext>
            </a:extLst>
          </p:cNvPr>
          <p:cNvSpPr>
            <a:spLocks noGrp="1"/>
          </p:cNvSpPr>
          <p:nvPr/>
        </p:nvSpPr>
        <p:spPr>
          <a:xfrm>
            <a:off x="1143000" y="9753600"/>
            <a:ext cx="11906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ACACBE"/>
                </a:solidFill>
              </a:defRPr>
            </a:pPr>
            <a:r>
              <a:rPr sz="1125">
                <a:solidFill>
                  <a:srgbClr val="ACACBE"/>
                </a:solidFill>
              </a:rPr>
              <a:t>Source: OpenAI blog (2026-04-27), GitHub openai/symphony (accessed 2026-04-29)</a:t>
            </a:r>
          </a:p>
        </p:txBody>
      </p:sp>
      <p:sp>
        <p:nvSpPr>
          <p:cNvPr id="29" name="slide-page">
            <a:extLst>
              <a:ext uri="{FF2B5EF4-FFF2-40B4-BE49-F238E27FC236}">
                <a16:creationId xmlns:a16="http://schemas.microsoft.com/office/drawing/2014/main" id="{E84D055B-6F51-48AE-8D57-C0E71AF3CEC7}"/>
              </a:ext>
            </a:extLst>
          </p:cNvPr>
          <p:cNvSpPr>
            <a:spLocks noGrp="1"/>
          </p:cNvSpPr>
          <p:nvPr/>
        </p:nvSpPr>
        <p:spPr>
          <a:xfrm>
            <a:off x="16573500" y="9753600"/>
            <a:ext cx="762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125">
                <a:solidFill>
                  <a:srgbClr val="ACACBE"/>
                </a:solidFill>
              </a:defRPr>
            </a:pPr>
            <a:r>
              <a:rPr sz="1125">
                <a:solidFill>
                  <a:srgbClr val="ACACBE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49865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bg">
            <a:extLst>
              <a:ext uri="{FF2B5EF4-FFF2-40B4-BE49-F238E27FC236}">
                <a16:creationId xmlns:a16="http://schemas.microsoft.com/office/drawing/2014/main" id="{7EA9003F-75B9-4FEC-9826-0E44FE054A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EB56B8B8-A2C0-4CE4-BACF-E902112D02E2}"/>
              </a:ext>
            </a:extLst>
          </p:cNvPr>
          <p:cNvSpPr>
            <a:spLocks noGrp="1"/>
          </p:cNvSpPr>
          <p:nvPr/>
        </p:nvSpPr>
        <p:spPr>
          <a:xfrm>
            <a:off x="876300" y="876300"/>
            <a:ext cx="76200" cy="5334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slide-kicker">
            <a:extLst>
              <a:ext uri="{FF2B5EF4-FFF2-40B4-BE49-F238E27FC236}">
                <a16:creationId xmlns:a16="http://schemas.microsoft.com/office/drawing/2014/main" id="{DBB08381-E8BF-468E-B3BB-5DDF3E20CF52}"/>
              </a:ext>
            </a:extLst>
          </p:cNvPr>
          <p:cNvSpPr>
            <a:spLocks noGrp="1"/>
          </p:cNvSpPr>
          <p:nvPr/>
        </p:nvSpPr>
        <p:spPr>
          <a:xfrm>
            <a:off x="1143000" y="704850"/>
            <a:ext cx="1524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A37F"/>
                </a:solidFill>
              </a:defRPr>
            </a:pPr>
            <a:r>
              <a:rPr sz="1350" b="1">
                <a:solidFill>
                  <a:srgbClr val="10A37F"/>
                </a:solidFill>
              </a:rPr>
              <a:t>03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5605EB9B-8C73-4A08-AD12-9CE68863530C}"/>
              </a:ext>
            </a:extLst>
          </p:cNvPr>
          <p:cNvSpPr>
            <a:spLocks noGrp="1"/>
          </p:cNvSpPr>
          <p:nvPr/>
        </p:nvSpPr>
        <p:spPr>
          <a:xfrm>
            <a:off x="1143000" y="990600"/>
            <a:ext cx="11239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0D0D0D"/>
                </a:solidFill>
              </a:defRPr>
            </a:pPr>
            <a:r>
              <a:rPr sz="3300" b="1">
                <a:solidFill>
                  <a:srgbClr val="0D0D0D"/>
                </a:solidFill>
              </a:rPr>
              <a:t>왜 공개했나?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F5ADF2A1-1EA9-4607-BC4B-1A315FF518FF}"/>
              </a:ext>
            </a:extLst>
          </p:cNvPr>
          <p:cNvSpPr>
            <a:spLocks noGrp="1"/>
          </p:cNvSpPr>
          <p:nvPr/>
        </p:nvSpPr>
        <p:spPr>
          <a:xfrm>
            <a:off x="1143000" y="1581150"/>
            <a:ext cx="11239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E6E80"/>
                </a:solidFill>
              </a:defRPr>
            </a:pPr>
            <a:r>
              <a:rPr sz="1650">
                <a:solidFill>
                  <a:srgbClr val="6E6E80"/>
                </a:solidFill>
              </a:rPr>
              <a:t>Codex 기반 오케스트레이션 패턴을 외부 구현 가능한 형태로 보여주기 위해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F0D950A4-4F3D-49DB-B668-60894A31C4E9}"/>
              </a:ext>
            </a:extLst>
          </p:cNvPr>
          <p:cNvSpPr>
            <a:spLocks noGrp="1"/>
          </p:cNvSpPr>
          <p:nvPr/>
        </p:nvSpPr>
        <p:spPr>
          <a:xfrm>
            <a:off x="1447800" y="2895600"/>
            <a:ext cx="4572000" cy="3429000"/>
          </a:xfrm>
          <a:prstGeom prst="roundRect">
            <a:avLst>
              <a:gd name="adj" fmla="val 5556"/>
            </a:avLst>
          </a:prstGeom>
          <a:solidFill>
            <a:srgbClr val="F7F7F8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71C14DD0-9A24-4827-8A09-37807B9AF471}"/>
              </a:ext>
            </a:extLst>
          </p:cNvPr>
          <p:cNvSpPr>
            <a:spLocks noGrp="1"/>
          </p:cNvSpPr>
          <p:nvPr/>
        </p:nvSpPr>
        <p:spPr>
          <a:xfrm>
            <a:off x="1447800" y="2895600"/>
            <a:ext cx="4572000" cy="76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8" name="why-no-0">
            <a:extLst>
              <a:ext uri="{FF2B5EF4-FFF2-40B4-BE49-F238E27FC236}">
                <a16:creationId xmlns:a16="http://schemas.microsoft.com/office/drawing/2014/main" id="{2BFD7951-57FE-488D-B7D8-6243EEFC7007}"/>
              </a:ext>
            </a:extLst>
          </p:cNvPr>
          <p:cNvSpPr>
            <a:spLocks noGrp="1"/>
          </p:cNvSpPr>
          <p:nvPr/>
        </p:nvSpPr>
        <p:spPr>
          <a:xfrm>
            <a:off x="1752600" y="3276600"/>
            <a:ext cx="952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0A37F"/>
                </a:solidFill>
              </a:defRPr>
            </a:pPr>
            <a:r>
              <a:rPr sz="1800" b="1">
                <a:solidFill>
                  <a:srgbClr val="10A37F"/>
                </a:solidFill>
              </a:rPr>
              <a:t>01</a:t>
            </a:r>
          </a:p>
        </p:txBody>
      </p:sp>
      <p:sp>
        <p:nvSpPr>
          <p:cNvPr id="9" name="why-title-0">
            <a:extLst>
              <a:ext uri="{FF2B5EF4-FFF2-40B4-BE49-F238E27FC236}">
                <a16:creationId xmlns:a16="http://schemas.microsoft.com/office/drawing/2014/main" id="{3B5AA100-7FCD-4193-9DDE-B5B4B9698F0F}"/>
              </a:ext>
            </a:extLst>
          </p:cNvPr>
          <p:cNvSpPr>
            <a:spLocks noGrp="1"/>
          </p:cNvSpPr>
          <p:nvPr/>
        </p:nvSpPr>
        <p:spPr>
          <a:xfrm>
            <a:off x="1752600" y="3905250"/>
            <a:ext cx="37147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0D0D0D"/>
                </a:solidFill>
              </a:defRPr>
            </a:pPr>
            <a:r>
              <a:rPr sz="2250" b="1">
                <a:solidFill>
                  <a:srgbClr val="0D0D0D"/>
                </a:solidFill>
              </a:rPr>
              <a:t>레퍼런스 구현 공유</a:t>
            </a:r>
          </a:p>
        </p:txBody>
      </p:sp>
      <p:sp>
        <p:nvSpPr>
          <p:cNvPr id="10" name="why-body-0">
            <a:extLst>
              <a:ext uri="{FF2B5EF4-FFF2-40B4-BE49-F238E27FC236}">
                <a16:creationId xmlns:a16="http://schemas.microsoft.com/office/drawing/2014/main" id="{4FA1C1DF-63AD-43A9-96E8-18EC0219066A}"/>
              </a:ext>
            </a:extLst>
          </p:cNvPr>
          <p:cNvSpPr>
            <a:spLocks noGrp="1"/>
          </p:cNvSpPr>
          <p:nvPr/>
        </p:nvSpPr>
        <p:spPr>
          <a:xfrm>
            <a:off x="1752600" y="4572000"/>
            <a:ext cx="37147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E6E80"/>
                </a:solidFill>
              </a:defRPr>
            </a:pPr>
            <a:r>
              <a:rPr sz="1800">
                <a:solidFill>
                  <a:srgbClr val="6E6E80"/>
                </a:solidFill>
              </a:rPr>
              <a:t>Codex 기반 에이전트 오케스트레이션을 실제 코드와 SPEC으로 보여준다.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CB71CC87-23DB-47A9-A6FF-539AA80FDE22}"/>
              </a:ext>
            </a:extLst>
          </p:cNvPr>
          <p:cNvSpPr>
            <a:spLocks noGrp="1"/>
          </p:cNvSpPr>
          <p:nvPr/>
        </p:nvSpPr>
        <p:spPr>
          <a:xfrm>
            <a:off x="6553200" y="2895600"/>
            <a:ext cx="4572000" cy="3429000"/>
          </a:xfrm>
          <a:prstGeom prst="roundRect">
            <a:avLst>
              <a:gd name="adj" fmla="val 5556"/>
            </a:avLst>
          </a:prstGeom>
          <a:solidFill>
            <a:srgbClr val="F7F7F8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49943D21-11BF-4BB0-96F3-9AA9860AF87A}"/>
              </a:ext>
            </a:extLst>
          </p:cNvPr>
          <p:cNvSpPr>
            <a:spLocks noGrp="1"/>
          </p:cNvSpPr>
          <p:nvPr/>
        </p:nvSpPr>
        <p:spPr>
          <a:xfrm>
            <a:off x="6553200" y="2895600"/>
            <a:ext cx="45720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3" name="why-no-1">
            <a:extLst>
              <a:ext uri="{FF2B5EF4-FFF2-40B4-BE49-F238E27FC236}">
                <a16:creationId xmlns:a16="http://schemas.microsoft.com/office/drawing/2014/main" id="{CBC2B9E0-5C8F-4BC2-BD94-F8A669226553}"/>
              </a:ext>
            </a:extLst>
          </p:cNvPr>
          <p:cNvSpPr>
            <a:spLocks noGrp="1"/>
          </p:cNvSpPr>
          <p:nvPr/>
        </p:nvSpPr>
        <p:spPr>
          <a:xfrm>
            <a:off x="6896100" y="3276600"/>
            <a:ext cx="952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4" name="why-title-1">
            <a:extLst>
              <a:ext uri="{FF2B5EF4-FFF2-40B4-BE49-F238E27FC236}">
                <a16:creationId xmlns:a16="http://schemas.microsoft.com/office/drawing/2014/main" id="{469D1695-385A-4A88-9D23-F492ECA0A94F}"/>
              </a:ext>
            </a:extLst>
          </p:cNvPr>
          <p:cNvSpPr>
            <a:spLocks noGrp="1"/>
          </p:cNvSpPr>
          <p:nvPr/>
        </p:nvSpPr>
        <p:spPr>
          <a:xfrm>
            <a:off x="6896100" y="3905250"/>
            <a:ext cx="37147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0D0D0D"/>
                </a:solidFill>
              </a:defRPr>
            </a:pPr>
            <a:r>
              <a:rPr sz="2250" b="1">
                <a:solidFill>
                  <a:srgbClr val="0D0D0D"/>
                </a:solidFill>
              </a:rPr>
              <a:t>생태계 확장</a:t>
            </a:r>
          </a:p>
        </p:txBody>
      </p:sp>
      <p:sp>
        <p:nvSpPr>
          <p:cNvPr id="15" name="why-body-1">
            <a:extLst>
              <a:ext uri="{FF2B5EF4-FFF2-40B4-BE49-F238E27FC236}">
                <a16:creationId xmlns:a16="http://schemas.microsoft.com/office/drawing/2014/main" id="{62A4D540-33CE-4C05-BDEC-EAD719E58783}"/>
              </a:ext>
            </a:extLst>
          </p:cNvPr>
          <p:cNvSpPr>
            <a:spLocks noGrp="1"/>
          </p:cNvSpPr>
          <p:nvPr/>
        </p:nvSpPr>
        <p:spPr>
          <a:xfrm>
            <a:off x="6896100" y="4572000"/>
            <a:ext cx="37147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E6E80"/>
                </a:solidFill>
              </a:defRPr>
            </a:pPr>
            <a:r>
              <a:rPr sz="1800">
                <a:solidFill>
                  <a:srgbClr val="6E6E80"/>
                </a:solidFill>
              </a:rPr>
              <a:t>다른 모델과 CLI가 같은 워크플로우 규칙 안에서 실행될 수 있다.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7642EB23-5F85-44C5-9907-584A525D9888}"/>
              </a:ext>
            </a:extLst>
          </p:cNvPr>
          <p:cNvSpPr>
            <a:spLocks noGrp="1"/>
          </p:cNvSpPr>
          <p:nvPr/>
        </p:nvSpPr>
        <p:spPr>
          <a:xfrm>
            <a:off x="11734800" y="2895600"/>
            <a:ext cx="4572000" cy="3429000"/>
          </a:xfrm>
          <a:prstGeom prst="roundRect">
            <a:avLst>
              <a:gd name="adj" fmla="val 5556"/>
            </a:avLst>
          </a:prstGeom>
          <a:solidFill>
            <a:srgbClr val="F7F7F8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5A787D97-CE48-4757-ADF6-E763604E7EB8}"/>
              </a:ext>
            </a:extLst>
          </p:cNvPr>
          <p:cNvSpPr>
            <a:spLocks noGrp="1"/>
          </p:cNvSpPr>
          <p:nvPr/>
        </p:nvSpPr>
        <p:spPr>
          <a:xfrm>
            <a:off x="11734800" y="2895600"/>
            <a:ext cx="4572000" cy="76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8" name="why-no-2">
            <a:extLst>
              <a:ext uri="{FF2B5EF4-FFF2-40B4-BE49-F238E27FC236}">
                <a16:creationId xmlns:a16="http://schemas.microsoft.com/office/drawing/2014/main" id="{FF299FF0-B028-4460-82E0-642ACFE58824}"/>
              </a:ext>
            </a:extLst>
          </p:cNvPr>
          <p:cNvSpPr>
            <a:spLocks noGrp="1"/>
          </p:cNvSpPr>
          <p:nvPr/>
        </p:nvSpPr>
        <p:spPr>
          <a:xfrm>
            <a:off x="12039600" y="3276600"/>
            <a:ext cx="952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97316"/>
                </a:solidFill>
              </a:defRPr>
            </a:pPr>
            <a:r>
              <a:rPr sz="1800" b="1">
                <a:solidFill>
                  <a:srgbClr val="F97316"/>
                </a:solidFill>
              </a:rPr>
              <a:t>03</a:t>
            </a:r>
          </a:p>
        </p:txBody>
      </p:sp>
      <p:sp>
        <p:nvSpPr>
          <p:cNvPr id="19" name="why-title-2">
            <a:extLst>
              <a:ext uri="{FF2B5EF4-FFF2-40B4-BE49-F238E27FC236}">
                <a16:creationId xmlns:a16="http://schemas.microsoft.com/office/drawing/2014/main" id="{86CA439F-2071-4E47-96C7-6E6E4F7C4307}"/>
              </a:ext>
            </a:extLst>
          </p:cNvPr>
          <p:cNvSpPr>
            <a:spLocks noGrp="1"/>
          </p:cNvSpPr>
          <p:nvPr/>
        </p:nvSpPr>
        <p:spPr>
          <a:xfrm>
            <a:off x="12039600" y="3905250"/>
            <a:ext cx="37147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0D0D0D"/>
                </a:solidFill>
              </a:defRPr>
            </a:pPr>
            <a:r>
              <a:rPr sz="2250" b="1">
                <a:solidFill>
                  <a:srgbClr val="0D0D0D"/>
                </a:solidFill>
              </a:rPr>
              <a:t>실무 검증 패턴 공개</a:t>
            </a:r>
          </a:p>
        </p:txBody>
      </p:sp>
      <p:sp>
        <p:nvSpPr>
          <p:cNvPr id="20" name="why-body-2">
            <a:extLst>
              <a:ext uri="{FF2B5EF4-FFF2-40B4-BE49-F238E27FC236}">
                <a16:creationId xmlns:a16="http://schemas.microsoft.com/office/drawing/2014/main" id="{E3A9BC98-BF06-4283-BE3C-4A32E6171C10}"/>
              </a:ext>
            </a:extLst>
          </p:cNvPr>
          <p:cNvSpPr>
            <a:spLocks noGrp="1"/>
          </p:cNvSpPr>
          <p:nvPr/>
        </p:nvSpPr>
        <p:spPr>
          <a:xfrm>
            <a:off x="12039600" y="4572000"/>
            <a:ext cx="37147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E6E80"/>
                </a:solidFill>
              </a:defRPr>
            </a:pPr>
            <a:r>
              <a:rPr sz="1800">
                <a:solidFill>
                  <a:srgbClr val="6E6E80"/>
                </a:solidFill>
              </a:rPr>
              <a:t>내부 일부 팀에서 3주 만에 landed PR이 500% 증가한 운영 패턴이다.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1D91DA97-111D-4236-AD45-2A04464A51EE}"/>
              </a:ext>
            </a:extLst>
          </p:cNvPr>
          <p:cNvSpPr>
            <a:spLocks noGrp="1"/>
          </p:cNvSpPr>
          <p:nvPr/>
        </p:nvSpPr>
        <p:spPr>
          <a:xfrm>
            <a:off x="1447800" y="7239000"/>
            <a:ext cx="15468600" cy="838200"/>
          </a:xfrm>
          <a:prstGeom prst="roundRect">
            <a:avLst>
              <a:gd name="adj" fmla="val 18182"/>
            </a:avLst>
          </a:prstGeom>
          <a:solidFill>
            <a:srgbClr val="E6F5F0"/>
          </a:solidFill>
          <a:ln w="9525">
            <a:solidFill>
              <a:srgbClr val="CBE9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why-summary">
            <a:extLst>
              <a:ext uri="{FF2B5EF4-FFF2-40B4-BE49-F238E27FC236}">
                <a16:creationId xmlns:a16="http://schemas.microsoft.com/office/drawing/2014/main" id="{DC229C2C-E767-4BF7-8208-590DE309C302}"/>
              </a:ext>
            </a:extLst>
          </p:cNvPr>
          <p:cNvSpPr>
            <a:spLocks noGrp="1"/>
          </p:cNvSpPr>
          <p:nvPr/>
        </p:nvSpPr>
        <p:spPr>
          <a:xfrm>
            <a:off x="1828800" y="7486650"/>
            <a:ext cx="143827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i="1">
                <a:solidFill>
                  <a:srgbClr val="075F4A"/>
                </a:solidFill>
              </a:defRPr>
            </a:pPr>
            <a:r>
              <a:rPr sz="1800" i="1">
                <a:solidFill>
                  <a:srgbClr val="075F4A"/>
                </a:solidFill>
              </a:rPr>
              <a:t>핵심 메시지: Symphony는 “코딩 에이전트를 잘 쓰는 법”이 아니라 “일을 자동으로 흘려보내는 법”을 스펙으로 만든 사례다.</a:t>
            </a:r>
          </a:p>
        </p:txBody>
      </p:sp>
      <p:sp>
        <p:nvSpPr>
          <p:cNvPr id="23" name="source-rail">
            <a:extLst>
              <a:ext uri="{FF2B5EF4-FFF2-40B4-BE49-F238E27FC236}">
                <a16:creationId xmlns:a16="http://schemas.microsoft.com/office/drawing/2014/main" id="{CB55E19E-10F7-4DB5-9CA8-CAECC907CAEE}"/>
              </a:ext>
            </a:extLst>
          </p:cNvPr>
          <p:cNvSpPr>
            <a:spLocks noGrp="1"/>
          </p:cNvSpPr>
          <p:nvPr/>
        </p:nvSpPr>
        <p:spPr>
          <a:xfrm>
            <a:off x="1143000" y="9753600"/>
            <a:ext cx="11906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ACACBE"/>
                </a:solidFill>
              </a:defRPr>
            </a:pPr>
            <a:r>
              <a:rPr sz="1125">
                <a:solidFill>
                  <a:srgbClr val="ACACBE"/>
                </a:solidFill>
              </a:rPr>
              <a:t>Source: OpenAI blog (2026-04-27)</a:t>
            </a:r>
          </a:p>
        </p:txBody>
      </p:sp>
      <p:sp>
        <p:nvSpPr>
          <p:cNvPr id="24" name="slide-page">
            <a:extLst>
              <a:ext uri="{FF2B5EF4-FFF2-40B4-BE49-F238E27FC236}">
                <a16:creationId xmlns:a16="http://schemas.microsoft.com/office/drawing/2014/main" id="{AA6CE6AB-80EE-4C75-A277-36922B43712B}"/>
              </a:ext>
            </a:extLst>
          </p:cNvPr>
          <p:cNvSpPr>
            <a:spLocks noGrp="1"/>
          </p:cNvSpPr>
          <p:nvPr/>
        </p:nvSpPr>
        <p:spPr>
          <a:xfrm>
            <a:off x="16573500" y="9753600"/>
            <a:ext cx="762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125">
                <a:solidFill>
                  <a:srgbClr val="ACACBE"/>
                </a:solidFill>
              </a:defRPr>
            </a:pPr>
            <a:r>
              <a:rPr sz="1125">
                <a:solidFill>
                  <a:srgbClr val="ACACBE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98574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-bg">
            <a:extLst>
              <a:ext uri="{FF2B5EF4-FFF2-40B4-BE49-F238E27FC236}">
                <a16:creationId xmlns:a16="http://schemas.microsoft.com/office/drawing/2014/main" id="{848DAB20-5126-4B6D-BA2D-C167E87A89CD}"/>
              </a:ext>
            </a:extLst>
          </p:cNvPr>
          <p:cNvSpPr>
            <a:spLocks noGrp="1"/>
          </p:cNvSpPr>
          <p:nvPr/>
        </p:nvSpPr>
        <p:spPr>
          <a:xfrm>
            <a:off x="45396" y="207523"/>
            <a:ext cx="18288000" cy="10287000"/>
          </a:xfrm>
          <a:prstGeom prst="rect">
            <a:avLst/>
          </a:prstGeom>
          <a:solidFill>
            <a:srgbClr val="FBFCFC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8A7654BC-4928-4759-8BCC-4AF19CAAB18D}"/>
              </a:ext>
            </a:extLst>
          </p:cNvPr>
          <p:cNvSpPr>
            <a:spLocks noGrp="1"/>
          </p:cNvSpPr>
          <p:nvPr/>
        </p:nvSpPr>
        <p:spPr>
          <a:xfrm>
            <a:off x="876300" y="876300"/>
            <a:ext cx="76200" cy="5334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slide-kicker">
            <a:extLst>
              <a:ext uri="{FF2B5EF4-FFF2-40B4-BE49-F238E27FC236}">
                <a16:creationId xmlns:a16="http://schemas.microsoft.com/office/drawing/2014/main" id="{57DAC08A-D8FD-4DB4-BFF8-D781A497170E}"/>
              </a:ext>
            </a:extLst>
          </p:cNvPr>
          <p:cNvSpPr>
            <a:spLocks noGrp="1"/>
          </p:cNvSpPr>
          <p:nvPr/>
        </p:nvSpPr>
        <p:spPr>
          <a:xfrm>
            <a:off x="1143000" y="704850"/>
            <a:ext cx="1524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A37F"/>
                </a:solidFill>
              </a:defRPr>
            </a:pPr>
            <a:r>
              <a:rPr sz="1350" b="1">
                <a:solidFill>
                  <a:srgbClr val="10A37F"/>
                </a:solidFill>
              </a:rPr>
              <a:t>04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FEA03ADF-2D6C-453E-9F7B-C3BB9C8F8157}"/>
              </a:ext>
            </a:extLst>
          </p:cNvPr>
          <p:cNvSpPr>
            <a:spLocks noGrp="1"/>
          </p:cNvSpPr>
          <p:nvPr/>
        </p:nvSpPr>
        <p:spPr>
          <a:xfrm>
            <a:off x="1143000" y="990600"/>
            <a:ext cx="11239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0D0D0D"/>
                </a:solidFill>
              </a:defRPr>
            </a:pPr>
            <a:r>
              <a:rPr sz="3300" b="1">
                <a:solidFill>
                  <a:srgbClr val="0D0D0D"/>
                </a:solidFill>
              </a:rPr>
              <a:t>전체 구조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3146BB9F-4FC7-441F-A5C0-5CF225D1D7A0}"/>
              </a:ext>
            </a:extLst>
          </p:cNvPr>
          <p:cNvSpPr>
            <a:spLocks noGrp="1"/>
          </p:cNvSpPr>
          <p:nvPr/>
        </p:nvSpPr>
        <p:spPr>
          <a:xfrm>
            <a:off x="1143000" y="1581150"/>
            <a:ext cx="11239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E6E80"/>
                </a:solidFill>
              </a:defRPr>
            </a:pPr>
            <a:r>
              <a:rPr sz="1650">
                <a:solidFill>
                  <a:srgbClr val="6E6E80"/>
                </a:solidFill>
              </a:rPr>
              <a:t>Issue Tracker에서 PR + CI까지 이어지는 실행 파이프라인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580DC4D5-CDF7-47F4-AF8D-04F87353AAF7}"/>
              </a:ext>
            </a:extLst>
          </p:cNvPr>
          <p:cNvSpPr>
            <a:spLocks noGrp="1"/>
          </p:cNvSpPr>
          <p:nvPr/>
        </p:nvSpPr>
        <p:spPr>
          <a:xfrm>
            <a:off x="1143000" y="2133600"/>
            <a:ext cx="16002000" cy="5486400"/>
          </a:xfrm>
          <a:prstGeom prst="roundRect">
            <a:avLst>
              <a:gd name="adj" fmla="val 4861"/>
            </a:avLst>
          </a:prstGeom>
          <a:solidFill>
            <a:srgbClr val="F2F7F5"/>
          </a:solidFill>
          <a:ln w="9525">
            <a:solidFill>
              <a:srgbClr val="DDEA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77901C73-1781-4095-8D0B-516035033BA7}"/>
              </a:ext>
            </a:extLst>
          </p:cNvPr>
          <p:cNvSpPr>
            <a:spLocks noGrp="1"/>
          </p:cNvSpPr>
          <p:nvPr/>
        </p:nvSpPr>
        <p:spPr>
          <a:xfrm>
            <a:off x="2895600" y="4495800"/>
            <a:ext cx="12801600" cy="152400"/>
          </a:xfrm>
          <a:prstGeom prst="roundRect">
            <a:avLst>
              <a:gd name="adj" fmla="val 50000"/>
            </a:avLst>
          </a:prstGeom>
          <a:solidFill>
            <a:srgbClr val="CBE9D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2CC2A29-2487-4D11-9BF7-6298145D8661}"/>
              </a:ext>
            </a:extLst>
          </p:cNvPr>
          <p:cNvSpPr>
            <a:spLocks noGrp="1"/>
          </p:cNvSpPr>
          <p:nvPr/>
        </p:nvSpPr>
        <p:spPr>
          <a:xfrm>
            <a:off x="2895600" y="4495800"/>
            <a:ext cx="9601200" cy="1524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2AF1F90-05A1-425A-9570-F45A4CF9ADA2}"/>
              </a:ext>
            </a:extLst>
          </p:cNvPr>
          <p:cNvSpPr>
            <a:spLocks noGrp="1"/>
          </p:cNvSpPr>
          <p:nvPr/>
        </p:nvSpPr>
        <p:spPr>
          <a:xfrm>
            <a:off x="2667000" y="4419600"/>
            <a:ext cx="533400" cy="53340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10A37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node-no-0">
            <a:extLst>
              <a:ext uri="{FF2B5EF4-FFF2-40B4-BE49-F238E27FC236}">
                <a16:creationId xmlns:a16="http://schemas.microsoft.com/office/drawing/2014/main" id="{0EFCE3D5-230B-4D7B-AA55-D90AB591AD8F}"/>
              </a:ext>
            </a:extLst>
          </p:cNvPr>
          <p:cNvSpPr>
            <a:spLocks noGrp="1"/>
          </p:cNvSpPr>
          <p:nvPr/>
        </p:nvSpPr>
        <p:spPr>
          <a:xfrm>
            <a:off x="2647950" y="4495800"/>
            <a:ext cx="514350" cy="2667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650" b="1">
                <a:solidFill>
                  <a:srgbClr val="10A37F"/>
                </a:solidFill>
              </a:defRPr>
            </a:pPr>
            <a:r>
              <a:rPr sz="1650" b="1">
                <a:solidFill>
                  <a:srgbClr val="10A37F"/>
                </a:solidFill>
              </a:rPr>
              <a:t>1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C377841E-D002-47C3-9F69-6D2B7826F0E1}"/>
              </a:ext>
            </a:extLst>
          </p:cNvPr>
          <p:cNvSpPr>
            <a:spLocks noGrp="1"/>
          </p:cNvSpPr>
          <p:nvPr/>
        </p:nvSpPr>
        <p:spPr>
          <a:xfrm>
            <a:off x="1600200" y="3124200"/>
            <a:ext cx="2590800" cy="1295400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9525">
            <a:solidFill>
              <a:srgbClr val="DCE6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BB57587F-BFF7-4DD6-A29A-6B3473F7B779}"/>
              </a:ext>
            </a:extLst>
          </p:cNvPr>
          <p:cNvSpPr>
            <a:spLocks noGrp="1"/>
          </p:cNvSpPr>
          <p:nvPr/>
        </p:nvSpPr>
        <p:spPr>
          <a:xfrm>
            <a:off x="1600200" y="3124200"/>
            <a:ext cx="2590800" cy="76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3" name="node-title-0">
            <a:extLst>
              <a:ext uri="{FF2B5EF4-FFF2-40B4-BE49-F238E27FC236}">
                <a16:creationId xmlns:a16="http://schemas.microsoft.com/office/drawing/2014/main" id="{510CB2F2-EEFA-496F-A201-C79EE0B0AB90}"/>
              </a:ext>
            </a:extLst>
          </p:cNvPr>
          <p:cNvSpPr>
            <a:spLocks noGrp="1"/>
          </p:cNvSpPr>
          <p:nvPr/>
        </p:nvSpPr>
        <p:spPr>
          <a:xfrm>
            <a:off x="1847850" y="3467100"/>
            <a:ext cx="21145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75" b="1">
                <a:solidFill>
                  <a:srgbClr val="0D0D0D"/>
                </a:solidFill>
              </a:defRPr>
            </a:pPr>
            <a:r>
              <a:rPr sz="1875" b="1">
                <a:solidFill>
                  <a:srgbClr val="0D0D0D"/>
                </a:solidFill>
              </a:rPr>
              <a:t>Issue Tracker</a:t>
            </a:r>
          </a:p>
        </p:txBody>
      </p:sp>
      <p:sp>
        <p:nvSpPr>
          <p:cNvPr id="14" name="node-subtitle-0">
            <a:extLst>
              <a:ext uri="{FF2B5EF4-FFF2-40B4-BE49-F238E27FC236}">
                <a16:creationId xmlns:a16="http://schemas.microsoft.com/office/drawing/2014/main" id="{1BF9B686-080B-4796-A067-D29E792B7297}"/>
              </a:ext>
            </a:extLst>
          </p:cNvPr>
          <p:cNvSpPr>
            <a:spLocks noGrp="1"/>
          </p:cNvSpPr>
          <p:nvPr/>
        </p:nvSpPr>
        <p:spPr>
          <a:xfrm>
            <a:off x="1847850" y="3848100"/>
            <a:ext cx="21145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" b="1">
                <a:solidFill>
                  <a:srgbClr val="10A37F"/>
                </a:solidFill>
              </a:defRPr>
            </a:pPr>
            <a:r>
              <a:rPr sz="1350" b="1">
                <a:solidFill>
                  <a:srgbClr val="10A37F"/>
                </a:solidFill>
              </a:rPr>
              <a:t>작업 큐</a:t>
            </a:r>
          </a:p>
        </p:txBody>
      </p:sp>
      <p:sp>
        <p:nvSpPr>
          <p:cNvPr id="15" name="node-caption-0">
            <a:extLst>
              <a:ext uri="{FF2B5EF4-FFF2-40B4-BE49-F238E27FC236}">
                <a16:creationId xmlns:a16="http://schemas.microsoft.com/office/drawing/2014/main" id="{F3DCA310-2F87-43B1-9AC2-9D017EE894FB}"/>
              </a:ext>
            </a:extLst>
          </p:cNvPr>
          <p:cNvSpPr>
            <a:spLocks noGrp="1"/>
          </p:cNvSpPr>
          <p:nvPr/>
        </p:nvSpPr>
        <p:spPr>
          <a:xfrm>
            <a:off x="1847850" y="4114800"/>
            <a:ext cx="21145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200">
                <a:solidFill>
                  <a:srgbClr val="6E6E80"/>
                </a:solidFill>
              </a:defRPr>
            </a:pPr>
            <a:r>
              <a:rPr sz="1200">
                <a:solidFill>
                  <a:srgbClr val="6E6E80"/>
                </a:solidFill>
              </a:rPr>
              <a:t>열린 이슈</a:t>
            </a:r>
          </a:p>
        </p:txBody>
      </p:sp>
      <p:sp>
        <p:nvSpPr>
          <p:cNvPr id="16" name="flow-arrow-0">
            <a:extLst>
              <a:ext uri="{FF2B5EF4-FFF2-40B4-BE49-F238E27FC236}">
                <a16:creationId xmlns:a16="http://schemas.microsoft.com/office/drawing/2014/main" id="{4933F01B-462B-44F6-8838-8DEF71A4724E}"/>
              </a:ext>
            </a:extLst>
          </p:cNvPr>
          <p:cNvSpPr>
            <a:spLocks noGrp="1"/>
          </p:cNvSpPr>
          <p:nvPr/>
        </p:nvSpPr>
        <p:spPr>
          <a:xfrm>
            <a:off x="4324350" y="3543300"/>
            <a:ext cx="419100" cy="495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3150" b="1">
                <a:solidFill>
                  <a:srgbClr val="10A37F"/>
                </a:solidFill>
              </a:defRPr>
            </a:pPr>
            <a:r>
              <a:rPr sz="3150" b="1">
                <a:solidFill>
                  <a:srgbClr val="10A37F"/>
                </a:solidFill>
              </a:rPr>
              <a:t>→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23703FD-4536-4036-9EC7-6AB24EDC9DB5}"/>
              </a:ext>
            </a:extLst>
          </p:cNvPr>
          <p:cNvSpPr>
            <a:spLocks noGrp="1"/>
          </p:cNvSpPr>
          <p:nvPr/>
        </p:nvSpPr>
        <p:spPr>
          <a:xfrm>
            <a:off x="5829300" y="4419600"/>
            <a:ext cx="533400" cy="53340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node-no-1">
            <a:extLst>
              <a:ext uri="{FF2B5EF4-FFF2-40B4-BE49-F238E27FC236}">
                <a16:creationId xmlns:a16="http://schemas.microsoft.com/office/drawing/2014/main" id="{80C9A4E7-5438-46D5-9D4C-F611A8C609F9}"/>
              </a:ext>
            </a:extLst>
          </p:cNvPr>
          <p:cNvSpPr>
            <a:spLocks noGrp="1"/>
          </p:cNvSpPr>
          <p:nvPr/>
        </p:nvSpPr>
        <p:spPr>
          <a:xfrm>
            <a:off x="5848350" y="4495800"/>
            <a:ext cx="514350" cy="2667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E5194EE7-6746-44ED-96BE-3C7DC57F2B42}"/>
              </a:ext>
            </a:extLst>
          </p:cNvPr>
          <p:cNvSpPr>
            <a:spLocks noGrp="1"/>
          </p:cNvSpPr>
          <p:nvPr/>
        </p:nvSpPr>
        <p:spPr>
          <a:xfrm>
            <a:off x="4800600" y="3124200"/>
            <a:ext cx="2590800" cy="1295400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9525">
            <a:solidFill>
              <a:srgbClr val="DCE6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DF99ED5A-2266-4F90-AFA1-A43113B95924}"/>
              </a:ext>
            </a:extLst>
          </p:cNvPr>
          <p:cNvSpPr>
            <a:spLocks noGrp="1"/>
          </p:cNvSpPr>
          <p:nvPr/>
        </p:nvSpPr>
        <p:spPr>
          <a:xfrm>
            <a:off x="4800600" y="3124200"/>
            <a:ext cx="25908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1" name="node-title-1">
            <a:extLst>
              <a:ext uri="{FF2B5EF4-FFF2-40B4-BE49-F238E27FC236}">
                <a16:creationId xmlns:a16="http://schemas.microsoft.com/office/drawing/2014/main" id="{D9FE2CCA-30D8-4D4C-98AB-0674D21D92F3}"/>
              </a:ext>
            </a:extLst>
          </p:cNvPr>
          <p:cNvSpPr>
            <a:spLocks noGrp="1"/>
          </p:cNvSpPr>
          <p:nvPr/>
        </p:nvSpPr>
        <p:spPr>
          <a:xfrm>
            <a:off x="5048250" y="3467100"/>
            <a:ext cx="21145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75" b="1">
                <a:solidFill>
                  <a:srgbClr val="0D0D0D"/>
                </a:solidFill>
              </a:defRPr>
            </a:pPr>
            <a:r>
              <a:rPr sz="1875" b="1">
                <a:solidFill>
                  <a:srgbClr val="0D0D0D"/>
                </a:solidFill>
              </a:rPr>
              <a:t>Orchestrator</a:t>
            </a:r>
          </a:p>
        </p:txBody>
      </p:sp>
      <p:sp>
        <p:nvSpPr>
          <p:cNvPr id="22" name="node-subtitle-1">
            <a:extLst>
              <a:ext uri="{FF2B5EF4-FFF2-40B4-BE49-F238E27FC236}">
                <a16:creationId xmlns:a16="http://schemas.microsoft.com/office/drawing/2014/main" id="{9136FB08-3295-4699-816F-05FD64A7EDC0}"/>
              </a:ext>
            </a:extLst>
          </p:cNvPr>
          <p:cNvSpPr>
            <a:spLocks noGrp="1"/>
          </p:cNvSpPr>
          <p:nvPr/>
        </p:nvSpPr>
        <p:spPr>
          <a:xfrm>
            <a:off x="5048250" y="3848100"/>
            <a:ext cx="21145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30s polling</a:t>
            </a:r>
          </a:p>
        </p:txBody>
      </p:sp>
      <p:sp>
        <p:nvSpPr>
          <p:cNvPr id="23" name="node-caption-1">
            <a:extLst>
              <a:ext uri="{FF2B5EF4-FFF2-40B4-BE49-F238E27FC236}">
                <a16:creationId xmlns:a16="http://schemas.microsoft.com/office/drawing/2014/main" id="{8FA80A2D-5B15-4C15-A0EF-104DAD1E1202}"/>
              </a:ext>
            </a:extLst>
          </p:cNvPr>
          <p:cNvSpPr>
            <a:spLocks noGrp="1"/>
          </p:cNvSpPr>
          <p:nvPr/>
        </p:nvSpPr>
        <p:spPr>
          <a:xfrm>
            <a:off x="5048250" y="4114800"/>
            <a:ext cx="21145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200">
                <a:solidFill>
                  <a:srgbClr val="6E6E80"/>
                </a:solidFill>
              </a:defRPr>
            </a:pPr>
            <a:r>
              <a:rPr sz="1200">
                <a:solidFill>
                  <a:srgbClr val="6E6E80"/>
                </a:solidFill>
              </a:rPr>
              <a:t>dispatch / retry</a:t>
            </a:r>
          </a:p>
        </p:txBody>
      </p:sp>
      <p:sp>
        <p:nvSpPr>
          <p:cNvPr id="24" name="flow-arrow-1">
            <a:extLst>
              <a:ext uri="{FF2B5EF4-FFF2-40B4-BE49-F238E27FC236}">
                <a16:creationId xmlns:a16="http://schemas.microsoft.com/office/drawing/2014/main" id="{11018841-2431-43B9-A87F-F5A488719583}"/>
              </a:ext>
            </a:extLst>
          </p:cNvPr>
          <p:cNvSpPr>
            <a:spLocks noGrp="1"/>
          </p:cNvSpPr>
          <p:nvPr/>
        </p:nvSpPr>
        <p:spPr>
          <a:xfrm>
            <a:off x="7524750" y="3543300"/>
            <a:ext cx="419100" cy="495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3150" b="1">
                <a:solidFill>
                  <a:srgbClr val="10A37F"/>
                </a:solidFill>
              </a:defRPr>
            </a:pPr>
            <a:r>
              <a:rPr sz="3150" b="1">
                <a:solidFill>
                  <a:srgbClr val="10A37F"/>
                </a:solidFill>
              </a:rPr>
              <a:t>→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3E16CDAB-6DE7-400B-BBBB-229067B614E0}"/>
              </a:ext>
            </a:extLst>
          </p:cNvPr>
          <p:cNvSpPr>
            <a:spLocks noGrp="1"/>
          </p:cNvSpPr>
          <p:nvPr/>
        </p:nvSpPr>
        <p:spPr>
          <a:xfrm>
            <a:off x="9029700" y="4419600"/>
            <a:ext cx="533400" cy="53340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node-no-2">
            <a:extLst>
              <a:ext uri="{FF2B5EF4-FFF2-40B4-BE49-F238E27FC236}">
                <a16:creationId xmlns:a16="http://schemas.microsoft.com/office/drawing/2014/main" id="{5D7EFF2B-45B9-403C-A3DB-963FC0EF3D24}"/>
              </a:ext>
            </a:extLst>
          </p:cNvPr>
          <p:cNvSpPr>
            <a:spLocks noGrp="1"/>
          </p:cNvSpPr>
          <p:nvPr/>
        </p:nvSpPr>
        <p:spPr>
          <a:xfrm>
            <a:off x="9029700" y="4495800"/>
            <a:ext cx="514350" cy="2667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3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3AB9DC51-320A-48DC-A5CB-0A4D5126DDDC}"/>
              </a:ext>
            </a:extLst>
          </p:cNvPr>
          <p:cNvSpPr>
            <a:spLocks noGrp="1"/>
          </p:cNvSpPr>
          <p:nvPr/>
        </p:nvSpPr>
        <p:spPr>
          <a:xfrm>
            <a:off x="8001000" y="3124200"/>
            <a:ext cx="2590800" cy="1295400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9525">
            <a:solidFill>
              <a:srgbClr val="DCE6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8A1E75B5-F0DA-4AF3-854A-5266D9C6DD6C}"/>
              </a:ext>
            </a:extLst>
          </p:cNvPr>
          <p:cNvSpPr>
            <a:spLocks noGrp="1"/>
          </p:cNvSpPr>
          <p:nvPr/>
        </p:nvSpPr>
        <p:spPr>
          <a:xfrm>
            <a:off x="8001000" y="3124200"/>
            <a:ext cx="2590800" cy="76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9" name="node-title-2">
            <a:extLst>
              <a:ext uri="{FF2B5EF4-FFF2-40B4-BE49-F238E27FC236}">
                <a16:creationId xmlns:a16="http://schemas.microsoft.com/office/drawing/2014/main" id="{FCB31076-E7A4-4C57-A86B-4C427BE5CCDA}"/>
              </a:ext>
            </a:extLst>
          </p:cNvPr>
          <p:cNvSpPr>
            <a:spLocks noGrp="1"/>
          </p:cNvSpPr>
          <p:nvPr/>
        </p:nvSpPr>
        <p:spPr>
          <a:xfrm>
            <a:off x="8229600" y="3467100"/>
            <a:ext cx="21145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75" b="1">
                <a:solidFill>
                  <a:srgbClr val="0D0D0D"/>
                </a:solidFill>
              </a:defRPr>
            </a:pPr>
            <a:r>
              <a:rPr sz="1875" b="1">
                <a:solidFill>
                  <a:srgbClr val="0D0D0D"/>
                </a:solidFill>
              </a:rPr>
              <a:t>Agent Runner</a:t>
            </a:r>
          </a:p>
        </p:txBody>
      </p:sp>
      <p:sp>
        <p:nvSpPr>
          <p:cNvPr id="30" name="node-subtitle-2">
            <a:extLst>
              <a:ext uri="{FF2B5EF4-FFF2-40B4-BE49-F238E27FC236}">
                <a16:creationId xmlns:a16="http://schemas.microsoft.com/office/drawing/2014/main" id="{A8042CD9-C23D-403E-B718-42031BB2F5FD}"/>
              </a:ext>
            </a:extLst>
          </p:cNvPr>
          <p:cNvSpPr>
            <a:spLocks noGrp="1"/>
          </p:cNvSpPr>
          <p:nvPr/>
        </p:nvSpPr>
        <p:spPr>
          <a:xfrm>
            <a:off x="8229600" y="3848100"/>
            <a:ext cx="21145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per-issue</a:t>
            </a:r>
          </a:p>
        </p:txBody>
      </p:sp>
      <p:sp>
        <p:nvSpPr>
          <p:cNvPr id="31" name="node-caption-2">
            <a:extLst>
              <a:ext uri="{FF2B5EF4-FFF2-40B4-BE49-F238E27FC236}">
                <a16:creationId xmlns:a16="http://schemas.microsoft.com/office/drawing/2014/main" id="{6AC1E5AA-E65F-4D4C-9C26-92E8F6F10955}"/>
              </a:ext>
            </a:extLst>
          </p:cNvPr>
          <p:cNvSpPr>
            <a:spLocks noGrp="1"/>
          </p:cNvSpPr>
          <p:nvPr/>
        </p:nvSpPr>
        <p:spPr>
          <a:xfrm>
            <a:off x="8229600" y="4114800"/>
            <a:ext cx="21145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200">
                <a:solidFill>
                  <a:srgbClr val="6E6E80"/>
                </a:solidFill>
              </a:defRPr>
            </a:pPr>
            <a:r>
              <a:rPr sz="1200">
                <a:solidFill>
                  <a:srgbClr val="6E6E80"/>
                </a:solidFill>
              </a:rPr>
              <a:t>프롬프트 + 실행</a:t>
            </a:r>
          </a:p>
        </p:txBody>
      </p:sp>
      <p:sp>
        <p:nvSpPr>
          <p:cNvPr id="32" name="flow-arrow-2">
            <a:extLst>
              <a:ext uri="{FF2B5EF4-FFF2-40B4-BE49-F238E27FC236}">
                <a16:creationId xmlns:a16="http://schemas.microsoft.com/office/drawing/2014/main" id="{422BEF0B-092C-44B6-B744-B14EF3BE1399}"/>
              </a:ext>
            </a:extLst>
          </p:cNvPr>
          <p:cNvSpPr>
            <a:spLocks noGrp="1"/>
          </p:cNvSpPr>
          <p:nvPr/>
        </p:nvSpPr>
        <p:spPr>
          <a:xfrm>
            <a:off x="10706100" y="3543300"/>
            <a:ext cx="419100" cy="495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3150" b="1">
                <a:solidFill>
                  <a:srgbClr val="10A37F"/>
                </a:solidFill>
              </a:defRPr>
            </a:pPr>
            <a:r>
              <a:rPr sz="3150" b="1">
                <a:solidFill>
                  <a:srgbClr val="10A37F"/>
                </a:solidFill>
              </a:rPr>
              <a:t>→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7E6EB973-5328-4B20-AB50-F6AE3A23EC59}"/>
              </a:ext>
            </a:extLst>
          </p:cNvPr>
          <p:cNvSpPr>
            <a:spLocks noGrp="1"/>
          </p:cNvSpPr>
          <p:nvPr/>
        </p:nvSpPr>
        <p:spPr>
          <a:xfrm>
            <a:off x="12230100" y="4419600"/>
            <a:ext cx="533400" cy="53340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node-no-3">
            <a:extLst>
              <a:ext uri="{FF2B5EF4-FFF2-40B4-BE49-F238E27FC236}">
                <a16:creationId xmlns:a16="http://schemas.microsoft.com/office/drawing/2014/main" id="{57584462-BD55-4EE0-8A7B-16DC8CF1F0E5}"/>
              </a:ext>
            </a:extLst>
          </p:cNvPr>
          <p:cNvSpPr>
            <a:spLocks noGrp="1"/>
          </p:cNvSpPr>
          <p:nvPr/>
        </p:nvSpPr>
        <p:spPr>
          <a:xfrm>
            <a:off x="12230100" y="4495800"/>
            <a:ext cx="514350" cy="2667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650" b="1">
                <a:solidFill>
                  <a:srgbClr val="F97316"/>
                </a:solidFill>
              </a:defRPr>
            </a:pPr>
            <a:r>
              <a:rPr sz="1650" b="1">
                <a:solidFill>
                  <a:srgbClr val="F97316"/>
                </a:solidFill>
              </a:rPr>
              <a:t>4</a:t>
            </a: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93635123-E1CA-4FD5-A009-2DB0A8D82F43}"/>
              </a:ext>
            </a:extLst>
          </p:cNvPr>
          <p:cNvSpPr>
            <a:spLocks noGrp="1"/>
          </p:cNvSpPr>
          <p:nvPr/>
        </p:nvSpPr>
        <p:spPr>
          <a:xfrm>
            <a:off x="11201400" y="3124200"/>
            <a:ext cx="2590800" cy="1295400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9525">
            <a:solidFill>
              <a:srgbClr val="DCE6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12C4A907-2B02-4EA5-A3F2-A7CB47E5991C}"/>
              </a:ext>
            </a:extLst>
          </p:cNvPr>
          <p:cNvSpPr>
            <a:spLocks noGrp="1"/>
          </p:cNvSpPr>
          <p:nvPr/>
        </p:nvSpPr>
        <p:spPr>
          <a:xfrm>
            <a:off x="11201400" y="3124200"/>
            <a:ext cx="2590800" cy="76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7" name="node-title-3">
            <a:extLst>
              <a:ext uri="{FF2B5EF4-FFF2-40B4-BE49-F238E27FC236}">
                <a16:creationId xmlns:a16="http://schemas.microsoft.com/office/drawing/2014/main" id="{00453CFD-E25D-4302-9633-DDEDFA3BD370}"/>
              </a:ext>
            </a:extLst>
          </p:cNvPr>
          <p:cNvSpPr>
            <a:spLocks noGrp="1"/>
          </p:cNvSpPr>
          <p:nvPr/>
        </p:nvSpPr>
        <p:spPr>
          <a:xfrm>
            <a:off x="11430000" y="3467100"/>
            <a:ext cx="21145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75" b="1">
                <a:solidFill>
                  <a:srgbClr val="0D0D0D"/>
                </a:solidFill>
              </a:defRPr>
            </a:pPr>
            <a:r>
              <a:rPr sz="1875" b="1">
                <a:solidFill>
                  <a:srgbClr val="0D0D0D"/>
                </a:solidFill>
              </a:rPr>
              <a:t>Git Workspace</a:t>
            </a:r>
          </a:p>
        </p:txBody>
      </p:sp>
      <p:sp>
        <p:nvSpPr>
          <p:cNvPr id="38" name="node-subtitle-3">
            <a:extLst>
              <a:ext uri="{FF2B5EF4-FFF2-40B4-BE49-F238E27FC236}">
                <a16:creationId xmlns:a16="http://schemas.microsoft.com/office/drawing/2014/main" id="{40E5EDC2-7927-4AAE-944E-BD64A5583AE9}"/>
              </a:ext>
            </a:extLst>
          </p:cNvPr>
          <p:cNvSpPr>
            <a:spLocks noGrp="1"/>
          </p:cNvSpPr>
          <p:nvPr/>
        </p:nvSpPr>
        <p:spPr>
          <a:xfrm>
            <a:off x="11430000" y="3848100"/>
            <a:ext cx="21145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격리 환경</a:t>
            </a:r>
          </a:p>
        </p:txBody>
      </p:sp>
      <p:sp>
        <p:nvSpPr>
          <p:cNvPr id="39" name="node-caption-3">
            <a:extLst>
              <a:ext uri="{FF2B5EF4-FFF2-40B4-BE49-F238E27FC236}">
                <a16:creationId xmlns:a16="http://schemas.microsoft.com/office/drawing/2014/main" id="{2E8D8D74-6215-404E-9B92-CCA267D155BA}"/>
              </a:ext>
            </a:extLst>
          </p:cNvPr>
          <p:cNvSpPr>
            <a:spLocks noGrp="1"/>
          </p:cNvSpPr>
          <p:nvPr/>
        </p:nvSpPr>
        <p:spPr>
          <a:xfrm>
            <a:off x="11430000" y="4114800"/>
            <a:ext cx="21145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200">
                <a:solidFill>
                  <a:srgbClr val="6E6E80"/>
                </a:solidFill>
              </a:defRPr>
            </a:pPr>
            <a:r>
              <a:rPr sz="1200">
                <a:solidFill>
                  <a:srgbClr val="6E6E80"/>
                </a:solidFill>
              </a:rPr>
              <a:t>브랜치 · 훅</a:t>
            </a:r>
          </a:p>
        </p:txBody>
      </p:sp>
      <p:sp>
        <p:nvSpPr>
          <p:cNvPr id="40" name="flow-arrow-3">
            <a:extLst>
              <a:ext uri="{FF2B5EF4-FFF2-40B4-BE49-F238E27FC236}">
                <a16:creationId xmlns:a16="http://schemas.microsoft.com/office/drawing/2014/main" id="{C7B3259F-ACDD-4F27-AF23-9203B49B2545}"/>
              </a:ext>
            </a:extLst>
          </p:cNvPr>
          <p:cNvSpPr>
            <a:spLocks noGrp="1"/>
          </p:cNvSpPr>
          <p:nvPr/>
        </p:nvSpPr>
        <p:spPr>
          <a:xfrm>
            <a:off x="13906500" y="3543300"/>
            <a:ext cx="419100" cy="495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3150" b="1">
                <a:solidFill>
                  <a:srgbClr val="10A37F"/>
                </a:solidFill>
              </a:defRPr>
            </a:pPr>
            <a:r>
              <a:rPr sz="3150" b="1">
                <a:solidFill>
                  <a:srgbClr val="10A37F"/>
                </a:solidFill>
              </a:rPr>
              <a:t>→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980319DC-1DF7-45E2-8771-A5FF819B2072}"/>
              </a:ext>
            </a:extLst>
          </p:cNvPr>
          <p:cNvSpPr>
            <a:spLocks noGrp="1"/>
          </p:cNvSpPr>
          <p:nvPr/>
        </p:nvSpPr>
        <p:spPr>
          <a:xfrm>
            <a:off x="15430500" y="4419600"/>
            <a:ext cx="533400" cy="53340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19C37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node-no-4">
            <a:extLst>
              <a:ext uri="{FF2B5EF4-FFF2-40B4-BE49-F238E27FC236}">
                <a16:creationId xmlns:a16="http://schemas.microsoft.com/office/drawing/2014/main" id="{39807A8E-E150-4339-AA2E-D5D7575744E9}"/>
              </a:ext>
            </a:extLst>
          </p:cNvPr>
          <p:cNvSpPr>
            <a:spLocks noGrp="1"/>
          </p:cNvSpPr>
          <p:nvPr/>
        </p:nvSpPr>
        <p:spPr>
          <a:xfrm>
            <a:off x="15411450" y="4495800"/>
            <a:ext cx="514350" cy="2667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650" b="1">
                <a:solidFill>
                  <a:srgbClr val="19C37D"/>
                </a:solidFill>
              </a:defRPr>
            </a:pPr>
            <a:r>
              <a:rPr sz="1650" b="1">
                <a:solidFill>
                  <a:srgbClr val="19C37D"/>
                </a:solidFill>
              </a:rPr>
              <a:t>5</a:t>
            </a:r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72BEF74D-5938-4285-B109-1B314A7EE835}"/>
              </a:ext>
            </a:extLst>
          </p:cNvPr>
          <p:cNvSpPr>
            <a:spLocks noGrp="1"/>
          </p:cNvSpPr>
          <p:nvPr/>
        </p:nvSpPr>
        <p:spPr>
          <a:xfrm>
            <a:off x="14401800" y="3124200"/>
            <a:ext cx="2590800" cy="1295400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9525">
            <a:solidFill>
              <a:srgbClr val="DCE6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36B164FF-2AEE-46AB-8D2C-B75A81CE4EF9}"/>
              </a:ext>
            </a:extLst>
          </p:cNvPr>
          <p:cNvSpPr>
            <a:spLocks noGrp="1"/>
          </p:cNvSpPr>
          <p:nvPr/>
        </p:nvSpPr>
        <p:spPr>
          <a:xfrm>
            <a:off x="14401800" y="3124200"/>
            <a:ext cx="2590800" cy="76200"/>
          </a:xfrm>
          <a:prstGeom prst="roundRect">
            <a:avLst>
              <a:gd name="adj" fmla="val 50000"/>
            </a:avLst>
          </a:prstGeom>
          <a:solidFill>
            <a:srgbClr val="19C37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5" name="node-title-4">
            <a:extLst>
              <a:ext uri="{FF2B5EF4-FFF2-40B4-BE49-F238E27FC236}">
                <a16:creationId xmlns:a16="http://schemas.microsoft.com/office/drawing/2014/main" id="{5AB5ECED-8A39-452B-BF99-48EC326DE661}"/>
              </a:ext>
            </a:extLst>
          </p:cNvPr>
          <p:cNvSpPr>
            <a:spLocks noGrp="1"/>
          </p:cNvSpPr>
          <p:nvPr/>
        </p:nvSpPr>
        <p:spPr>
          <a:xfrm>
            <a:off x="14611350" y="3467100"/>
            <a:ext cx="211455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75" b="1">
                <a:solidFill>
                  <a:srgbClr val="0D0D0D"/>
                </a:solidFill>
              </a:defRPr>
            </a:pPr>
            <a:r>
              <a:rPr sz="1875" b="1">
                <a:solidFill>
                  <a:srgbClr val="0D0D0D"/>
                </a:solidFill>
              </a:rPr>
              <a:t>PR + CI</a:t>
            </a:r>
          </a:p>
        </p:txBody>
      </p:sp>
      <p:sp>
        <p:nvSpPr>
          <p:cNvPr id="46" name="node-subtitle-4">
            <a:extLst>
              <a:ext uri="{FF2B5EF4-FFF2-40B4-BE49-F238E27FC236}">
                <a16:creationId xmlns:a16="http://schemas.microsoft.com/office/drawing/2014/main" id="{899218A1-1C0B-46A2-BF06-AB1815283490}"/>
              </a:ext>
            </a:extLst>
          </p:cNvPr>
          <p:cNvSpPr>
            <a:spLocks noGrp="1"/>
          </p:cNvSpPr>
          <p:nvPr/>
        </p:nvSpPr>
        <p:spPr>
          <a:xfrm>
            <a:off x="14611350" y="3848100"/>
            <a:ext cx="21145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" b="1">
                <a:solidFill>
                  <a:srgbClr val="19C37D"/>
                </a:solidFill>
              </a:defRPr>
            </a:pPr>
            <a:r>
              <a:rPr sz="1350" b="1">
                <a:solidFill>
                  <a:srgbClr val="19C37D"/>
                </a:solidFill>
              </a:rPr>
              <a:t>증명</a:t>
            </a:r>
          </a:p>
        </p:txBody>
      </p:sp>
      <p:sp>
        <p:nvSpPr>
          <p:cNvPr id="47" name="node-caption-4">
            <a:extLst>
              <a:ext uri="{FF2B5EF4-FFF2-40B4-BE49-F238E27FC236}">
                <a16:creationId xmlns:a16="http://schemas.microsoft.com/office/drawing/2014/main" id="{9F5A902C-CEFF-418D-BB0B-6DF03FF5E539}"/>
              </a:ext>
            </a:extLst>
          </p:cNvPr>
          <p:cNvSpPr>
            <a:spLocks noGrp="1"/>
          </p:cNvSpPr>
          <p:nvPr/>
        </p:nvSpPr>
        <p:spPr>
          <a:xfrm>
            <a:off x="14611350" y="4114800"/>
            <a:ext cx="21145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200">
                <a:solidFill>
                  <a:srgbClr val="6E6E80"/>
                </a:solidFill>
              </a:defRPr>
            </a:pPr>
            <a:r>
              <a:rPr sz="1200">
                <a:solidFill>
                  <a:srgbClr val="6E6E80"/>
                </a:solidFill>
              </a:rPr>
              <a:t>리뷰 · 테스트</a:t>
            </a: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BAD156C1-A613-45D9-9ADD-26893B1A03AA}"/>
              </a:ext>
            </a:extLst>
          </p:cNvPr>
          <p:cNvSpPr>
            <a:spLocks noGrp="1"/>
          </p:cNvSpPr>
          <p:nvPr/>
        </p:nvSpPr>
        <p:spPr>
          <a:xfrm>
            <a:off x="7696200" y="2057400"/>
            <a:ext cx="3124200" cy="685800"/>
          </a:xfrm>
          <a:prstGeom prst="roundRect">
            <a:avLst>
              <a:gd name="adj" fmla="val 22222"/>
            </a:avLst>
          </a:prstGeom>
          <a:solidFill>
            <a:srgbClr val="0D0D0D"/>
          </a:solidFill>
          <a:ln w="9525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workflow-label">
            <a:extLst>
              <a:ext uri="{FF2B5EF4-FFF2-40B4-BE49-F238E27FC236}">
                <a16:creationId xmlns:a16="http://schemas.microsoft.com/office/drawing/2014/main" id="{0FEF0012-A243-49A2-9B8D-6140BE1F7A86}"/>
              </a:ext>
            </a:extLst>
          </p:cNvPr>
          <p:cNvSpPr>
            <a:spLocks noGrp="1"/>
          </p:cNvSpPr>
          <p:nvPr/>
        </p:nvSpPr>
        <p:spPr>
          <a:xfrm>
            <a:off x="7981950" y="2247900"/>
            <a:ext cx="17526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WORKFLOW.md</a:t>
            </a:r>
          </a:p>
        </p:txBody>
      </p:sp>
      <p:sp>
        <p:nvSpPr>
          <p:cNvPr id="50" name="workflow-note">
            <a:extLst>
              <a:ext uri="{FF2B5EF4-FFF2-40B4-BE49-F238E27FC236}">
                <a16:creationId xmlns:a16="http://schemas.microsoft.com/office/drawing/2014/main" id="{C86C9F80-ACC8-4FF7-AC89-92879EA93FF5}"/>
              </a:ext>
            </a:extLst>
          </p:cNvPr>
          <p:cNvSpPr>
            <a:spLocks noGrp="1"/>
          </p:cNvSpPr>
          <p:nvPr/>
        </p:nvSpPr>
        <p:spPr>
          <a:xfrm>
            <a:off x="9829800" y="2286000"/>
            <a:ext cx="8763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9FE6D1"/>
                </a:solidFill>
              </a:defRPr>
            </a:pPr>
            <a:r>
              <a:rPr sz="1125">
                <a:solidFill>
                  <a:srgbClr val="9FE6D1"/>
                </a:solidFill>
              </a:rPr>
              <a:t>repo-owned policy</a:t>
            </a:r>
          </a:p>
        </p:txBody>
      </p:sp>
      <p:sp>
        <p:nvSpPr>
          <p:cNvPr id="52" name="workflow-arrow">
            <a:extLst>
              <a:ext uri="{FF2B5EF4-FFF2-40B4-BE49-F238E27FC236}">
                <a16:creationId xmlns:a16="http://schemas.microsoft.com/office/drawing/2014/main" id="{A866F45C-E52D-4511-B06B-28BAD5188458}"/>
              </a:ext>
            </a:extLst>
          </p:cNvPr>
          <p:cNvSpPr>
            <a:spLocks noGrp="1"/>
          </p:cNvSpPr>
          <p:nvPr/>
        </p:nvSpPr>
        <p:spPr>
          <a:xfrm>
            <a:off x="9048750" y="2732662"/>
            <a:ext cx="495300" cy="4191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700">
                <a:solidFill>
                  <a:srgbClr val="0D0D0D"/>
                </a:solidFill>
              </a:defRPr>
            </a:pPr>
            <a:r>
              <a:rPr sz="2700" dirty="0">
                <a:solidFill>
                  <a:srgbClr val="0D0D0D"/>
                </a:solidFill>
              </a:rPr>
              <a:t>↓</a:t>
            </a:r>
          </a:p>
        </p:txBody>
      </p:sp>
      <p:sp>
        <p:nvSpPr>
          <p:cNvPr id="53" name="sum-label-0">
            <a:extLst>
              <a:ext uri="{FF2B5EF4-FFF2-40B4-BE49-F238E27FC236}">
                <a16:creationId xmlns:a16="http://schemas.microsoft.com/office/drawing/2014/main" id="{EC58B8CC-87D8-4FAF-B8A6-B2709B3E24B2}"/>
              </a:ext>
            </a:extLst>
          </p:cNvPr>
          <p:cNvSpPr>
            <a:spLocks noGrp="1"/>
          </p:cNvSpPr>
          <p:nvPr/>
        </p:nvSpPr>
        <p:spPr>
          <a:xfrm>
            <a:off x="1619250" y="6057900"/>
            <a:ext cx="1333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0A37F"/>
                </a:solidFill>
              </a:defRPr>
            </a:pPr>
            <a:r>
              <a:rPr sz="1875" b="1">
                <a:solidFill>
                  <a:srgbClr val="10A37F"/>
                </a:solidFill>
              </a:rPr>
              <a:t>Poll</a:t>
            </a:r>
          </a:p>
        </p:txBody>
      </p:sp>
      <p:sp>
        <p:nvSpPr>
          <p:cNvPr id="54" name="sum-body-0">
            <a:extLst>
              <a:ext uri="{FF2B5EF4-FFF2-40B4-BE49-F238E27FC236}">
                <a16:creationId xmlns:a16="http://schemas.microsoft.com/office/drawing/2014/main" id="{B899AD7B-84B7-4DE6-8631-7D88797B9DAE}"/>
              </a:ext>
            </a:extLst>
          </p:cNvPr>
          <p:cNvSpPr>
            <a:spLocks noGrp="1"/>
          </p:cNvSpPr>
          <p:nvPr/>
        </p:nvSpPr>
        <p:spPr>
          <a:xfrm>
            <a:off x="1619250" y="6419850"/>
            <a:ext cx="31432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E6E80"/>
                </a:solidFill>
              </a:defRPr>
            </a:pPr>
            <a:r>
              <a:rPr sz="1500">
                <a:solidFill>
                  <a:srgbClr val="6E6E80"/>
                </a:solidFill>
              </a:rPr>
              <a:t>트래커를 주기적으로 읽고 열린 이슈를 후보로 만든다.</a:t>
            </a:r>
          </a:p>
        </p:txBody>
      </p:sp>
      <p:sp>
        <p:nvSpPr>
          <p:cNvPr id="55" name="sum-label-1">
            <a:extLst>
              <a:ext uri="{FF2B5EF4-FFF2-40B4-BE49-F238E27FC236}">
                <a16:creationId xmlns:a16="http://schemas.microsoft.com/office/drawing/2014/main" id="{9251C902-7473-4589-85D9-4C1BEE81839F}"/>
              </a:ext>
            </a:extLst>
          </p:cNvPr>
          <p:cNvSpPr>
            <a:spLocks noGrp="1"/>
          </p:cNvSpPr>
          <p:nvPr/>
        </p:nvSpPr>
        <p:spPr>
          <a:xfrm>
            <a:off x="5524500" y="6057900"/>
            <a:ext cx="1333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0A37F"/>
                </a:solidFill>
              </a:defRPr>
            </a:pPr>
            <a:r>
              <a:rPr sz="1875" b="1">
                <a:solidFill>
                  <a:srgbClr val="10A37F"/>
                </a:solidFill>
              </a:rPr>
              <a:t>Isolate</a:t>
            </a:r>
          </a:p>
        </p:txBody>
      </p:sp>
      <p:sp>
        <p:nvSpPr>
          <p:cNvPr id="56" name="sum-body-1">
            <a:extLst>
              <a:ext uri="{FF2B5EF4-FFF2-40B4-BE49-F238E27FC236}">
                <a16:creationId xmlns:a16="http://schemas.microsoft.com/office/drawing/2014/main" id="{457BBF0B-0C1B-4CAF-A4CF-C391FA00BBBA}"/>
              </a:ext>
            </a:extLst>
          </p:cNvPr>
          <p:cNvSpPr>
            <a:spLocks noGrp="1"/>
          </p:cNvSpPr>
          <p:nvPr/>
        </p:nvSpPr>
        <p:spPr>
          <a:xfrm>
            <a:off x="5524500" y="6419850"/>
            <a:ext cx="31432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E6E80"/>
                </a:solidFill>
              </a:defRPr>
            </a:pPr>
            <a:r>
              <a:rPr sz="1500">
                <a:solidFill>
                  <a:srgbClr val="6E6E80"/>
                </a:solidFill>
              </a:rPr>
              <a:t>이슈마다 독립 워크스페이스와 런타임을 준비한다.</a:t>
            </a:r>
          </a:p>
        </p:txBody>
      </p:sp>
      <p:sp>
        <p:nvSpPr>
          <p:cNvPr id="57" name="sum-label-2">
            <a:extLst>
              <a:ext uri="{FF2B5EF4-FFF2-40B4-BE49-F238E27FC236}">
                <a16:creationId xmlns:a16="http://schemas.microsoft.com/office/drawing/2014/main" id="{4F6C7A25-9645-47B3-9513-6BB2B833DD9D}"/>
              </a:ext>
            </a:extLst>
          </p:cNvPr>
          <p:cNvSpPr>
            <a:spLocks noGrp="1"/>
          </p:cNvSpPr>
          <p:nvPr/>
        </p:nvSpPr>
        <p:spPr>
          <a:xfrm>
            <a:off x="9429750" y="6057900"/>
            <a:ext cx="1333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0A37F"/>
                </a:solidFill>
              </a:defRPr>
            </a:pPr>
            <a:r>
              <a:rPr sz="1875" b="1">
                <a:solidFill>
                  <a:srgbClr val="10A37F"/>
                </a:solidFill>
              </a:rPr>
              <a:t>Run</a:t>
            </a:r>
          </a:p>
        </p:txBody>
      </p:sp>
      <p:sp>
        <p:nvSpPr>
          <p:cNvPr id="58" name="sum-body-2">
            <a:extLst>
              <a:ext uri="{FF2B5EF4-FFF2-40B4-BE49-F238E27FC236}">
                <a16:creationId xmlns:a16="http://schemas.microsoft.com/office/drawing/2014/main" id="{D104EB85-FA52-4272-815E-3A6957436E4F}"/>
              </a:ext>
            </a:extLst>
          </p:cNvPr>
          <p:cNvSpPr>
            <a:spLocks noGrp="1"/>
          </p:cNvSpPr>
          <p:nvPr/>
        </p:nvSpPr>
        <p:spPr>
          <a:xfrm>
            <a:off x="9429750" y="6419850"/>
            <a:ext cx="31432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E6E80"/>
                </a:solidFill>
              </a:defRPr>
            </a:pPr>
            <a:r>
              <a:rPr sz="1500">
                <a:solidFill>
                  <a:srgbClr val="6E6E80"/>
                </a:solidFill>
              </a:rPr>
              <a:t>정책 프롬프트와 이슈 컨텍스트로 에이전트를 실행한다.</a:t>
            </a:r>
          </a:p>
        </p:txBody>
      </p:sp>
      <p:sp>
        <p:nvSpPr>
          <p:cNvPr id="59" name="sum-label-3">
            <a:extLst>
              <a:ext uri="{FF2B5EF4-FFF2-40B4-BE49-F238E27FC236}">
                <a16:creationId xmlns:a16="http://schemas.microsoft.com/office/drawing/2014/main" id="{70AA1234-6511-490C-AC46-57D2AF850E21}"/>
              </a:ext>
            </a:extLst>
          </p:cNvPr>
          <p:cNvSpPr>
            <a:spLocks noGrp="1"/>
          </p:cNvSpPr>
          <p:nvPr/>
        </p:nvSpPr>
        <p:spPr>
          <a:xfrm>
            <a:off x="13335000" y="6057900"/>
            <a:ext cx="1333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0A37F"/>
                </a:solidFill>
              </a:defRPr>
            </a:pPr>
            <a:r>
              <a:rPr sz="1875" b="1">
                <a:solidFill>
                  <a:srgbClr val="10A37F"/>
                </a:solidFill>
              </a:rPr>
              <a:t>Prove</a:t>
            </a:r>
          </a:p>
        </p:txBody>
      </p:sp>
      <p:sp>
        <p:nvSpPr>
          <p:cNvPr id="60" name="sum-body-3">
            <a:extLst>
              <a:ext uri="{FF2B5EF4-FFF2-40B4-BE49-F238E27FC236}">
                <a16:creationId xmlns:a16="http://schemas.microsoft.com/office/drawing/2014/main" id="{FD39084B-71AA-48D3-9CF3-99E09FFEAAE3}"/>
              </a:ext>
            </a:extLst>
          </p:cNvPr>
          <p:cNvSpPr>
            <a:spLocks noGrp="1"/>
          </p:cNvSpPr>
          <p:nvPr/>
        </p:nvSpPr>
        <p:spPr>
          <a:xfrm>
            <a:off x="13335000" y="6419850"/>
            <a:ext cx="31432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E6E80"/>
                </a:solidFill>
              </a:defRPr>
            </a:pPr>
            <a:r>
              <a:rPr sz="1500">
                <a:solidFill>
                  <a:srgbClr val="6E6E80"/>
                </a:solidFill>
              </a:rPr>
              <a:t>커밋, PR, CI, 코멘트로 작업 증거를 남긴다.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0382A04-ED23-4489-8320-0C64E9507D2E}"/>
              </a:ext>
            </a:extLst>
          </p:cNvPr>
          <p:cNvSpPr>
            <a:spLocks noGrp="1"/>
          </p:cNvSpPr>
          <p:nvPr/>
        </p:nvSpPr>
        <p:spPr>
          <a:xfrm>
            <a:off x="1447800" y="8077200"/>
            <a:ext cx="15468600" cy="9525"/>
          </a:xfrm>
          <a:prstGeom prst="rect">
            <a:avLst/>
          </a:prstGeom>
          <a:solidFill>
            <a:srgbClr val="E5E5E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62" name="architecture-takeaway">
            <a:extLst>
              <a:ext uri="{FF2B5EF4-FFF2-40B4-BE49-F238E27FC236}">
                <a16:creationId xmlns:a16="http://schemas.microsoft.com/office/drawing/2014/main" id="{7E0F5606-AE5C-4801-BAC4-D54AB13574F8}"/>
              </a:ext>
            </a:extLst>
          </p:cNvPr>
          <p:cNvSpPr>
            <a:spLocks noGrp="1"/>
          </p:cNvSpPr>
          <p:nvPr/>
        </p:nvSpPr>
        <p:spPr>
          <a:xfrm>
            <a:off x="1428750" y="8382000"/>
            <a:ext cx="135255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D0D0D"/>
                </a:solidFill>
              </a:defRPr>
            </a:pPr>
            <a:r>
              <a:rPr sz="1950" b="1">
                <a:solidFill>
                  <a:srgbClr val="0D0D0D"/>
                </a:solidFill>
              </a:rPr>
              <a:t>Orchestrator는 단일 권한자다. Agent는 실행자이고, 상태 전이는 트래커와 PR/CI가 증명한다.</a:t>
            </a:r>
          </a:p>
        </p:txBody>
      </p:sp>
      <p:sp>
        <p:nvSpPr>
          <p:cNvPr id="63" name="source-rail">
            <a:extLst>
              <a:ext uri="{FF2B5EF4-FFF2-40B4-BE49-F238E27FC236}">
                <a16:creationId xmlns:a16="http://schemas.microsoft.com/office/drawing/2014/main" id="{D77F609A-A721-4214-989B-2A3F0A83B35D}"/>
              </a:ext>
            </a:extLst>
          </p:cNvPr>
          <p:cNvSpPr>
            <a:spLocks noGrp="1"/>
          </p:cNvSpPr>
          <p:nvPr/>
        </p:nvSpPr>
        <p:spPr>
          <a:xfrm>
            <a:off x="1143000" y="9753600"/>
            <a:ext cx="11906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ACACBE"/>
                </a:solidFill>
              </a:defRPr>
            </a:pPr>
            <a:r>
              <a:rPr sz="1125">
                <a:solidFill>
                  <a:srgbClr val="ACACBE"/>
                </a:solidFill>
              </a:rPr>
              <a:t>Source: Symphony SPEC.md Section 3</a:t>
            </a:r>
          </a:p>
        </p:txBody>
      </p:sp>
      <p:sp>
        <p:nvSpPr>
          <p:cNvPr id="64" name="slide-page">
            <a:extLst>
              <a:ext uri="{FF2B5EF4-FFF2-40B4-BE49-F238E27FC236}">
                <a16:creationId xmlns:a16="http://schemas.microsoft.com/office/drawing/2014/main" id="{ACFA0EDF-0D35-45AD-B3AF-71649ADC433D}"/>
              </a:ext>
            </a:extLst>
          </p:cNvPr>
          <p:cNvSpPr>
            <a:spLocks noGrp="1"/>
          </p:cNvSpPr>
          <p:nvPr/>
        </p:nvSpPr>
        <p:spPr>
          <a:xfrm>
            <a:off x="16573500" y="9753600"/>
            <a:ext cx="762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125">
                <a:solidFill>
                  <a:srgbClr val="ACACBE"/>
                </a:solidFill>
              </a:defRPr>
            </a:pPr>
            <a:r>
              <a:rPr sz="1125">
                <a:solidFill>
                  <a:srgbClr val="ACACBE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84978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-bg">
            <a:extLst>
              <a:ext uri="{FF2B5EF4-FFF2-40B4-BE49-F238E27FC236}">
                <a16:creationId xmlns:a16="http://schemas.microsoft.com/office/drawing/2014/main" id="{4BB5E9EB-3FBA-4334-B94A-94115E772D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900EAB01-5CD0-48C6-B47D-274EC6B60F89}"/>
              </a:ext>
            </a:extLst>
          </p:cNvPr>
          <p:cNvSpPr>
            <a:spLocks noGrp="1"/>
          </p:cNvSpPr>
          <p:nvPr/>
        </p:nvSpPr>
        <p:spPr>
          <a:xfrm>
            <a:off x="876300" y="876300"/>
            <a:ext cx="76200" cy="5334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slide-kicker">
            <a:extLst>
              <a:ext uri="{FF2B5EF4-FFF2-40B4-BE49-F238E27FC236}">
                <a16:creationId xmlns:a16="http://schemas.microsoft.com/office/drawing/2014/main" id="{8067DA68-EA57-4444-AFAB-EBCE2BCA7E5E}"/>
              </a:ext>
            </a:extLst>
          </p:cNvPr>
          <p:cNvSpPr>
            <a:spLocks noGrp="1"/>
          </p:cNvSpPr>
          <p:nvPr/>
        </p:nvSpPr>
        <p:spPr>
          <a:xfrm>
            <a:off x="1143000" y="704850"/>
            <a:ext cx="1524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A37F"/>
                </a:solidFill>
              </a:defRPr>
            </a:pPr>
            <a:r>
              <a:rPr sz="1350" b="1">
                <a:solidFill>
                  <a:srgbClr val="10A37F"/>
                </a:solidFill>
              </a:rPr>
              <a:t>05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939EECC1-633B-45B5-B81C-27323A82C97D}"/>
              </a:ext>
            </a:extLst>
          </p:cNvPr>
          <p:cNvSpPr>
            <a:spLocks noGrp="1"/>
          </p:cNvSpPr>
          <p:nvPr/>
        </p:nvSpPr>
        <p:spPr>
          <a:xfrm>
            <a:off x="1143000" y="990600"/>
            <a:ext cx="11239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0D0D0D"/>
                </a:solidFill>
              </a:defRPr>
            </a:pPr>
            <a:r>
              <a:rPr sz="3300" b="1">
                <a:solidFill>
                  <a:srgbClr val="0D0D0D"/>
                </a:solidFill>
              </a:rPr>
              <a:t>핵심 컴포넌트 8가지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C7B8320A-1D4B-4484-B46F-742FA799C79C}"/>
              </a:ext>
            </a:extLst>
          </p:cNvPr>
          <p:cNvSpPr>
            <a:spLocks noGrp="1"/>
          </p:cNvSpPr>
          <p:nvPr/>
        </p:nvSpPr>
        <p:spPr>
          <a:xfrm>
            <a:off x="1143000" y="1581150"/>
            <a:ext cx="11239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E6E80"/>
                </a:solidFill>
              </a:defRPr>
            </a:pPr>
            <a:r>
              <a:rPr sz="1650">
                <a:solidFill>
                  <a:srgbClr val="6E6E80"/>
                </a:solidFill>
              </a:rPr>
              <a:t>SPEC.md Section 3.1의 구현 단위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55F980CB-D4A9-48D8-9CE8-84582C94E897}"/>
              </a:ext>
            </a:extLst>
          </p:cNvPr>
          <p:cNvSpPr>
            <a:spLocks noGrp="1"/>
          </p:cNvSpPr>
          <p:nvPr/>
        </p:nvSpPr>
        <p:spPr>
          <a:xfrm>
            <a:off x="1447800" y="2667000"/>
            <a:ext cx="3429000" cy="1981200"/>
          </a:xfrm>
          <a:prstGeom prst="roundRect">
            <a:avLst>
              <a:gd name="adj" fmla="val 8654"/>
            </a:avLst>
          </a:prstGeom>
          <a:solidFill>
            <a:srgbClr val="F7F7F8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2B0F9C71-252C-4B7F-9C3C-F10B8AC268FE}"/>
              </a:ext>
            </a:extLst>
          </p:cNvPr>
          <p:cNvSpPr>
            <a:spLocks noGrp="1"/>
          </p:cNvSpPr>
          <p:nvPr/>
        </p:nvSpPr>
        <p:spPr>
          <a:xfrm>
            <a:off x="1447800" y="2667000"/>
            <a:ext cx="76200" cy="1981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8" name="comp-no-0">
            <a:extLst>
              <a:ext uri="{FF2B5EF4-FFF2-40B4-BE49-F238E27FC236}">
                <a16:creationId xmlns:a16="http://schemas.microsoft.com/office/drawing/2014/main" id="{E08F8DD3-5BB4-4D0A-A2C5-68F4DE74E1E1}"/>
              </a:ext>
            </a:extLst>
          </p:cNvPr>
          <p:cNvSpPr>
            <a:spLocks noGrp="1"/>
          </p:cNvSpPr>
          <p:nvPr/>
        </p:nvSpPr>
        <p:spPr>
          <a:xfrm>
            <a:off x="1714500" y="2952750"/>
            <a:ext cx="533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0A37F"/>
                </a:solidFill>
              </a:defRPr>
            </a:pPr>
            <a:r>
              <a:rPr sz="1650" b="1">
                <a:solidFill>
                  <a:srgbClr val="10A37F"/>
                </a:solidFill>
              </a:rPr>
              <a:t>01</a:t>
            </a:r>
          </a:p>
        </p:txBody>
      </p:sp>
      <p:sp>
        <p:nvSpPr>
          <p:cNvPr id="9" name="comp-title-0">
            <a:extLst>
              <a:ext uri="{FF2B5EF4-FFF2-40B4-BE49-F238E27FC236}">
                <a16:creationId xmlns:a16="http://schemas.microsoft.com/office/drawing/2014/main" id="{9EE955B1-96ED-403D-AE94-F84814538539}"/>
              </a:ext>
            </a:extLst>
          </p:cNvPr>
          <p:cNvSpPr>
            <a:spLocks noGrp="1"/>
          </p:cNvSpPr>
          <p:nvPr/>
        </p:nvSpPr>
        <p:spPr>
          <a:xfrm>
            <a:off x="1714500" y="3409950"/>
            <a:ext cx="2743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0D0D0D"/>
                </a:solidFill>
              </a:defRPr>
            </a:pPr>
            <a:r>
              <a:rPr sz="1875" b="1">
                <a:solidFill>
                  <a:srgbClr val="0D0D0D"/>
                </a:solidFill>
              </a:rPr>
              <a:t>Workflow Loader</a:t>
            </a:r>
          </a:p>
        </p:txBody>
      </p:sp>
      <p:sp>
        <p:nvSpPr>
          <p:cNvPr id="10" name="comp-desc-0">
            <a:extLst>
              <a:ext uri="{FF2B5EF4-FFF2-40B4-BE49-F238E27FC236}">
                <a16:creationId xmlns:a16="http://schemas.microsoft.com/office/drawing/2014/main" id="{0B9C8055-8BF4-4D6F-96A8-A5A0DC8333B3}"/>
              </a:ext>
            </a:extLst>
          </p:cNvPr>
          <p:cNvSpPr>
            <a:spLocks noGrp="1"/>
          </p:cNvSpPr>
          <p:nvPr/>
        </p:nvSpPr>
        <p:spPr>
          <a:xfrm>
            <a:off x="1714500" y="3848100"/>
            <a:ext cx="2724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E6E80"/>
                </a:solidFill>
              </a:defRPr>
            </a:pPr>
            <a:r>
              <a:rPr sz="1500">
                <a:solidFill>
                  <a:srgbClr val="6E6E80"/>
                </a:solidFill>
              </a:rPr>
              <a:t>WORKFLOW.md 파싱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FC349136-591F-41FB-AF33-D05AC737B310}"/>
              </a:ext>
            </a:extLst>
          </p:cNvPr>
          <p:cNvSpPr>
            <a:spLocks noGrp="1"/>
          </p:cNvSpPr>
          <p:nvPr/>
        </p:nvSpPr>
        <p:spPr>
          <a:xfrm>
            <a:off x="5257800" y="2667000"/>
            <a:ext cx="3429000" cy="1981200"/>
          </a:xfrm>
          <a:prstGeom prst="roundRect">
            <a:avLst>
              <a:gd name="adj" fmla="val 8654"/>
            </a:avLst>
          </a:prstGeom>
          <a:solidFill>
            <a:srgbClr val="F7F7F8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4DCD4823-A5C0-45B2-B6C4-DA3267D71C55}"/>
              </a:ext>
            </a:extLst>
          </p:cNvPr>
          <p:cNvSpPr>
            <a:spLocks noGrp="1"/>
          </p:cNvSpPr>
          <p:nvPr/>
        </p:nvSpPr>
        <p:spPr>
          <a:xfrm>
            <a:off x="5257800" y="2667000"/>
            <a:ext cx="76200" cy="1981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3" name="comp-no-1">
            <a:extLst>
              <a:ext uri="{FF2B5EF4-FFF2-40B4-BE49-F238E27FC236}">
                <a16:creationId xmlns:a16="http://schemas.microsoft.com/office/drawing/2014/main" id="{6A0D2115-B77D-47CD-B0D3-76CD0573B146}"/>
              </a:ext>
            </a:extLst>
          </p:cNvPr>
          <p:cNvSpPr>
            <a:spLocks noGrp="1"/>
          </p:cNvSpPr>
          <p:nvPr/>
        </p:nvSpPr>
        <p:spPr>
          <a:xfrm>
            <a:off x="5581650" y="2952750"/>
            <a:ext cx="533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4" name="comp-title-1">
            <a:extLst>
              <a:ext uri="{FF2B5EF4-FFF2-40B4-BE49-F238E27FC236}">
                <a16:creationId xmlns:a16="http://schemas.microsoft.com/office/drawing/2014/main" id="{802E5BC7-BE63-4289-BCB0-A8FC11131F7E}"/>
              </a:ext>
            </a:extLst>
          </p:cNvPr>
          <p:cNvSpPr>
            <a:spLocks noGrp="1"/>
          </p:cNvSpPr>
          <p:nvPr/>
        </p:nvSpPr>
        <p:spPr>
          <a:xfrm>
            <a:off x="5581650" y="3409950"/>
            <a:ext cx="2743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0D0D0D"/>
                </a:solidFill>
              </a:defRPr>
            </a:pPr>
            <a:r>
              <a:rPr sz="1875" b="1">
                <a:solidFill>
                  <a:srgbClr val="0D0D0D"/>
                </a:solidFill>
              </a:rPr>
              <a:t>Config Layer</a:t>
            </a:r>
          </a:p>
        </p:txBody>
      </p:sp>
      <p:sp>
        <p:nvSpPr>
          <p:cNvPr id="15" name="comp-desc-1">
            <a:extLst>
              <a:ext uri="{FF2B5EF4-FFF2-40B4-BE49-F238E27FC236}">
                <a16:creationId xmlns:a16="http://schemas.microsoft.com/office/drawing/2014/main" id="{F3698DD5-BE24-4C12-96EE-1FBA56764D15}"/>
              </a:ext>
            </a:extLst>
          </p:cNvPr>
          <p:cNvSpPr>
            <a:spLocks noGrp="1"/>
          </p:cNvSpPr>
          <p:nvPr/>
        </p:nvSpPr>
        <p:spPr>
          <a:xfrm>
            <a:off x="5581650" y="3848100"/>
            <a:ext cx="2724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E6E80"/>
                </a:solidFill>
              </a:defRPr>
            </a:pPr>
            <a:r>
              <a:rPr sz="1500">
                <a:solidFill>
                  <a:srgbClr val="6E6E80"/>
                </a:solidFill>
              </a:rPr>
              <a:t>typed getter · env · validation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5DAEFDBE-67AA-440F-9EE6-9D9614A2C32B}"/>
              </a:ext>
            </a:extLst>
          </p:cNvPr>
          <p:cNvSpPr>
            <a:spLocks noGrp="1"/>
          </p:cNvSpPr>
          <p:nvPr/>
        </p:nvSpPr>
        <p:spPr>
          <a:xfrm>
            <a:off x="9144000" y="2667000"/>
            <a:ext cx="3429000" cy="1981200"/>
          </a:xfrm>
          <a:prstGeom prst="roundRect">
            <a:avLst>
              <a:gd name="adj" fmla="val 8654"/>
            </a:avLst>
          </a:prstGeom>
          <a:solidFill>
            <a:srgbClr val="F7F7F8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547CA90C-CF67-4E92-AD78-45B1BCB7F82B}"/>
              </a:ext>
            </a:extLst>
          </p:cNvPr>
          <p:cNvSpPr>
            <a:spLocks noGrp="1"/>
          </p:cNvSpPr>
          <p:nvPr/>
        </p:nvSpPr>
        <p:spPr>
          <a:xfrm>
            <a:off x="9144000" y="2667000"/>
            <a:ext cx="76200" cy="1981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8" name="comp-no-2">
            <a:extLst>
              <a:ext uri="{FF2B5EF4-FFF2-40B4-BE49-F238E27FC236}">
                <a16:creationId xmlns:a16="http://schemas.microsoft.com/office/drawing/2014/main" id="{B81147A7-7EA5-49C2-9CDE-0D9F9285067F}"/>
              </a:ext>
            </a:extLst>
          </p:cNvPr>
          <p:cNvSpPr>
            <a:spLocks noGrp="1"/>
          </p:cNvSpPr>
          <p:nvPr/>
        </p:nvSpPr>
        <p:spPr>
          <a:xfrm>
            <a:off x="9429750" y="2952750"/>
            <a:ext cx="533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9" name="comp-title-2">
            <a:extLst>
              <a:ext uri="{FF2B5EF4-FFF2-40B4-BE49-F238E27FC236}">
                <a16:creationId xmlns:a16="http://schemas.microsoft.com/office/drawing/2014/main" id="{7FB1E58B-3C40-4E6F-B7DC-D2D07A2EF74A}"/>
              </a:ext>
            </a:extLst>
          </p:cNvPr>
          <p:cNvSpPr>
            <a:spLocks noGrp="1"/>
          </p:cNvSpPr>
          <p:nvPr/>
        </p:nvSpPr>
        <p:spPr>
          <a:xfrm>
            <a:off x="9429750" y="3409950"/>
            <a:ext cx="2743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0D0D0D"/>
                </a:solidFill>
              </a:defRPr>
            </a:pPr>
            <a:r>
              <a:rPr sz="1875" b="1">
                <a:solidFill>
                  <a:srgbClr val="0D0D0D"/>
                </a:solidFill>
              </a:rPr>
              <a:t>Issue Tracker Client</a:t>
            </a:r>
          </a:p>
        </p:txBody>
      </p:sp>
      <p:sp>
        <p:nvSpPr>
          <p:cNvPr id="20" name="comp-desc-2">
            <a:extLst>
              <a:ext uri="{FF2B5EF4-FFF2-40B4-BE49-F238E27FC236}">
                <a16:creationId xmlns:a16="http://schemas.microsoft.com/office/drawing/2014/main" id="{DCEF3FD9-DF24-4316-85D4-785E69D73F66}"/>
              </a:ext>
            </a:extLst>
          </p:cNvPr>
          <p:cNvSpPr>
            <a:spLocks noGrp="1"/>
          </p:cNvSpPr>
          <p:nvPr/>
        </p:nvSpPr>
        <p:spPr>
          <a:xfrm>
            <a:off x="9429750" y="3848100"/>
            <a:ext cx="2724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E6E80"/>
                </a:solidFill>
              </a:defRPr>
            </a:pPr>
            <a:r>
              <a:rPr sz="1500">
                <a:solidFill>
                  <a:srgbClr val="6E6E80"/>
                </a:solidFill>
              </a:rPr>
              <a:t>이슈 fetch · 도메인 모델 정규화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0623DD52-65B3-47DF-9D80-29E6B48E44AB}"/>
              </a:ext>
            </a:extLst>
          </p:cNvPr>
          <p:cNvSpPr>
            <a:spLocks noGrp="1"/>
          </p:cNvSpPr>
          <p:nvPr/>
        </p:nvSpPr>
        <p:spPr>
          <a:xfrm>
            <a:off x="13030200" y="2667000"/>
            <a:ext cx="3429000" cy="1981200"/>
          </a:xfrm>
          <a:prstGeom prst="roundRect">
            <a:avLst>
              <a:gd name="adj" fmla="val 8654"/>
            </a:avLst>
          </a:prstGeom>
          <a:solidFill>
            <a:srgbClr val="F7F7F8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4576CF52-094E-4C42-90F7-CD054C16570C}"/>
              </a:ext>
            </a:extLst>
          </p:cNvPr>
          <p:cNvSpPr>
            <a:spLocks noGrp="1"/>
          </p:cNvSpPr>
          <p:nvPr/>
        </p:nvSpPr>
        <p:spPr>
          <a:xfrm>
            <a:off x="13030200" y="2667000"/>
            <a:ext cx="76200" cy="1981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3" name="comp-no-3">
            <a:extLst>
              <a:ext uri="{FF2B5EF4-FFF2-40B4-BE49-F238E27FC236}">
                <a16:creationId xmlns:a16="http://schemas.microsoft.com/office/drawing/2014/main" id="{6713A24B-16AF-4F5F-9413-010DE98AF4A7}"/>
              </a:ext>
            </a:extLst>
          </p:cNvPr>
          <p:cNvSpPr>
            <a:spLocks noGrp="1"/>
          </p:cNvSpPr>
          <p:nvPr/>
        </p:nvSpPr>
        <p:spPr>
          <a:xfrm>
            <a:off x="13296900" y="2952750"/>
            <a:ext cx="533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97316"/>
                </a:solidFill>
              </a:defRPr>
            </a:pPr>
            <a:r>
              <a:rPr sz="1650" b="1">
                <a:solidFill>
                  <a:srgbClr val="F97316"/>
                </a:solidFill>
              </a:rPr>
              <a:t>04</a:t>
            </a:r>
          </a:p>
        </p:txBody>
      </p:sp>
      <p:sp>
        <p:nvSpPr>
          <p:cNvPr id="24" name="comp-title-3">
            <a:extLst>
              <a:ext uri="{FF2B5EF4-FFF2-40B4-BE49-F238E27FC236}">
                <a16:creationId xmlns:a16="http://schemas.microsoft.com/office/drawing/2014/main" id="{2CF0EF09-394D-4D7B-ACCC-A2129CF2BE8D}"/>
              </a:ext>
            </a:extLst>
          </p:cNvPr>
          <p:cNvSpPr>
            <a:spLocks noGrp="1"/>
          </p:cNvSpPr>
          <p:nvPr/>
        </p:nvSpPr>
        <p:spPr>
          <a:xfrm>
            <a:off x="13296900" y="3409950"/>
            <a:ext cx="2743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0D0D0D"/>
                </a:solidFill>
              </a:defRPr>
            </a:pPr>
            <a:r>
              <a:rPr sz="1875" b="1">
                <a:solidFill>
                  <a:srgbClr val="0D0D0D"/>
                </a:solidFill>
              </a:rPr>
              <a:t>Orchestrator</a:t>
            </a:r>
          </a:p>
        </p:txBody>
      </p:sp>
      <p:sp>
        <p:nvSpPr>
          <p:cNvPr id="25" name="comp-desc-3">
            <a:extLst>
              <a:ext uri="{FF2B5EF4-FFF2-40B4-BE49-F238E27FC236}">
                <a16:creationId xmlns:a16="http://schemas.microsoft.com/office/drawing/2014/main" id="{BC77148F-E620-4A57-B5B0-BD04A00BE7F3}"/>
              </a:ext>
            </a:extLst>
          </p:cNvPr>
          <p:cNvSpPr>
            <a:spLocks noGrp="1"/>
          </p:cNvSpPr>
          <p:nvPr/>
        </p:nvSpPr>
        <p:spPr>
          <a:xfrm>
            <a:off x="13296900" y="3848100"/>
            <a:ext cx="2724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E6E80"/>
                </a:solidFill>
              </a:defRPr>
            </a:pPr>
            <a:r>
              <a:rPr sz="1500">
                <a:solidFill>
                  <a:srgbClr val="6E6E80"/>
                </a:solidFill>
              </a:rPr>
              <a:t>poll tick · dispatch · retry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C6002C95-38B1-4BD5-B9C9-BB89D7E3F11A}"/>
              </a:ext>
            </a:extLst>
          </p:cNvPr>
          <p:cNvSpPr>
            <a:spLocks noGrp="1"/>
          </p:cNvSpPr>
          <p:nvPr/>
        </p:nvSpPr>
        <p:spPr>
          <a:xfrm>
            <a:off x="1447800" y="5334000"/>
            <a:ext cx="3429000" cy="1981200"/>
          </a:xfrm>
          <a:prstGeom prst="roundRect">
            <a:avLst>
              <a:gd name="adj" fmla="val 8654"/>
            </a:avLst>
          </a:prstGeom>
          <a:solidFill>
            <a:srgbClr val="F7F7F8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919A5688-A548-45D3-BEBB-1A8CF5845C59}"/>
              </a:ext>
            </a:extLst>
          </p:cNvPr>
          <p:cNvSpPr>
            <a:spLocks noGrp="1"/>
          </p:cNvSpPr>
          <p:nvPr/>
        </p:nvSpPr>
        <p:spPr>
          <a:xfrm>
            <a:off x="1447800" y="5334000"/>
            <a:ext cx="76200" cy="1981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8" name="comp-no-4">
            <a:extLst>
              <a:ext uri="{FF2B5EF4-FFF2-40B4-BE49-F238E27FC236}">
                <a16:creationId xmlns:a16="http://schemas.microsoft.com/office/drawing/2014/main" id="{53D51A7E-111F-4C25-9515-1E85F5B9402A}"/>
              </a:ext>
            </a:extLst>
          </p:cNvPr>
          <p:cNvSpPr>
            <a:spLocks noGrp="1"/>
          </p:cNvSpPr>
          <p:nvPr/>
        </p:nvSpPr>
        <p:spPr>
          <a:xfrm>
            <a:off x="1714500" y="5619750"/>
            <a:ext cx="533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0A37F"/>
                </a:solidFill>
              </a:defRPr>
            </a:pPr>
            <a:r>
              <a:rPr sz="1650" b="1">
                <a:solidFill>
                  <a:srgbClr val="10A37F"/>
                </a:solidFill>
              </a:rPr>
              <a:t>05</a:t>
            </a:r>
          </a:p>
        </p:txBody>
      </p:sp>
      <p:sp>
        <p:nvSpPr>
          <p:cNvPr id="29" name="comp-title-4">
            <a:extLst>
              <a:ext uri="{FF2B5EF4-FFF2-40B4-BE49-F238E27FC236}">
                <a16:creationId xmlns:a16="http://schemas.microsoft.com/office/drawing/2014/main" id="{28D08F5C-9342-4E09-B6F9-943C2F27CCD9}"/>
              </a:ext>
            </a:extLst>
          </p:cNvPr>
          <p:cNvSpPr>
            <a:spLocks noGrp="1"/>
          </p:cNvSpPr>
          <p:nvPr/>
        </p:nvSpPr>
        <p:spPr>
          <a:xfrm>
            <a:off x="1714500" y="6076950"/>
            <a:ext cx="2743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0D0D0D"/>
                </a:solidFill>
              </a:defRPr>
            </a:pPr>
            <a:r>
              <a:rPr sz="1875" b="1">
                <a:solidFill>
                  <a:srgbClr val="0D0D0D"/>
                </a:solidFill>
              </a:rPr>
              <a:t>Workspace Manager</a:t>
            </a:r>
          </a:p>
        </p:txBody>
      </p:sp>
      <p:sp>
        <p:nvSpPr>
          <p:cNvPr id="30" name="comp-desc-4">
            <a:extLst>
              <a:ext uri="{FF2B5EF4-FFF2-40B4-BE49-F238E27FC236}">
                <a16:creationId xmlns:a16="http://schemas.microsoft.com/office/drawing/2014/main" id="{C6CDBB1D-6DD8-47D5-BB6B-A899C7495030}"/>
              </a:ext>
            </a:extLst>
          </p:cNvPr>
          <p:cNvSpPr>
            <a:spLocks noGrp="1"/>
          </p:cNvSpPr>
          <p:nvPr/>
        </p:nvSpPr>
        <p:spPr>
          <a:xfrm>
            <a:off x="1714500" y="6515100"/>
            <a:ext cx="2724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E6E80"/>
                </a:solidFill>
              </a:defRPr>
            </a:pPr>
            <a:r>
              <a:rPr sz="1500">
                <a:solidFill>
                  <a:srgbClr val="6E6E80"/>
                </a:solidFill>
              </a:rPr>
              <a:t>per-issue 디렉토리 · 훅</a:t>
            </a: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5D81640E-7FC0-4C89-8710-941EF8A28F60}"/>
              </a:ext>
            </a:extLst>
          </p:cNvPr>
          <p:cNvSpPr>
            <a:spLocks noGrp="1"/>
          </p:cNvSpPr>
          <p:nvPr/>
        </p:nvSpPr>
        <p:spPr>
          <a:xfrm>
            <a:off x="5257800" y="5334000"/>
            <a:ext cx="3429000" cy="1981200"/>
          </a:xfrm>
          <a:prstGeom prst="roundRect">
            <a:avLst>
              <a:gd name="adj" fmla="val 8654"/>
            </a:avLst>
          </a:prstGeom>
          <a:solidFill>
            <a:srgbClr val="F7F7F8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9E3F46C8-2CD8-4ADA-B4A0-26757C6DD3DC}"/>
              </a:ext>
            </a:extLst>
          </p:cNvPr>
          <p:cNvSpPr>
            <a:spLocks noGrp="1"/>
          </p:cNvSpPr>
          <p:nvPr/>
        </p:nvSpPr>
        <p:spPr>
          <a:xfrm>
            <a:off x="5257800" y="5334000"/>
            <a:ext cx="76200" cy="1981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3" name="comp-no-5">
            <a:extLst>
              <a:ext uri="{FF2B5EF4-FFF2-40B4-BE49-F238E27FC236}">
                <a16:creationId xmlns:a16="http://schemas.microsoft.com/office/drawing/2014/main" id="{D7FD6D52-A340-4AC9-A99E-199A863613C6}"/>
              </a:ext>
            </a:extLst>
          </p:cNvPr>
          <p:cNvSpPr>
            <a:spLocks noGrp="1"/>
          </p:cNvSpPr>
          <p:nvPr/>
        </p:nvSpPr>
        <p:spPr>
          <a:xfrm>
            <a:off x="5581650" y="5619750"/>
            <a:ext cx="533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34" name="comp-title-5">
            <a:extLst>
              <a:ext uri="{FF2B5EF4-FFF2-40B4-BE49-F238E27FC236}">
                <a16:creationId xmlns:a16="http://schemas.microsoft.com/office/drawing/2014/main" id="{D59D50EF-8013-45CF-AFF3-14769DC02A10}"/>
              </a:ext>
            </a:extLst>
          </p:cNvPr>
          <p:cNvSpPr>
            <a:spLocks noGrp="1"/>
          </p:cNvSpPr>
          <p:nvPr/>
        </p:nvSpPr>
        <p:spPr>
          <a:xfrm>
            <a:off x="5581650" y="6076950"/>
            <a:ext cx="2743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0D0D0D"/>
                </a:solidFill>
              </a:defRPr>
            </a:pPr>
            <a:r>
              <a:rPr sz="1875" b="1">
                <a:solidFill>
                  <a:srgbClr val="0D0D0D"/>
                </a:solidFill>
              </a:rPr>
              <a:t>Agent Runner</a:t>
            </a:r>
          </a:p>
        </p:txBody>
      </p:sp>
      <p:sp>
        <p:nvSpPr>
          <p:cNvPr id="35" name="comp-desc-5">
            <a:extLst>
              <a:ext uri="{FF2B5EF4-FFF2-40B4-BE49-F238E27FC236}">
                <a16:creationId xmlns:a16="http://schemas.microsoft.com/office/drawing/2014/main" id="{B199DD8D-D33A-40B1-B0D1-6A670A7D96EB}"/>
              </a:ext>
            </a:extLst>
          </p:cNvPr>
          <p:cNvSpPr>
            <a:spLocks noGrp="1"/>
          </p:cNvSpPr>
          <p:nvPr/>
        </p:nvSpPr>
        <p:spPr>
          <a:xfrm>
            <a:off x="5581650" y="6515100"/>
            <a:ext cx="2724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E6E80"/>
                </a:solidFill>
              </a:defRPr>
            </a:pPr>
            <a:r>
              <a:rPr sz="1500">
                <a:solidFill>
                  <a:srgbClr val="6E6E80"/>
                </a:solidFill>
              </a:rPr>
              <a:t>프롬프트 빌드 · 실행 · 스트림</a:t>
            </a: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70A56667-6BC2-46BA-9375-C9DC998B29EF}"/>
              </a:ext>
            </a:extLst>
          </p:cNvPr>
          <p:cNvSpPr>
            <a:spLocks noGrp="1"/>
          </p:cNvSpPr>
          <p:nvPr/>
        </p:nvSpPr>
        <p:spPr>
          <a:xfrm>
            <a:off x="9144000" y="5334000"/>
            <a:ext cx="3429000" cy="1981200"/>
          </a:xfrm>
          <a:prstGeom prst="roundRect">
            <a:avLst>
              <a:gd name="adj" fmla="val 8654"/>
            </a:avLst>
          </a:prstGeom>
          <a:solidFill>
            <a:srgbClr val="F7F7F8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74737779-F203-4FFE-8ECC-249B98B061FD}"/>
              </a:ext>
            </a:extLst>
          </p:cNvPr>
          <p:cNvSpPr>
            <a:spLocks noGrp="1"/>
          </p:cNvSpPr>
          <p:nvPr/>
        </p:nvSpPr>
        <p:spPr>
          <a:xfrm>
            <a:off x="9144000" y="5334000"/>
            <a:ext cx="76200" cy="1981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8" name="comp-no-6">
            <a:extLst>
              <a:ext uri="{FF2B5EF4-FFF2-40B4-BE49-F238E27FC236}">
                <a16:creationId xmlns:a16="http://schemas.microsoft.com/office/drawing/2014/main" id="{719F3ED4-7F92-4EA5-9DE5-7A396628B49A}"/>
              </a:ext>
            </a:extLst>
          </p:cNvPr>
          <p:cNvSpPr>
            <a:spLocks noGrp="1"/>
          </p:cNvSpPr>
          <p:nvPr/>
        </p:nvSpPr>
        <p:spPr>
          <a:xfrm>
            <a:off x="9429750" y="5619750"/>
            <a:ext cx="533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07</a:t>
            </a:r>
          </a:p>
        </p:txBody>
      </p:sp>
      <p:sp>
        <p:nvSpPr>
          <p:cNvPr id="39" name="comp-title-6">
            <a:extLst>
              <a:ext uri="{FF2B5EF4-FFF2-40B4-BE49-F238E27FC236}">
                <a16:creationId xmlns:a16="http://schemas.microsoft.com/office/drawing/2014/main" id="{5304F417-25F6-4426-990A-99BB33331960}"/>
              </a:ext>
            </a:extLst>
          </p:cNvPr>
          <p:cNvSpPr>
            <a:spLocks noGrp="1"/>
          </p:cNvSpPr>
          <p:nvPr/>
        </p:nvSpPr>
        <p:spPr>
          <a:xfrm>
            <a:off x="9429750" y="6076950"/>
            <a:ext cx="2743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0D0D0D"/>
                </a:solidFill>
              </a:defRPr>
            </a:pPr>
            <a:r>
              <a:rPr sz="1875" b="1">
                <a:solidFill>
                  <a:srgbClr val="0D0D0D"/>
                </a:solidFill>
              </a:rPr>
              <a:t>Status Surface</a:t>
            </a:r>
          </a:p>
        </p:txBody>
      </p:sp>
      <p:sp>
        <p:nvSpPr>
          <p:cNvPr id="40" name="comp-desc-6">
            <a:extLst>
              <a:ext uri="{FF2B5EF4-FFF2-40B4-BE49-F238E27FC236}">
                <a16:creationId xmlns:a16="http://schemas.microsoft.com/office/drawing/2014/main" id="{37EC80F2-B419-4C77-92DA-019E588C594F}"/>
              </a:ext>
            </a:extLst>
          </p:cNvPr>
          <p:cNvSpPr>
            <a:spLocks noGrp="1"/>
          </p:cNvSpPr>
          <p:nvPr/>
        </p:nvSpPr>
        <p:spPr>
          <a:xfrm>
            <a:off x="9429750" y="6515100"/>
            <a:ext cx="2724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E6E80"/>
                </a:solidFill>
              </a:defRPr>
            </a:pPr>
            <a:r>
              <a:rPr sz="1500">
                <a:solidFill>
                  <a:srgbClr val="6E6E80"/>
                </a:solidFill>
              </a:rPr>
              <a:t>운영자용 상태 뷰</a:t>
            </a: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193E00A8-5411-4F2E-A719-7A4F672246CB}"/>
              </a:ext>
            </a:extLst>
          </p:cNvPr>
          <p:cNvSpPr>
            <a:spLocks noGrp="1"/>
          </p:cNvSpPr>
          <p:nvPr/>
        </p:nvSpPr>
        <p:spPr>
          <a:xfrm>
            <a:off x="13030200" y="5334000"/>
            <a:ext cx="3429000" cy="1981200"/>
          </a:xfrm>
          <a:prstGeom prst="roundRect">
            <a:avLst>
              <a:gd name="adj" fmla="val 8654"/>
            </a:avLst>
          </a:prstGeom>
          <a:solidFill>
            <a:srgbClr val="F7F7F8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CD9675A3-B9FE-4949-A1A7-48FC2A37CD9E}"/>
              </a:ext>
            </a:extLst>
          </p:cNvPr>
          <p:cNvSpPr>
            <a:spLocks noGrp="1"/>
          </p:cNvSpPr>
          <p:nvPr/>
        </p:nvSpPr>
        <p:spPr>
          <a:xfrm>
            <a:off x="13030200" y="5334000"/>
            <a:ext cx="76200" cy="1981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3" name="comp-no-7">
            <a:extLst>
              <a:ext uri="{FF2B5EF4-FFF2-40B4-BE49-F238E27FC236}">
                <a16:creationId xmlns:a16="http://schemas.microsoft.com/office/drawing/2014/main" id="{4710BD29-BC90-466F-94EC-9988F26CAD5C}"/>
              </a:ext>
            </a:extLst>
          </p:cNvPr>
          <p:cNvSpPr>
            <a:spLocks noGrp="1"/>
          </p:cNvSpPr>
          <p:nvPr/>
        </p:nvSpPr>
        <p:spPr>
          <a:xfrm>
            <a:off x="13296900" y="5619750"/>
            <a:ext cx="533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97316"/>
                </a:solidFill>
              </a:defRPr>
            </a:pPr>
            <a:r>
              <a:rPr sz="1650" b="1">
                <a:solidFill>
                  <a:srgbClr val="F97316"/>
                </a:solidFill>
              </a:rPr>
              <a:t>08</a:t>
            </a:r>
          </a:p>
        </p:txBody>
      </p:sp>
      <p:sp>
        <p:nvSpPr>
          <p:cNvPr id="44" name="comp-title-7">
            <a:extLst>
              <a:ext uri="{FF2B5EF4-FFF2-40B4-BE49-F238E27FC236}">
                <a16:creationId xmlns:a16="http://schemas.microsoft.com/office/drawing/2014/main" id="{CC872913-1531-4472-A84B-152813FBE2BD}"/>
              </a:ext>
            </a:extLst>
          </p:cNvPr>
          <p:cNvSpPr>
            <a:spLocks noGrp="1"/>
          </p:cNvSpPr>
          <p:nvPr/>
        </p:nvSpPr>
        <p:spPr>
          <a:xfrm>
            <a:off x="13296900" y="6076950"/>
            <a:ext cx="2743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0D0D0D"/>
                </a:solidFill>
              </a:defRPr>
            </a:pPr>
            <a:r>
              <a:rPr sz="1875" b="1">
                <a:solidFill>
                  <a:srgbClr val="0D0D0D"/>
                </a:solidFill>
              </a:rPr>
              <a:t>Logging</a:t>
            </a:r>
          </a:p>
        </p:txBody>
      </p:sp>
      <p:sp>
        <p:nvSpPr>
          <p:cNvPr id="45" name="comp-desc-7">
            <a:extLst>
              <a:ext uri="{FF2B5EF4-FFF2-40B4-BE49-F238E27FC236}">
                <a16:creationId xmlns:a16="http://schemas.microsoft.com/office/drawing/2014/main" id="{F7695614-4B53-41FD-A95E-F033F607345B}"/>
              </a:ext>
            </a:extLst>
          </p:cNvPr>
          <p:cNvSpPr>
            <a:spLocks noGrp="1"/>
          </p:cNvSpPr>
          <p:nvPr/>
        </p:nvSpPr>
        <p:spPr>
          <a:xfrm>
            <a:off x="13296900" y="6515100"/>
            <a:ext cx="2724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E6E80"/>
                </a:solidFill>
              </a:defRPr>
            </a:pPr>
            <a:r>
              <a:rPr sz="1500">
                <a:solidFill>
                  <a:srgbClr val="6E6E80"/>
                </a:solidFill>
              </a:rPr>
              <a:t>issue/session 컨텍스트 로그</a:t>
            </a: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BF0A79EF-5042-4766-9ACF-501F15455E63}"/>
              </a:ext>
            </a:extLst>
          </p:cNvPr>
          <p:cNvSpPr>
            <a:spLocks noGrp="1"/>
          </p:cNvSpPr>
          <p:nvPr/>
        </p:nvSpPr>
        <p:spPr>
          <a:xfrm>
            <a:off x="1447800" y="8458200"/>
            <a:ext cx="15468600" cy="685800"/>
          </a:xfrm>
          <a:prstGeom prst="roundRect">
            <a:avLst>
              <a:gd name="adj" fmla="val 22222"/>
            </a:avLst>
          </a:prstGeom>
          <a:solidFill>
            <a:srgbClr val="E6F5F0"/>
          </a:solidFill>
          <a:ln w="9525">
            <a:solidFill>
              <a:srgbClr val="CBE9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components-takeaway">
            <a:extLst>
              <a:ext uri="{FF2B5EF4-FFF2-40B4-BE49-F238E27FC236}">
                <a16:creationId xmlns:a16="http://schemas.microsoft.com/office/drawing/2014/main" id="{B01AA5A5-DD6B-44CC-88A5-48C86AF35BC4}"/>
              </a:ext>
            </a:extLst>
          </p:cNvPr>
          <p:cNvSpPr>
            <a:spLocks noGrp="1"/>
          </p:cNvSpPr>
          <p:nvPr/>
        </p:nvSpPr>
        <p:spPr>
          <a:xfrm>
            <a:off x="1809750" y="8648700"/>
            <a:ext cx="14287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75F4A"/>
                </a:solidFill>
              </a:defRPr>
            </a:pPr>
            <a:r>
              <a:rPr sz="1800" b="1" dirty="0">
                <a:solidFill>
                  <a:srgbClr val="075F4A"/>
                </a:solidFill>
              </a:rPr>
              <a:t>Loader, Config, Tracker, Orchestrator, Workspace, Runner</a:t>
            </a:r>
            <a:r>
              <a:rPr lang="ko-KR" altLang="en-US" b="1" dirty="0">
                <a:solidFill>
                  <a:srgbClr val="075F4A"/>
                </a:solidFill>
              </a:rPr>
              <a:t> 등 각 컴포넌트의 경계 설정이 우선</a:t>
            </a:r>
            <a:endParaRPr sz="1800" b="1" dirty="0">
              <a:solidFill>
                <a:srgbClr val="075F4A"/>
              </a:solidFill>
            </a:endParaRPr>
          </a:p>
        </p:txBody>
      </p:sp>
      <p:sp>
        <p:nvSpPr>
          <p:cNvPr id="48" name="source-rail">
            <a:extLst>
              <a:ext uri="{FF2B5EF4-FFF2-40B4-BE49-F238E27FC236}">
                <a16:creationId xmlns:a16="http://schemas.microsoft.com/office/drawing/2014/main" id="{41F04260-5A42-4DB8-AA11-A6505594231E}"/>
              </a:ext>
            </a:extLst>
          </p:cNvPr>
          <p:cNvSpPr>
            <a:spLocks noGrp="1"/>
          </p:cNvSpPr>
          <p:nvPr/>
        </p:nvSpPr>
        <p:spPr>
          <a:xfrm>
            <a:off x="1143000" y="9753600"/>
            <a:ext cx="11906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ACACBE"/>
                </a:solidFill>
              </a:defRPr>
            </a:pPr>
            <a:r>
              <a:rPr sz="1125">
                <a:solidFill>
                  <a:srgbClr val="ACACBE"/>
                </a:solidFill>
              </a:rPr>
              <a:t>Source: Symphony SPEC.md Section 3.1</a:t>
            </a:r>
          </a:p>
        </p:txBody>
      </p:sp>
      <p:sp>
        <p:nvSpPr>
          <p:cNvPr id="49" name="slide-page">
            <a:extLst>
              <a:ext uri="{FF2B5EF4-FFF2-40B4-BE49-F238E27FC236}">
                <a16:creationId xmlns:a16="http://schemas.microsoft.com/office/drawing/2014/main" id="{6E6F2E7C-7CC2-4D57-A5B2-15699A1BAC8D}"/>
              </a:ext>
            </a:extLst>
          </p:cNvPr>
          <p:cNvSpPr>
            <a:spLocks noGrp="1"/>
          </p:cNvSpPr>
          <p:nvPr/>
        </p:nvSpPr>
        <p:spPr>
          <a:xfrm>
            <a:off x="16573500" y="9753600"/>
            <a:ext cx="762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125">
                <a:solidFill>
                  <a:srgbClr val="ACACBE"/>
                </a:solidFill>
              </a:defRPr>
            </a:pPr>
            <a:r>
              <a:rPr sz="1125">
                <a:solidFill>
                  <a:srgbClr val="ACACBE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55135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lide-bg">
            <a:extLst>
              <a:ext uri="{FF2B5EF4-FFF2-40B4-BE49-F238E27FC236}">
                <a16:creationId xmlns:a16="http://schemas.microsoft.com/office/drawing/2014/main" id="{B3317806-9D56-4B52-8710-27FB4866BE23}"/>
              </a:ext>
            </a:extLst>
          </p:cNvPr>
          <p:cNvSpPr>
            <a:spLocks noGrp="1"/>
          </p:cNvSpPr>
          <p:nvPr/>
        </p:nvSpPr>
        <p:spPr>
          <a:xfrm>
            <a:off x="12192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728D4F18-42A7-44B1-8845-8A58E39614CC}"/>
              </a:ext>
            </a:extLst>
          </p:cNvPr>
          <p:cNvSpPr>
            <a:spLocks noGrp="1"/>
          </p:cNvSpPr>
          <p:nvPr/>
        </p:nvSpPr>
        <p:spPr>
          <a:xfrm>
            <a:off x="876300" y="876300"/>
            <a:ext cx="76200" cy="5334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slide-kicker">
            <a:extLst>
              <a:ext uri="{FF2B5EF4-FFF2-40B4-BE49-F238E27FC236}">
                <a16:creationId xmlns:a16="http://schemas.microsoft.com/office/drawing/2014/main" id="{9E52BF19-197F-4AFB-A678-1AF83F1B0CE7}"/>
              </a:ext>
            </a:extLst>
          </p:cNvPr>
          <p:cNvSpPr>
            <a:spLocks noGrp="1"/>
          </p:cNvSpPr>
          <p:nvPr/>
        </p:nvSpPr>
        <p:spPr>
          <a:xfrm>
            <a:off x="1143000" y="704850"/>
            <a:ext cx="1524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A37F"/>
                </a:solidFill>
              </a:defRPr>
            </a:pPr>
            <a:r>
              <a:rPr sz="1350" b="1">
                <a:solidFill>
                  <a:srgbClr val="10A37F"/>
                </a:solidFill>
              </a:rPr>
              <a:t>06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F731BF43-ADAB-44BD-8D2B-5C47C72034DD}"/>
              </a:ext>
            </a:extLst>
          </p:cNvPr>
          <p:cNvSpPr>
            <a:spLocks noGrp="1"/>
          </p:cNvSpPr>
          <p:nvPr/>
        </p:nvSpPr>
        <p:spPr>
          <a:xfrm>
            <a:off x="1143000" y="990600"/>
            <a:ext cx="11239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0D0D0D"/>
                </a:solidFill>
              </a:defRPr>
            </a:pPr>
            <a:r>
              <a:rPr sz="3300" b="1">
                <a:solidFill>
                  <a:srgbClr val="0D0D0D"/>
                </a:solidFill>
              </a:rPr>
              <a:t>추상화 레이어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E5988400-1B71-4395-B4FD-BD6954B95D73}"/>
              </a:ext>
            </a:extLst>
          </p:cNvPr>
          <p:cNvSpPr>
            <a:spLocks noGrp="1"/>
          </p:cNvSpPr>
          <p:nvPr/>
        </p:nvSpPr>
        <p:spPr>
          <a:xfrm>
            <a:off x="1143000" y="1581150"/>
            <a:ext cx="11239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E6E80"/>
                </a:solidFill>
              </a:defRPr>
            </a:pPr>
            <a:r>
              <a:rPr sz="1650" dirty="0" err="1">
                <a:solidFill>
                  <a:srgbClr val="6E6E80"/>
                </a:solidFill>
              </a:rPr>
              <a:t>역할</a:t>
            </a:r>
            <a:r>
              <a:rPr sz="1650" dirty="0">
                <a:solidFill>
                  <a:srgbClr val="6E6E80"/>
                </a:solidFill>
              </a:rPr>
              <a:t> </a:t>
            </a:r>
            <a:r>
              <a:rPr sz="1650" dirty="0" err="1">
                <a:solidFill>
                  <a:srgbClr val="6E6E80"/>
                </a:solidFill>
              </a:rPr>
              <a:t>경계를</a:t>
            </a:r>
            <a:r>
              <a:rPr sz="1650" dirty="0">
                <a:solidFill>
                  <a:srgbClr val="6E6E80"/>
                </a:solidFill>
              </a:rPr>
              <a:t> </a:t>
            </a:r>
            <a:r>
              <a:rPr sz="1650" dirty="0" err="1">
                <a:solidFill>
                  <a:srgbClr val="6E6E80"/>
                </a:solidFill>
              </a:rPr>
              <a:t>먼저</a:t>
            </a:r>
            <a:r>
              <a:rPr sz="1650" dirty="0">
                <a:solidFill>
                  <a:srgbClr val="6E6E80"/>
                </a:solidFill>
              </a:rPr>
              <a:t> </a:t>
            </a:r>
            <a:r>
              <a:rPr lang="ko-KR" altLang="en-US" sz="1650" dirty="0">
                <a:solidFill>
                  <a:srgbClr val="6E6E80"/>
                </a:solidFill>
              </a:rPr>
              <a:t>나누기</a:t>
            </a:r>
            <a:endParaRPr sz="1650" dirty="0">
              <a:solidFill>
                <a:srgbClr val="6E6E80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23E16E31-6FA3-40FE-AFA7-487ACBFF33DC}"/>
              </a:ext>
            </a:extLst>
          </p:cNvPr>
          <p:cNvSpPr>
            <a:spLocks noGrp="1"/>
          </p:cNvSpPr>
          <p:nvPr/>
        </p:nvSpPr>
        <p:spPr>
          <a:xfrm>
            <a:off x="1447800" y="2362200"/>
            <a:ext cx="12420600" cy="762000"/>
          </a:xfrm>
          <a:prstGeom prst="roundRect">
            <a:avLst>
              <a:gd name="adj" fmla="val 17500"/>
            </a:avLst>
          </a:prstGeom>
          <a:solidFill>
            <a:srgbClr val="F1FBF7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F33640D3-BDD1-467C-B3C6-37213DE3B66B}"/>
              </a:ext>
            </a:extLst>
          </p:cNvPr>
          <p:cNvSpPr>
            <a:spLocks noGrp="1"/>
          </p:cNvSpPr>
          <p:nvPr/>
        </p:nvSpPr>
        <p:spPr>
          <a:xfrm>
            <a:off x="1447800" y="2362200"/>
            <a:ext cx="76200" cy="7620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8" name="layer-no-0">
            <a:extLst>
              <a:ext uri="{FF2B5EF4-FFF2-40B4-BE49-F238E27FC236}">
                <a16:creationId xmlns:a16="http://schemas.microsoft.com/office/drawing/2014/main" id="{3F56E3B1-F995-48B4-BE01-80FFC1905E78}"/>
              </a:ext>
            </a:extLst>
          </p:cNvPr>
          <p:cNvSpPr>
            <a:spLocks noGrp="1"/>
          </p:cNvSpPr>
          <p:nvPr/>
        </p:nvSpPr>
        <p:spPr>
          <a:xfrm>
            <a:off x="1790700" y="2571750"/>
            <a:ext cx="4191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10A37F"/>
                </a:solidFill>
              </a:defRPr>
            </a:pPr>
            <a:r>
              <a:rPr sz="1800" b="1">
                <a:solidFill>
                  <a:srgbClr val="10A37F"/>
                </a:solidFill>
              </a:rPr>
              <a:t>1</a:t>
            </a:r>
          </a:p>
        </p:txBody>
      </p:sp>
      <p:sp>
        <p:nvSpPr>
          <p:cNvPr id="9" name="layer-name-0">
            <a:extLst>
              <a:ext uri="{FF2B5EF4-FFF2-40B4-BE49-F238E27FC236}">
                <a16:creationId xmlns:a16="http://schemas.microsoft.com/office/drawing/2014/main" id="{DDF1D4E0-7450-4862-9A3B-E09825252EB2}"/>
              </a:ext>
            </a:extLst>
          </p:cNvPr>
          <p:cNvSpPr>
            <a:spLocks noGrp="1"/>
          </p:cNvSpPr>
          <p:nvPr/>
        </p:nvSpPr>
        <p:spPr>
          <a:xfrm>
            <a:off x="2476500" y="2533650"/>
            <a:ext cx="31432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D0D0D"/>
                </a:solidFill>
              </a:defRPr>
            </a:pPr>
            <a:r>
              <a:rPr sz="1950" b="1">
                <a:solidFill>
                  <a:srgbClr val="0D0D0D"/>
                </a:solidFill>
              </a:rPr>
              <a:t>Policy Layer</a:t>
            </a:r>
          </a:p>
        </p:txBody>
      </p:sp>
      <p:sp>
        <p:nvSpPr>
          <p:cNvPr id="10" name="layer-comp-0">
            <a:extLst>
              <a:ext uri="{FF2B5EF4-FFF2-40B4-BE49-F238E27FC236}">
                <a16:creationId xmlns:a16="http://schemas.microsoft.com/office/drawing/2014/main" id="{7C0C2A12-020C-45CA-92B2-2EE78EE1488B}"/>
              </a:ext>
            </a:extLst>
          </p:cNvPr>
          <p:cNvSpPr>
            <a:spLocks noGrp="1"/>
          </p:cNvSpPr>
          <p:nvPr/>
        </p:nvSpPr>
        <p:spPr>
          <a:xfrm>
            <a:off x="6191250" y="2552700"/>
            <a:ext cx="2952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0A37F"/>
                </a:solidFill>
              </a:defRPr>
            </a:pPr>
            <a:r>
              <a:rPr sz="1650" b="1">
                <a:solidFill>
                  <a:srgbClr val="10A37F"/>
                </a:solidFill>
              </a:rPr>
              <a:t>WORKFLOW.md</a:t>
            </a:r>
          </a:p>
        </p:txBody>
      </p:sp>
      <p:sp>
        <p:nvSpPr>
          <p:cNvPr id="11" name="layer-desc-0">
            <a:extLst>
              <a:ext uri="{FF2B5EF4-FFF2-40B4-BE49-F238E27FC236}">
                <a16:creationId xmlns:a16="http://schemas.microsoft.com/office/drawing/2014/main" id="{710894CD-92A1-4C0E-A88C-E39A2D57E876}"/>
              </a:ext>
            </a:extLst>
          </p:cNvPr>
          <p:cNvSpPr>
            <a:spLocks noGrp="1"/>
          </p:cNvSpPr>
          <p:nvPr/>
        </p:nvSpPr>
        <p:spPr>
          <a:xfrm>
            <a:off x="9429750" y="2552700"/>
            <a:ext cx="3810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E6E80"/>
                </a:solidFill>
              </a:defRPr>
            </a:pPr>
            <a:r>
              <a:rPr sz="1500">
                <a:solidFill>
                  <a:srgbClr val="6E6E80"/>
                </a:solidFill>
              </a:rPr>
              <a:t>팀별 티켓 처리 · 검증 · 핸드오프 규칙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5C5E1F28-74C1-4F7B-AAD5-AEAB6133B189}"/>
              </a:ext>
            </a:extLst>
          </p:cNvPr>
          <p:cNvSpPr>
            <a:spLocks noGrp="1"/>
          </p:cNvSpPr>
          <p:nvPr/>
        </p:nvSpPr>
        <p:spPr>
          <a:xfrm>
            <a:off x="1447800" y="3352800"/>
            <a:ext cx="12420600" cy="762000"/>
          </a:xfrm>
          <a:prstGeom prst="roundRect">
            <a:avLst>
              <a:gd name="adj" fmla="val 17500"/>
            </a:avLst>
          </a:prstGeom>
          <a:solidFill>
            <a:srgbClr val="F1FBF7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8377A1E1-DDB9-4049-940A-83F5321D0866}"/>
              </a:ext>
            </a:extLst>
          </p:cNvPr>
          <p:cNvSpPr>
            <a:spLocks noGrp="1"/>
          </p:cNvSpPr>
          <p:nvPr/>
        </p:nvSpPr>
        <p:spPr>
          <a:xfrm>
            <a:off x="1447800" y="3352800"/>
            <a:ext cx="76200" cy="762000"/>
          </a:xfrm>
          <a:prstGeom prst="roundRect">
            <a:avLst>
              <a:gd name="adj" fmla="val 50000"/>
            </a:avLst>
          </a:prstGeom>
          <a:solidFill>
            <a:srgbClr val="19C37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4" name="layer-no-1">
            <a:extLst>
              <a:ext uri="{FF2B5EF4-FFF2-40B4-BE49-F238E27FC236}">
                <a16:creationId xmlns:a16="http://schemas.microsoft.com/office/drawing/2014/main" id="{952B45FF-07A2-484E-B563-72A1A82C7906}"/>
              </a:ext>
            </a:extLst>
          </p:cNvPr>
          <p:cNvSpPr>
            <a:spLocks noGrp="1"/>
          </p:cNvSpPr>
          <p:nvPr/>
        </p:nvSpPr>
        <p:spPr>
          <a:xfrm>
            <a:off x="1790700" y="3543300"/>
            <a:ext cx="4191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19C37D"/>
                </a:solidFill>
              </a:defRPr>
            </a:pPr>
            <a:r>
              <a:rPr sz="1800" b="1">
                <a:solidFill>
                  <a:srgbClr val="19C37D"/>
                </a:solidFill>
              </a:rPr>
              <a:t>2</a:t>
            </a:r>
          </a:p>
        </p:txBody>
      </p:sp>
      <p:sp>
        <p:nvSpPr>
          <p:cNvPr id="15" name="layer-name-1">
            <a:extLst>
              <a:ext uri="{FF2B5EF4-FFF2-40B4-BE49-F238E27FC236}">
                <a16:creationId xmlns:a16="http://schemas.microsoft.com/office/drawing/2014/main" id="{E23486DB-D2D8-48CA-80DB-1BB2A2D399A3}"/>
              </a:ext>
            </a:extLst>
          </p:cNvPr>
          <p:cNvSpPr>
            <a:spLocks noGrp="1"/>
          </p:cNvSpPr>
          <p:nvPr/>
        </p:nvSpPr>
        <p:spPr>
          <a:xfrm>
            <a:off x="2476500" y="3505200"/>
            <a:ext cx="31432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D0D0D"/>
                </a:solidFill>
              </a:defRPr>
            </a:pPr>
            <a:r>
              <a:rPr sz="1950" b="1">
                <a:solidFill>
                  <a:srgbClr val="0D0D0D"/>
                </a:solidFill>
              </a:rPr>
              <a:t>Configuration Layer</a:t>
            </a:r>
          </a:p>
        </p:txBody>
      </p:sp>
      <p:sp>
        <p:nvSpPr>
          <p:cNvPr id="16" name="layer-comp-1">
            <a:extLst>
              <a:ext uri="{FF2B5EF4-FFF2-40B4-BE49-F238E27FC236}">
                <a16:creationId xmlns:a16="http://schemas.microsoft.com/office/drawing/2014/main" id="{12C06E3A-0B2C-4D45-9A13-C85ED477452A}"/>
              </a:ext>
            </a:extLst>
          </p:cNvPr>
          <p:cNvSpPr>
            <a:spLocks noGrp="1"/>
          </p:cNvSpPr>
          <p:nvPr/>
        </p:nvSpPr>
        <p:spPr>
          <a:xfrm>
            <a:off x="6191250" y="3524250"/>
            <a:ext cx="2952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9C37D"/>
                </a:solidFill>
              </a:defRPr>
            </a:pPr>
            <a:r>
              <a:rPr sz="1650" b="1">
                <a:solidFill>
                  <a:srgbClr val="19C37D"/>
                </a:solidFill>
              </a:rPr>
              <a:t>Config Layer</a:t>
            </a:r>
          </a:p>
        </p:txBody>
      </p:sp>
      <p:sp>
        <p:nvSpPr>
          <p:cNvPr id="17" name="layer-desc-1">
            <a:extLst>
              <a:ext uri="{FF2B5EF4-FFF2-40B4-BE49-F238E27FC236}">
                <a16:creationId xmlns:a16="http://schemas.microsoft.com/office/drawing/2014/main" id="{1444BF8F-100B-4378-A9F8-3230A4D8775D}"/>
              </a:ext>
            </a:extLst>
          </p:cNvPr>
          <p:cNvSpPr>
            <a:spLocks noGrp="1"/>
          </p:cNvSpPr>
          <p:nvPr/>
        </p:nvSpPr>
        <p:spPr>
          <a:xfrm>
            <a:off x="9429750" y="3524250"/>
            <a:ext cx="3810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E6E80"/>
                </a:solidFill>
              </a:defRPr>
            </a:pPr>
            <a:r>
              <a:rPr sz="1500">
                <a:solidFill>
                  <a:srgbClr val="6E6E80"/>
                </a:solidFill>
              </a:rPr>
              <a:t>front matter → typed runtime settings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6C01A611-61D6-439D-A33F-1FC0A194E19B}"/>
              </a:ext>
            </a:extLst>
          </p:cNvPr>
          <p:cNvSpPr>
            <a:spLocks noGrp="1"/>
          </p:cNvSpPr>
          <p:nvPr/>
        </p:nvSpPr>
        <p:spPr>
          <a:xfrm>
            <a:off x="1447800" y="4343400"/>
            <a:ext cx="12420600" cy="762000"/>
          </a:xfrm>
          <a:prstGeom prst="roundRect">
            <a:avLst>
              <a:gd name="adj" fmla="val 17500"/>
            </a:avLst>
          </a:prstGeom>
          <a:solidFill>
            <a:srgbClr val="F7F7F8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A808BB13-B624-4D86-BD4D-B1E8B2BE79A5}"/>
              </a:ext>
            </a:extLst>
          </p:cNvPr>
          <p:cNvSpPr>
            <a:spLocks noGrp="1"/>
          </p:cNvSpPr>
          <p:nvPr/>
        </p:nvSpPr>
        <p:spPr>
          <a:xfrm>
            <a:off x="1447800" y="4343400"/>
            <a:ext cx="76200" cy="762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0" name="layer-no-2">
            <a:extLst>
              <a:ext uri="{FF2B5EF4-FFF2-40B4-BE49-F238E27FC236}">
                <a16:creationId xmlns:a16="http://schemas.microsoft.com/office/drawing/2014/main" id="{FA708594-DDB5-4F0C-8B60-7F35489A0B88}"/>
              </a:ext>
            </a:extLst>
          </p:cNvPr>
          <p:cNvSpPr>
            <a:spLocks noGrp="1"/>
          </p:cNvSpPr>
          <p:nvPr/>
        </p:nvSpPr>
        <p:spPr>
          <a:xfrm>
            <a:off x="1790700" y="4514850"/>
            <a:ext cx="4191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21" name="layer-name-2">
            <a:extLst>
              <a:ext uri="{FF2B5EF4-FFF2-40B4-BE49-F238E27FC236}">
                <a16:creationId xmlns:a16="http://schemas.microsoft.com/office/drawing/2014/main" id="{0D216F8B-9DE5-4CE1-A4E9-6C533F85F910}"/>
              </a:ext>
            </a:extLst>
          </p:cNvPr>
          <p:cNvSpPr>
            <a:spLocks noGrp="1"/>
          </p:cNvSpPr>
          <p:nvPr/>
        </p:nvSpPr>
        <p:spPr>
          <a:xfrm>
            <a:off x="2476500" y="4476750"/>
            <a:ext cx="31432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D0D0D"/>
                </a:solidFill>
              </a:defRPr>
            </a:pPr>
            <a:r>
              <a:rPr sz="1950" b="1">
                <a:solidFill>
                  <a:srgbClr val="0D0D0D"/>
                </a:solidFill>
              </a:rPr>
              <a:t>Coordination Layer</a:t>
            </a:r>
          </a:p>
        </p:txBody>
      </p:sp>
      <p:sp>
        <p:nvSpPr>
          <p:cNvPr id="22" name="layer-comp-2">
            <a:extLst>
              <a:ext uri="{FF2B5EF4-FFF2-40B4-BE49-F238E27FC236}">
                <a16:creationId xmlns:a16="http://schemas.microsoft.com/office/drawing/2014/main" id="{1E172773-F323-4CEB-9CC7-92D55FFC3F48}"/>
              </a:ext>
            </a:extLst>
          </p:cNvPr>
          <p:cNvSpPr>
            <a:spLocks noGrp="1"/>
          </p:cNvSpPr>
          <p:nvPr/>
        </p:nvSpPr>
        <p:spPr>
          <a:xfrm>
            <a:off x="6191250" y="4495800"/>
            <a:ext cx="2952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Orchestrator</a:t>
            </a:r>
          </a:p>
        </p:txBody>
      </p:sp>
      <p:sp>
        <p:nvSpPr>
          <p:cNvPr id="23" name="layer-desc-2">
            <a:extLst>
              <a:ext uri="{FF2B5EF4-FFF2-40B4-BE49-F238E27FC236}">
                <a16:creationId xmlns:a16="http://schemas.microsoft.com/office/drawing/2014/main" id="{83713648-7C73-4115-B353-3800915CB1EB}"/>
              </a:ext>
            </a:extLst>
          </p:cNvPr>
          <p:cNvSpPr>
            <a:spLocks noGrp="1"/>
          </p:cNvSpPr>
          <p:nvPr/>
        </p:nvSpPr>
        <p:spPr>
          <a:xfrm>
            <a:off x="9429750" y="4495800"/>
            <a:ext cx="3810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E6E80"/>
                </a:solidFill>
              </a:defRPr>
            </a:pPr>
            <a:r>
              <a:rPr sz="1500">
                <a:solidFill>
                  <a:srgbClr val="6E6E80"/>
                </a:solidFill>
              </a:rPr>
              <a:t>폴링 루프 · 동시성 · 재시도 · 리콘실리에이션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273E45C8-F1FA-4763-8EA7-7F7C7B0D012D}"/>
              </a:ext>
            </a:extLst>
          </p:cNvPr>
          <p:cNvSpPr>
            <a:spLocks noGrp="1"/>
          </p:cNvSpPr>
          <p:nvPr/>
        </p:nvSpPr>
        <p:spPr>
          <a:xfrm>
            <a:off x="1447800" y="5334000"/>
            <a:ext cx="12420600" cy="762000"/>
          </a:xfrm>
          <a:prstGeom prst="roundRect">
            <a:avLst>
              <a:gd name="adj" fmla="val 17500"/>
            </a:avLst>
          </a:prstGeom>
          <a:solidFill>
            <a:srgbClr val="F7F7F8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48DA5AD4-C626-4ACB-995A-C6903A7E892E}"/>
              </a:ext>
            </a:extLst>
          </p:cNvPr>
          <p:cNvSpPr>
            <a:spLocks noGrp="1"/>
          </p:cNvSpPr>
          <p:nvPr/>
        </p:nvSpPr>
        <p:spPr>
          <a:xfrm>
            <a:off x="1447800" y="5334000"/>
            <a:ext cx="76200" cy="7620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6" name="layer-no-3">
            <a:extLst>
              <a:ext uri="{FF2B5EF4-FFF2-40B4-BE49-F238E27FC236}">
                <a16:creationId xmlns:a16="http://schemas.microsoft.com/office/drawing/2014/main" id="{9EF06C7E-C35D-4B8D-8DD0-6C9AF6403DD3}"/>
              </a:ext>
            </a:extLst>
          </p:cNvPr>
          <p:cNvSpPr>
            <a:spLocks noGrp="1"/>
          </p:cNvSpPr>
          <p:nvPr/>
        </p:nvSpPr>
        <p:spPr>
          <a:xfrm>
            <a:off x="1790700" y="5486400"/>
            <a:ext cx="4191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4</a:t>
            </a:r>
          </a:p>
        </p:txBody>
      </p:sp>
      <p:sp>
        <p:nvSpPr>
          <p:cNvPr id="27" name="layer-name-3">
            <a:extLst>
              <a:ext uri="{FF2B5EF4-FFF2-40B4-BE49-F238E27FC236}">
                <a16:creationId xmlns:a16="http://schemas.microsoft.com/office/drawing/2014/main" id="{42A01D41-A88E-45C4-9D02-15BEB685FB28}"/>
              </a:ext>
            </a:extLst>
          </p:cNvPr>
          <p:cNvSpPr>
            <a:spLocks noGrp="1"/>
          </p:cNvSpPr>
          <p:nvPr/>
        </p:nvSpPr>
        <p:spPr>
          <a:xfrm>
            <a:off x="2476500" y="5448300"/>
            <a:ext cx="31432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D0D0D"/>
                </a:solidFill>
              </a:defRPr>
            </a:pPr>
            <a:r>
              <a:rPr sz="1950" b="1">
                <a:solidFill>
                  <a:srgbClr val="0D0D0D"/>
                </a:solidFill>
              </a:rPr>
              <a:t>Execution Layer</a:t>
            </a:r>
          </a:p>
        </p:txBody>
      </p:sp>
      <p:sp>
        <p:nvSpPr>
          <p:cNvPr id="28" name="layer-comp-3">
            <a:extLst>
              <a:ext uri="{FF2B5EF4-FFF2-40B4-BE49-F238E27FC236}">
                <a16:creationId xmlns:a16="http://schemas.microsoft.com/office/drawing/2014/main" id="{1923C309-372F-4450-870B-F993DA242DE1}"/>
              </a:ext>
            </a:extLst>
          </p:cNvPr>
          <p:cNvSpPr>
            <a:spLocks noGrp="1"/>
          </p:cNvSpPr>
          <p:nvPr/>
        </p:nvSpPr>
        <p:spPr>
          <a:xfrm>
            <a:off x="6191250" y="5467350"/>
            <a:ext cx="2952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Workspace + Runner</a:t>
            </a:r>
          </a:p>
        </p:txBody>
      </p:sp>
      <p:sp>
        <p:nvSpPr>
          <p:cNvPr id="29" name="layer-desc-3">
            <a:extLst>
              <a:ext uri="{FF2B5EF4-FFF2-40B4-BE49-F238E27FC236}">
                <a16:creationId xmlns:a16="http://schemas.microsoft.com/office/drawing/2014/main" id="{14F6F7C8-C5C7-4D0C-AD17-62A28CB9CDAA}"/>
              </a:ext>
            </a:extLst>
          </p:cNvPr>
          <p:cNvSpPr>
            <a:spLocks noGrp="1"/>
          </p:cNvSpPr>
          <p:nvPr/>
        </p:nvSpPr>
        <p:spPr>
          <a:xfrm>
            <a:off x="9429750" y="5467350"/>
            <a:ext cx="3810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E6E80"/>
                </a:solidFill>
              </a:defRPr>
            </a:pPr>
            <a:r>
              <a:rPr sz="1500">
                <a:solidFill>
                  <a:srgbClr val="6E6E80"/>
                </a:solidFill>
              </a:rPr>
              <a:t>파일시스템 생명주기 · 에이전트 프로토콜</a:t>
            </a: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012E679D-CD04-42A4-B4E7-55402C9C65E3}"/>
              </a:ext>
            </a:extLst>
          </p:cNvPr>
          <p:cNvSpPr>
            <a:spLocks noGrp="1"/>
          </p:cNvSpPr>
          <p:nvPr/>
        </p:nvSpPr>
        <p:spPr>
          <a:xfrm>
            <a:off x="1447800" y="6248400"/>
            <a:ext cx="12420600" cy="762000"/>
          </a:xfrm>
          <a:prstGeom prst="roundRect">
            <a:avLst>
              <a:gd name="adj" fmla="val 17500"/>
            </a:avLst>
          </a:prstGeom>
          <a:solidFill>
            <a:srgbClr val="FAFAFB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F661D79E-30BB-4F85-90EB-A01CCA151F0F}"/>
              </a:ext>
            </a:extLst>
          </p:cNvPr>
          <p:cNvSpPr>
            <a:spLocks noGrp="1"/>
          </p:cNvSpPr>
          <p:nvPr/>
        </p:nvSpPr>
        <p:spPr>
          <a:xfrm>
            <a:off x="1447800" y="6248400"/>
            <a:ext cx="76200" cy="7620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2" name="layer-no-4">
            <a:extLst>
              <a:ext uri="{FF2B5EF4-FFF2-40B4-BE49-F238E27FC236}">
                <a16:creationId xmlns:a16="http://schemas.microsoft.com/office/drawing/2014/main" id="{C02A1352-951A-4CB6-9F3A-0ECEA0D561DA}"/>
              </a:ext>
            </a:extLst>
          </p:cNvPr>
          <p:cNvSpPr>
            <a:spLocks noGrp="1"/>
          </p:cNvSpPr>
          <p:nvPr/>
        </p:nvSpPr>
        <p:spPr>
          <a:xfrm>
            <a:off x="1790700" y="6457950"/>
            <a:ext cx="4191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rPr sz="1800" b="1">
                <a:solidFill>
                  <a:srgbClr val="F97316"/>
                </a:solidFill>
              </a:rPr>
              <a:t>5</a:t>
            </a:r>
          </a:p>
        </p:txBody>
      </p:sp>
      <p:sp>
        <p:nvSpPr>
          <p:cNvPr id="33" name="layer-name-4">
            <a:extLst>
              <a:ext uri="{FF2B5EF4-FFF2-40B4-BE49-F238E27FC236}">
                <a16:creationId xmlns:a16="http://schemas.microsoft.com/office/drawing/2014/main" id="{98F4E2F7-6CE8-4E32-9A8D-4E7054585C39}"/>
              </a:ext>
            </a:extLst>
          </p:cNvPr>
          <p:cNvSpPr>
            <a:spLocks noGrp="1"/>
          </p:cNvSpPr>
          <p:nvPr/>
        </p:nvSpPr>
        <p:spPr>
          <a:xfrm>
            <a:off x="2476500" y="6419850"/>
            <a:ext cx="31432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D0D0D"/>
                </a:solidFill>
              </a:defRPr>
            </a:pPr>
            <a:r>
              <a:rPr sz="1950" b="1">
                <a:solidFill>
                  <a:srgbClr val="0D0D0D"/>
                </a:solidFill>
              </a:rPr>
              <a:t>Integration Layer</a:t>
            </a:r>
          </a:p>
        </p:txBody>
      </p:sp>
      <p:sp>
        <p:nvSpPr>
          <p:cNvPr id="34" name="layer-comp-4">
            <a:extLst>
              <a:ext uri="{FF2B5EF4-FFF2-40B4-BE49-F238E27FC236}">
                <a16:creationId xmlns:a16="http://schemas.microsoft.com/office/drawing/2014/main" id="{771A518E-EE02-4EEA-AB8E-A923FECC7019}"/>
              </a:ext>
            </a:extLst>
          </p:cNvPr>
          <p:cNvSpPr>
            <a:spLocks noGrp="1"/>
          </p:cNvSpPr>
          <p:nvPr/>
        </p:nvSpPr>
        <p:spPr>
          <a:xfrm>
            <a:off x="6191250" y="6438900"/>
            <a:ext cx="2952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97316"/>
                </a:solidFill>
              </a:defRPr>
            </a:pPr>
            <a:r>
              <a:rPr sz="1650" b="1">
                <a:solidFill>
                  <a:srgbClr val="F97316"/>
                </a:solidFill>
              </a:rPr>
              <a:t>Issue Tracker Client</a:t>
            </a:r>
          </a:p>
        </p:txBody>
      </p:sp>
      <p:sp>
        <p:nvSpPr>
          <p:cNvPr id="35" name="layer-desc-4">
            <a:extLst>
              <a:ext uri="{FF2B5EF4-FFF2-40B4-BE49-F238E27FC236}">
                <a16:creationId xmlns:a16="http://schemas.microsoft.com/office/drawing/2014/main" id="{805CB277-4F51-4E4D-A5FB-EC9DF6403934}"/>
              </a:ext>
            </a:extLst>
          </p:cNvPr>
          <p:cNvSpPr>
            <a:spLocks noGrp="1"/>
          </p:cNvSpPr>
          <p:nvPr/>
        </p:nvSpPr>
        <p:spPr>
          <a:xfrm>
            <a:off x="9429750" y="6438900"/>
            <a:ext cx="3810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E6E80"/>
                </a:solidFill>
              </a:defRPr>
            </a:pPr>
            <a:r>
              <a:rPr sz="1500">
                <a:solidFill>
                  <a:srgbClr val="6E6E80"/>
                </a:solidFill>
              </a:rPr>
              <a:t>API 호출 및 트래커 데이터 정규화</a:t>
            </a: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4C592632-353F-452E-AB05-18524227F0B6}"/>
              </a:ext>
            </a:extLst>
          </p:cNvPr>
          <p:cNvSpPr>
            <a:spLocks noGrp="1"/>
          </p:cNvSpPr>
          <p:nvPr/>
        </p:nvSpPr>
        <p:spPr>
          <a:xfrm>
            <a:off x="1447800" y="7239000"/>
            <a:ext cx="12420600" cy="762000"/>
          </a:xfrm>
          <a:prstGeom prst="roundRect">
            <a:avLst>
              <a:gd name="adj" fmla="val 17500"/>
            </a:avLst>
          </a:prstGeom>
          <a:solidFill>
            <a:srgbClr val="FAFAFB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06DD92A7-8883-41B1-9E45-6271943F60A5}"/>
              </a:ext>
            </a:extLst>
          </p:cNvPr>
          <p:cNvSpPr>
            <a:spLocks noGrp="1"/>
          </p:cNvSpPr>
          <p:nvPr/>
        </p:nvSpPr>
        <p:spPr>
          <a:xfrm>
            <a:off x="1447800" y="7239000"/>
            <a:ext cx="76200" cy="762000"/>
          </a:xfrm>
          <a:prstGeom prst="roundRect">
            <a:avLst>
              <a:gd name="adj" fmla="val 50000"/>
            </a:avLst>
          </a:prstGeom>
          <a:solidFill>
            <a:srgbClr val="6E6E80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8" name="layer-no-5">
            <a:extLst>
              <a:ext uri="{FF2B5EF4-FFF2-40B4-BE49-F238E27FC236}">
                <a16:creationId xmlns:a16="http://schemas.microsoft.com/office/drawing/2014/main" id="{3E95260B-F7F9-4855-8947-218456680374}"/>
              </a:ext>
            </a:extLst>
          </p:cNvPr>
          <p:cNvSpPr>
            <a:spLocks noGrp="1"/>
          </p:cNvSpPr>
          <p:nvPr/>
        </p:nvSpPr>
        <p:spPr>
          <a:xfrm>
            <a:off x="1790700" y="7429500"/>
            <a:ext cx="4191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800" b="1">
                <a:solidFill>
                  <a:srgbClr val="6E6E80"/>
                </a:solidFill>
              </a:defRPr>
            </a:pPr>
            <a:r>
              <a:rPr sz="1800" b="1">
                <a:solidFill>
                  <a:srgbClr val="6E6E80"/>
                </a:solidFill>
              </a:rPr>
              <a:t>6</a:t>
            </a:r>
          </a:p>
        </p:txBody>
      </p:sp>
      <p:sp>
        <p:nvSpPr>
          <p:cNvPr id="39" name="layer-name-5">
            <a:extLst>
              <a:ext uri="{FF2B5EF4-FFF2-40B4-BE49-F238E27FC236}">
                <a16:creationId xmlns:a16="http://schemas.microsoft.com/office/drawing/2014/main" id="{A5E1E314-D1AE-4513-BA46-4B6356ED9572}"/>
              </a:ext>
            </a:extLst>
          </p:cNvPr>
          <p:cNvSpPr>
            <a:spLocks noGrp="1"/>
          </p:cNvSpPr>
          <p:nvPr/>
        </p:nvSpPr>
        <p:spPr>
          <a:xfrm>
            <a:off x="2476500" y="7391400"/>
            <a:ext cx="31432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D0D0D"/>
                </a:solidFill>
              </a:defRPr>
            </a:pPr>
            <a:r>
              <a:rPr sz="1950" b="1">
                <a:solidFill>
                  <a:srgbClr val="0D0D0D"/>
                </a:solidFill>
              </a:rPr>
              <a:t>Observability Layer</a:t>
            </a:r>
          </a:p>
        </p:txBody>
      </p:sp>
      <p:sp>
        <p:nvSpPr>
          <p:cNvPr id="40" name="layer-comp-5">
            <a:extLst>
              <a:ext uri="{FF2B5EF4-FFF2-40B4-BE49-F238E27FC236}">
                <a16:creationId xmlns:a16="http://schemas.microsoft.com/office/drawing/2014/main" id="{B5AAD82C-8EEC-4EFB-8854-502CD5C8B6A8}"/>
              </a:ext>
            </a:extLst>
          </p:cNvPr>
          <p:cNvSpPr>
            <a:spLocks noGrp="1"/>
          </p:cNvSpPr>
          <p:nvPr/>
        </p:nvSpPr>
        <p:spPr>
          <a:xfrm>
            <a:off x="6191250" y="7410450"/>
            <a:ext cx="2952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6E6E80"/>
                </a:solidFill>
              </a:defRPr>
            </a:pPr>
            <a:r>
              <a:rPr sz="1650" b="1">
                <a:solidFill>
                  <a:srgbClr val="6E6E80"/>
                </a:solidFill>
              </a:rPr>
              <a:t>Logging + Status</a:t>
            </a:r>
          </a:p>
        </p:txBody>
      </p:sp>
      <p:sp>
        <p:nvSpPr>
          <p:cNvPr id="41" name="layer-desc-5">
            <a:extLst>
              <a:ext uri="{FF2B5EF4-FFF2-40B4-BE49-F238E27FC236}">
                <a16:creationId xmlns:a16="http://schemas.microsoft.com/office/drawing/2014/main" id="{B1F6B26F-92ED-434C-A31A-7C01295747B8}"/>
              </a:ext>
            </a:extLst>
          </p:cNvPr>
          <p:cNvSpPr>
            <a:spLocks noGrp="1"/>
          </p:cNvSpPr>
          <p:nvPr/>
        </p:nvSpPr>
        <p:spPr>
          <a:xfrm>
            <a:off x="9429750" y="7410450"/>
            <a:ext cx="3810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E6E80"/>
                </a:solidFill>
              </a:defRPr>
            </a:pPr>
            <a:r>
              <a:rPr sz="1500">
                <a:solidFill>
                  <a:srgbClr val="6E6E80"/>
                </a:solidFill>
              </a:rPr>
              <a:t>운영자 가시성</a:t>
            </a: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F69E0DC5-2B17-4CEF-AB5F-E64525CC09C9}"/>
              </a:ext>
            </a:extLst>
          </p:cNvPr>
          <p:cNvSpPr>
            <a:spLocks noGrp="1"/>
          </p:cNvSpPr>
          <p:nvPr/>
        </p:nvSpPr>
        <p:spPr>
          <a:xfrm>
            <a:off x="14249400" y="2362200"/>
            <a:ext cx="76200" cy="17526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EC56C1A7-1495-4EDC-92B1-6E5C597D8B3C}"/>
              </a:ext>
            </a:extLst>
          </p:cNvPr>
          <p:cNvSpPr>
            <a:spLocks noGrp="1"/>
          </p:cNvSpPr>
          <p:nvPr/>
        </p:nvSpPr>
        <p:spPr>
          <a:xfrm>
            <a:off x="14249400" y="236220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10E790D3-B3DF-4B7C-B648-B72C9FC8B8EB}"/>
              </a:ext>
            </a:extLst>
          </p:cNvPr>
          <p:cNvSpPr>
            <a:spLocks noGrp="1"/>
          </p:cNvSpPr>
          <p:nvPr/>
        </p:nvSpPr>
        <p:spPr>
          <a:xfrm>
            <a:off x="14249400" y="403860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5" name="user-area">
            <a:extLst>
              <a:ext uri="{FF2B5EF4-FFF2-40B4-BE49-F238E27FC236}">
                <a16:creationId xmlns:a16="http://schemas.microsoft.com/office/drawing/2014/main" id="{B4BA58CD-0EBE-469C-8DA2-9FBF2FFF3978}"/>
              </a:ext>
            </a:extLst>
          </p:cNvPr>
          <p:cNvSpPr>
            <a:spLocks noGrp="1"/>
          </p:cNvSpPr>
          <p:nvPr/>
        </p:nvSpPr>
        <p:spPr>
          <a:xfrm>
            <a:off x="15125700" y="3048000"/>
            <a:ext cx="1809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0A37F"/>
                </a:solidFill>
              </a:defRPr>
            </a:pPr>
            <a:r>
              <a:rPr sz="1650" b="1">
                <a:solidFill>
                  <a:srgbClr val="10A37F"/>
                </a:solidFill>
              </a:rPr>
              <a:t>사용자 정의 영역</a:t>
            </a: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315EDB8E-5A3F-4C92-B212-8F97C764E359}"/>
              </a:ext>
            </a:extLst>
          </p:cNvPr>
          <p:cNvSpPr>
            <a:spLocks noGrp="1"/>
          </p:cNvSpPr>
          <p:nvPr/>
        </p:nvSpPr>
        <p:spPr>
          <a:xfrm>
            <a:off x="14249400" y="4343400"/>
            <a:ext cx="76200" cy="3733800"/>
          </a:xfrm>
          <a:prstGeom prst="roundRect">
            <a:avLst>
              <a:gd name="adj" fmla="val 50000"/>
            </a:avLst>
          </a:prstGeom>
          <a:solidFill>
            <a:srgbClr val="6E6E80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65334AF2-6D20-483D-AABE-572ACDE9C1A9}"/>
              </a:ext>
            </a:extLst>
          </p:cNvPr>
          <p:cNvSpPr>
            <a:spLocks noGrp="1"/>
          </p:cNvSpPr>
          <p:nvPr/>
        </p:nvSpPr>
        <p:spPr>
          <a:xfrm>
            <a:off x="14249400" y="434340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6E6E80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6FEA30CC-EFD0-4412-86EA-7AF08E3A2741}"/>
              </a:ext>
            </a:extLst>
          </p:cNvPr>
          <p:cNvSpPr>
            <a:spLocks noGrp="1"/>
          </p:cNvSpPr>
          <p:nvPr/>
        </p:nvSpPr>
        <p:spPr>
          <a:xfrm>
            <a:off x="14249400" y="796290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6E6E80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9" name="symphony-area">
            <a:extLst>
              <a:ext uri="{FF2B5EF4-FFF2-40B4-BE49-F238E27FC236}">
                <a16:creationId xmlns:a16="http://schemas.microsoft.com/office/drawing/2014/main" id="{7492E6EE-3CA0-405E-BB68-F669E20166E3}"/>
              </a:ext>
            </a:extLst>
          </p:cNvPr>
          <p:cNvSpPr>
            <a:spLocks noGrp="1"/>
          </p:cNvSpPr>
          <p:nvPr/>
        </p:nvSpPr>
        <p:spPr>
          <a:xfrm>
            <a:off x="15125700" y="5810250"/>
            <a:ext cx="2095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6E6E80"/>
                </a:solidFill>
              </a:defRPr>
            </a:pPr>
            <a:r>
              <a:rPr sz="1650" b="1">
                <a:solidFill>
                  <a:srgbClr val="6E6E80"/>
                </a:solidFill>
              </a:rPr>
              <a:t>Symphony 처리 영역</a:t>
            </a:r>
          </a:p>
        </p:txBody>
      </p:sp>
      <p:sp>
        <p:nvSpPr>
          <p:cNvPr id="50" name="layers-quote">
            <a:extLst>
              <a:ext uri="{FF2B5EF4-FFF2-40B4-BE49-F238E27FC236}">
                <a16:creationId xmlns:a16="http://schemas.microsoft.com/office/drawing/2014/main" id="{2A039D04-C630-455D-90D0-48680A037141}"/>
              </a:ext>
            </a:extLst>
          </p:cNvPr>
          <p:cNvSpPr>
            <a:spLocks noGrp="1"/>
          </p:cNvSpPr>
          <p:nvPr/>
        </p:nvSpPr>
        <p:spPr>
          <a:xfrm>
            <a:off x="1428750" y="8648700"/>
            <a:ext cx="9334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i="1">
                <a:solidFill>
                  <a:srgbClr val="6E6E80"/>
                </a:solidFill>
              </a:defRPr>
            </a:pPr>
            <a:r>
              <a:rPr sz="1800" i="1">
                <a:solidFill>
                  <a:srgbClr val="6E6E80"/>
                </a:solidFill>
              </a:rPr>
              <a:t>"Symphony is easiest to port when kept in these layers"</a:t>
            </a:r>
          </a:p>
        </p:txBody>
      </p:sp>
      <p:sp>
        <p:nvSpPr>
          <p:cNvPr id="51" name="source-rail">
            <a:extLst>
              <a:ext uri="{FF2B5EF4-FFF2-40B4-BE49-F238E27FC236}">
                <a16:creationId xmlns:a16="http://schemas.microsoft.com/office/drawing/2014/main" id="{C0216819-3DDB-41C6-A870-09426EA302A4}"/>
              </a:ext>
            </a:extLst>
          </p:cNvPr>
          <p:cNvSpPr>
            <a:spLocks noGrp="1"/>
          </p:cNvSpPr>
          <p:nvPr/>
        </p:nvSpPr>
        <p:spPr>
          <a:xfrm>
            <a:off x="1143000" y="9753600"/>
            <a:ext cx="11906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ACACBE"/>
                </a:solidFill>
              </a:defRPr>
            </a:pPr>
            <a:r>
              <a:rPr sz="1125">
                <a:solidFill>
                  <a:srgbClr val="ACACBE"/>
                </a:solidFill>
              </a:rPr>
              <a:t>Source: Symphony SPEC.md Section 3.2</a:t>
            </a:r>
          </a:p>
        </p:txBody>
      </p:sp>
      <p:sp>
        <p:nvSpPr>
          <p:cNvPr id="52" name="slide-page">
            <a:extLst>
              <a:ext uri="{FF2B5EF4-FFF2-40B4-BE49-F238E27FC236}">
                <a16:creationId xmlns:a16="http://schemas.microsoft.com/office/drawing/2014/main" id="{011843C6-107B-41F3-BB3B-2F4F8647DC98}"/>
              </a:ext>
            </a:extLst>
          </p:cNvPr>
          <p:cNvSpPr>
            <a:spLocks noGrp="1"/>
          </p:cNvSpPr>
          <p:nvPr/>
        </p:nvSpPr>
        <p:spPr>
          <a:xfrm>
            <a:off x="16573500" y="9753600"/>
            <a:ext cx="762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125">
                <a:solidFill>
                  <a:srgbClr val="ACACBE"/>
                </a:solidFill>
              </a:defRPr>
            </a:pPr>
            <a:r>
              <a:rPr sz="1125">
                <a:solidFill>
                  <a:srgbClr val="ACACBE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55112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-bg">
            <a:extLst>
              <a:ext uri="{FF2B5EF4-FFF2-40B4-BE49-F238E27FC236}">
                <a16:creationId xmlns:a16="http://schemas.microsoft.com/office/drawing/2014/main" id="{B16E225D-E63D-4982-A4F9-42CFB3FAB4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310945C0-4196-49B7-99F6-2AD76CB4EFD8}"/>
              </a:ext>
            </a:extLst>
          </p:cNvPr>
          <p:cNvSpPr>
            <a:spLocks noGrp="1"/>
          </p:cNvSpPr>
          <p:nvPr/>
        </p:nvSpPr>
        <p:spPr>
          <a:xfrm>
            <a:off x="876300" y="876300"/>
            <a:ext cx="76200" cy="5334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slide-kicker">
            <a:extLst>
              <a:ext uri="{FF2B5EF4-FFF2-40B4-BE49-F238E27FC236}">
                <a16:creationId xmlns:a16="http://schemas.microsoft.com/office/drawing/2014/main" id="{23ABF66F-901B-41EE-A4EC-D5115301524D}"/>
              </a:ext>
            </a:extLst>
          </p:cNvPr>
          <p:cNvSpPr>
            <a:spLocks noGrp="1"/>
          </p:cNvSpPr>
          <p:nvPr/>
        </p:nvSpPr>
        <p:spPr>
          <a:xfrm>
            <a:off x="1143000" y="704850"/>
            <a:ext cx="1524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A37F"/>
                </a:solidFill>
              </a:defRPr>
            </a:pPr>
            <a:r>
              <a:rPr sz="1350" b="1">
                <a:solidFill>
                  <a:srgbClr val="10A37F"/>
                </a:solidFill>
              </a:rPr>
              <a:t>07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C61AE26E-0785-4E83-8FC3-D8244859C3D0}"/>
              </a:ext>
            </a:extLst>
          </p:cNvPr>
          <p:cNvSpPr>
            <a:spLocks noGrp="1"/>
          </p:cNvSpPr>
          <p:nvPr/>
        </p:nvSpPr>
        <p:spPr>
          <a:xfrm>
            <a:off x="1143000" y="990600"/>
            <a:ext cx="11239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0D0D0D"/>
                </a:solidFill>
              </a:defRPr>
            </a:pPr>
            <a:r>
              <a:rPr sz="3300" b="1" dirty="0" err="1">
                <a:solidFill>
                  <a:srgbClr val="0D0D0D"/>
                </a:solidFill>
              </a:rPr>
              <a:t>내가</a:t>
            </a:r>
            <a:r>
              <a:rPr sz="3300" b="1" dirty="0">
                <a:solidFill>
                  <a:srgbClr val="0D0D0D"/>
                </a:solidFill>
              </a:rPr>
              <a:t> </a:t>
            </a:r>
            <a:r>
              <a:rPr lang="en-US" altLang="ko-KR" sz="3300" b="1" dirty="0" err="1">
                <a:solidFill>
                  <a:srgbClr val="0D0D0D"/>
                </a:solidFill>
              </a:rPr>
              <a:t>Github</a:t>
            </a:r>
            <a:r>
              <a:rPr lang="ko-KR" altLang="en-US" sz="3300" b="1" dirty="0">
                <a:solidFill>
                  <a:srgbClr val="0D0D0D"/>
                </a:solidFill>
              </a:rPr>
              <a:t> </a:t>
            </a:r>
            <a:r>
              <a:rPr lang="en-US" altLang="ko-KR" sz="3300" b="1" dirty="0">
                <a:solidFill>
                  <a:srgbClr val="0D0D0D"/>
                </a:solidFill>
              </a:rPr>
              <a:t>Symphony</a:t>
            </a:r>
            <a:r>
              <a:rPr lang="ko-KR" altLang="en-US" sz="3300" b="1" dirty="0" err="1">
                <a:solidFill>
                  <a:srgbClr val="0D0D0D"/>
                </a:solidFill>
              </a:rPr>
              <a:t>를</a:t>
            </a:r>
            <a:r>
              <a:rPr lang="ko-KR" altLang="en-US" sz="3300" b="1" dirty="0">
                <a:solidFill>
                  <a:srgbClr val="0D0D0D"/>
                </a:solidFill>
              </a:rPr>
              <a:t> </a:t>
            </a:r>
            <a:r>
              <a:rPr sz="3300" b="1" dirty="0" err="1">
                <a:solidFill>
                  <a:srgbClr val="0D0D0D"/>
                </a:solidFill>
              </a:rPr>
              <a:t>개발한</a:t>
            </a:r>
            <a:r>
              <a:rPr sz="3300" b="1" dirty="0">
                <a:solidFill>
                  <a:srgbClr val="0D0D0D"/>
                </a:solidFill>
              </a:rPr>
              <a:t> </a:t>
            </a:r>
            <a:r>
              <a:rPr sz="3300" b="1" dirty="0" err="1">
                <a:solidFill>
                  <a:srgbClr val="0D0D0D"/>
                </a:solidFill>
              </a:rPr>
              <a:t>이유</a:t>
            </a:r>
            <a:endParaRPr sz="3300" b="1" dirty="0">
              <a:solidFill>
                <a:srgbClr val="0D0D0D"/>
              </a:solidFill>
            </a:endParaRP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29EC0A2F-15D3-4D0D-866E-63606317C31C}"/>
              </a:ext>
            </a:extLst>
          </p:cNvPr>
          <p:cNvSpPr>
            <a:spLocks noGrp="1"/>
          </p:cNvSpPr>
          <p:nvPr/>
        </p:nvSpPr>
        <p:spPr>
          <a:xfrm>
            <a:off x="1143000" y="1581150"/>
            <a:ext cx="11239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E6E80"/>
                </a:solidFill>
              </a:defRPr>
            </a:pPr>
            <a:r>
              <a:rPr sz="1650">
                <a:solidFill>
                  <a:srgbClr val="6E6E80"/>
                </a:solidFill>
              </a:rPr>
              <a:t>같은 SPEC.md, 다른 구현체 · 다른 플랫폼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E15653AE-78A9-4B84-9012-3CDABC38F64D}"/>
              </a:ext>
            </a:extLst>
          </p:cNvPr>
          <p:cNvSpPr>
            <a:spLocks noGrp="1"/>
          </p:cNvSpPr>
          <p:nvPr/>
        </p:nvSpPr>
        <p:spPr>
          <a:xfrm>
            <a:off x="1447800" y="2590800"/>
            <a:ext cx="7239000" cy="4953000"/>
          </a:xfrm>
          <a:prstGeom prst="roundRect">
            <a:avLst>
              <a:gd name="adj" fmla="val 4231"/>
            </a:avLst>
          </a:prstGeom>
          <a:solidFill>
            <a:srgbClr val="F5FBF8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FEBD6229-0D0C-4F2B-9B5A-495884ED6AAB}"/>
              </a:ext>
            </a:extLst>
          </p:cNvPr>
          <p:cNvSpPr>
            <a:spLocks noGrp="1"/>
          </p:cNvSpPr>
          <p:nvPr/>
        </p:nvSpPr>
        <p:spPr>
          <a:xfrm>
            <a:off x="1447800" y="2590800"/>
            <a:ext cx="7239000" cy="76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8" name="github-title">
            <a:extLst>
              <a:ext uri="{FF2B5EF4-FFF2-40B4-BE49-F238E27FC236}">
                <a16:creationId xmlns:a16="http://schemas.microsoft.com/office/drawing/2014/main" id="{A7628253-77C7-4A7F-A321-4B4F45C55E97}"/>
              </a:ext>
            </a:extLst>
          </p:cNvPr>
          <p:cNvSpPr>
            <a:spLocks noGrp="1"/>
          </p:cNvSpPr>
          <p:nvPr/>
        </p:nvSpPr>
        <p:spPr>
          <a:xfrm>
            <a:off x="1885950" y="3143250"/>
            <a:ext cx="59055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D0D0D"/>
                </a:solidFill>
              </a:defRPr>
            </a:pPr>
            <a:r>
              <a:rPr sz="2550" b="1">
                <a:solidFill>
                  <a:srgbClr val="0D0D0D"/>
                </a:solidFill>
              </a:rPr>
              <a:t>GitHub Projects가 좋다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0454A469-EF0A-4C58-8A8E-8CABCA3EA1BE}"/>
              </a:ext>
            </a:extLst>
          </p:cNvPr>
          <p:cNvSpPr>
            <a:spLocks noGrp="1"/>
          </p:cNvSpPr>
          <p:nvPr/>
        </p:nvSpPr>
        <p:spPr>
          <a:xfrm>
            <a:off x="1905000" y="42100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0" name="bullet">
            <a:extLst>
              <a:ext uri="{FF2B5EF4-FFF2-40B4-BE49-F238E27FC236}">
                <a16:creationId xmlns:a16="http://schemas.microsoft.com/office/drawing/2014/main" id="{D0967D9F-B4AF-452F-BBF7-68E6067DA080}"/>
              </a:ext>
            </a:extLst>
          </p:cNvPr>
          <p:cNvSpPr>
            <a:spLocks noGrp="1"/>
          </p:cNvSpPr>
          <p:nvPr/>
        </p:nvSpPr>
        <p:spPr>
          <a:xfrm>
            <a:off x="2133600" y="4095750"/>
            <a:ext cx="56769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D0D0D"/>
                </a:solidFill>
              </a:defRPr>
            </a:pPr>
            <a:r>
              <a:rPr sz="1800" b="0">
                <a:solidFill>
                  <a:srgbClr val="0D0D0D"/>
                </a:solidFill>
              </a:rPr>
              <a:t>코드와 PR이 이미 GitHub에 있다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1BBF1C3-EB55-4B95-85FF-CFFB55DB72BA}"/>
              </a:ext>
            </a:extLst>
          </p:cNvPr>
          <p:cNvSpPr>
            <a:spLocks noGrp="1"/>
          </p:cNvSpPr>
          <p:nvPr/>
        </p:nvSpPr>
        <p:spPr>
          <a:xfrm>
            <a:off x="1905000" y="48577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2" name="bullet">
            <a:extLst>
              <a:ext uri="{FF2B5EF4-FFF2-40B4-BE49-F238E27FC236}">
                <a16:creationId xmlns:a16="http://schemas.microsoft.com/office/drawing/2014/main" id="{7E06D933-91CF-4B4C-9863-87D02EFB0F81}"/>
              </a:ext>
            </a:extLst>
          </p:cNvPr>
          <p:cNvSpPr>
            <a:spLocks noGrp="1"/>
          </p:cNvSpPr>
          <p:nvPr/>
        </p:nvSpPr>
        <p:spPr>
          <a:xfrm>
            <a:off x="2133600" y="4743450"/>
            <a:ext cx="56769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D0D0D"/>
                </a:solidFill>
              </a:defRPr>
            </a:pPr>
            <a:r>
              <a:rPr sz="1800" b="0">
                <a:solidFill>
                  <a:srgbClr val="0D0D0D"/>
                </a:solidFill>
              </a:rPr>
              <a:t>추가 도구 없이 Projects를 작업 큐로 사용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9F108445-5A59-49CA-95DD-8CE0A207174F}"/>
              </a:ext>
            </a:extLst>
          </p:cNvPr>
          <p:cNvSpPr>
            <a:spLocks noGrp="1"/>
          </p:cNvSpPr>
          <p:nvPr/>
        </p:nvSpPr>
        <p:spPr>
          <a:xfrm>
            <a:off x="1905000" y="55054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4" name="bullet">
            <a:extLst>
              <a:ext uri="{FF2B5EF4-FFF2-40B4-BE49-F238E27FC236}">
                <a16:creationId xmlns:a16="http://schemas.microsoft.com/office/drawing/2014/main" id="{7E23CB99-DA90-4C92-BBF4-08C83D740658}"/>
              </a:ext>
            </a:extLst>
          </p:cNvPr>
          <p:cNvSpPr>
            <a:spLocks noGrp="1"/>
          </p:cNvSpPr>
          <p:nvPr/>
        </p:nvSpPr>
        <p:spPr>
          <a:xfrm>
            <a:off x="2133600" y="5391150"/>
            <a:ext cx="56769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D0D0D"/>
                </a:solidFill>
              </a:defRPr>
            </a:pPr>
            <a:r>
              <a:rPr sz="1800" b="0">
                <a:solidFill>
                  <a:srgbClr val="0D0D0D"/>
                </a:solidFill>
              </a:rPr>
              <a:t>GraphQL API가 오케스트레이터 구현에 적합</a:t>
            </a:r>
          </a:p>
        </p:txBody>
      </p:sp>
      <p:sp>
        <p:nvSpPr>
          <p:cNvPr id="15" name="gh-watermark">
            <a:extLst>
              <a:ext uri="{FF2B5EF4-FFF2-40B4-BE49-F238E27FC236}">
                <a16:creationId xmlns:a16="http://schemas.microsoft.com/office/drawing/2014/main" id="{4F651377-986B-4D75-A996-0B72FB3A1D51}"/>
              </a:ext>
            </a:extLst>
          </p:cNvPr>
          <p:cNvSpPr>
            <a:spLocks noGrp="1"/>
          </p:cNvSpPr>
          <p:nvPr/>
        </p:nvSpPr>
        <p:spPr>
          <a:xfrm>
            <a:off x="6610350" y="5810250"/>
            <a:ext cx="1428750" cy="8572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5550" b="1">
                <a:solidFill>
                  <a:srgbClr val="CFECE3"/>
                </a:solidFill>
              </a:defRPr>
            </a:pPr>
            <a:r>
              <a:rPr sz="5550" b="1">
                <a:solidFill>
                  <a:srgbClr val="CFECE3"/>
                </a:solidFill>
              </a:rPr>
              <a:t>GH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3BFAF272-CD2E-403E-BD61-A3B60E99B9BA}"/>
              </a:ext>
            </a:extLst>
          </p:cNvPr>
          <p:cNvSpPr>
            <a:spLocks noGrp="1"/>
          </p:cNvSpPr>
          <p:nvPr/>
        </p:nvSpPr>
        <p:spPr>
          <a:xfrm>
            <a:off x="9601200" y="2590800"/>
            <a:ext cx="7239000" cy="4953000"/>
          </a:xfrm>
          <a:prstGeom prst="roundRect">
            <a:avLst>
              <a:gd name="adj" fmla="val 4231"/>
            </a:avLst>
          </a:prstGeom>
          <a:solidFill>
            <a:srgbClr val="F7F8FF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42ACCDF0-FCE8-4575-8ACF-02B576D1B254}"/>
              </a:ext>
            </a:extLst>
          </p:cNvPr>
          <p:cNvSpPr>
            <a:spLocks noGrp="1"/>
          </p:cNvSpPr>
          <p:nvPr/>
        </p:nvSpPr>
        <p:spPr>
          <a:xfrm>
            <a:off x="9601200" y="2590800"/>
            <a:ext cx="72390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8" name="ts-title">
            <a:extLst>
              <a:ext uri="{FF2B5EF4-FFF2-40B4-BE49-F238E27FC236}">
                <a16:creationId xmlns:a16="http://schemas.microsoft.com/office/drawing/2014/main" id="{736533B7-4778-4BC3-8292-CED9E7E82948}"/>
              </a:ext>
            </a:extLst>
          </p:cNvPr>
          <p:cNvSpPr>
            <a:spLocks noGrp="1"/>
          </p:cNvSpPr>
          <p:nvPr/>
        </p:nvSpPr>
        <p:spPr>
          <a:xfrm>
            <a:off x="10077450" y="3143250"/>
            <a:ext cx="59055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D0D0D"/>
                </a:solidFill>
              </a:defRPr>
            </a:pPr>
            <a:r>
              <a:rPr sz="2550" b="1">
                <a:solidFill>
                  <a:srgbClr val="0D0D0D"/>
                </a:solidFill>
              </a:rPr>
              <a:t>Elixir 모른다 → TypeScript로 하자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A69544E6-F0FD-4C20-8C9D-097CA2BCC065}"/>
              </a:ext>
            </a:extLst>
          </p:cNvPr>
          <p:cNvSpPr>
            <a:spLocks noGrp="1"/>
          </p:cNvSpPr>
          <p:nvPr/>
        </p:nvSpPr>
        <p:spPr>
          <a:xfrm>
            <a:off x="10096500" y="42100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0" name="bullet">
            <a:extLst>
              <a:ext uri="{FF2B5EF4-FFF2-40B4-BE49-F238E27FC236}">
                <a16:creationId xmlns:a16="http://schemas.microsoft.com/office/drawing/2014/main" id="{07802D1A-213E-4183-A501-1690C2F2896E}"/>
              </a:ext>
            </a:extLst>
          </p:cNvPr>
          <p:cNvSpPr>
            <a:spLocks noGrp="1"/>
          </p:cNvSpPr>
          <p:nvPr/>
        </p:nvSpPr>
        <p:spPr>
          <a:xfrm>
            <a:off x="10325100" y="4095750"/>
            <a:ext cx="56769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D0D0D"/>
                </a:solidFill>
              </a:defRPr>
            </a:pPr>
            <a:r>
              <a:rPr sz="1800" b="0">
                <a:solidFill>
                  <a:srgbClr val="0D0D0D"/>
                </a:solidFill>
              </a:rPr>
              <a:t>레퍼런스 구현은 Elixir / GenServer 패턴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882AFA98-C0DC-41BC-8B79-7F968111929C}"/>
              </a:ext>
            </a:extLst>
          </p:cNvPr>
          <p:cNvSpPr>
            <a:spLocks noGrp="1"/>
          </p:cNvSpPr>
          <p:nvPr/>
        </p:nvSpPr>
        <p:spPr>
          <a:xfrm>
            <a:off x="10096500" y="48577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2" name="bullet">
            <a:extLst>
              <a:ext uri="{FF2B5EF4-FFF2-40B4-BE49-F238E27FC236}">
                <a16:creationId xmlns:a16="http://schemas.microsoft.com/office/drawing/2014/main" id="{55E90EA0-92A1-4D34-A627-21681CA6B1F5}"/>
              </a:ext>
            </a:extLst>
          </p:cNvPr>
          <p:cNvSpPr>
            <a:spLocks noGrp="1"/>
          </p:cNvSpPr>
          <p:nvPr/>
        </p:nvSpPr>
        <p:spPr>
          <a:xfrm>
            <a:off x="10325100" y="4743450"/>
            <a:ext cx="56769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D0D0D"/>
                </a:solidFill>
              </a:defRPr>
            </a:pPr>
            <a:r>
              <a:rPr sz="1800" b="0">
                <a:solidFill>
                  <a:srgbClr val="0D0D0D"/>
                </a:solidFill>
              </a:rPr>
              <a:t>TypeScript는 진입장벽이 낮고 생태계가 넓다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0350EA5B-58AB-4CCD-B8E5-7D788A2B869D}"/>
              </a:ext>
            </a:extLst>
          </p:cNvPr>
          <p:cNvSpPr>
            <a:spLocks noGrp="1"/>
          </p:cNvSpPr>
          <p:nvPr/>
        </p:nvSpPr>
        <p:spPr>
          <a:xfrm>
            <a:off x="10096500" y="55054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4" name="bullet">
            <a:extLst>
              <a:ext uri="{FF2B5EF4-FFF2-40B4-BE49-F238E27FC236}">
                <a16:creationId xmlns:a16="http://schemas.microsoft.com/office/drawing/2014/main" id="{646F266C-3ECA-463F-BCBA-C71ADAAD73D1}"/>
              </a:ext>
            </a:extLst>
          </p:cNvPr>
          <p:cNvSpPr>
            <a:spLocks noGrp="1"/>
          </p:cNvSpPr>
          <p:nvPr/>
        </p:nvSpPr>
        <p:spPr>
          <a:xfrm>
            <a:off x="10325100" y="5391150"/>
            <a:ext cx="56769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D0D0D"/>
                </a:solidFill>
              </a:defRPr>
            </a:pPr>
            <a:r>
              <a:rPr sz="1800" b="0">
                <a:solidFill>
                  <a:srgbClr val="0D0D0D"/>
                </a:solidFill>
              </a:rPr>
              <a:t>Octokit과 GitHub REST/GraphQL 생태계 활용</a:t>
            </a:r>
          </a:p>
        </p:txBody>
      </p:sp>
      <p:sp>
        <p:nvSpPr>
          <p:cNvPr id="25" name="ts-watermark">
            <a:extLst>
              <a:ext uri="{FF2B5EF4-FFF2-40B4-BE49-F238E27FC236}">
                <a16:creationId xmlns:a16="http://schemas.microsoft.com/office/drawing/2014/main" id="{39EBED7D-8B86-49A9-8CFB-290ED7DD9841}"/>
              </a:ext>
            </a:extLst>
          </p:cNvPr>
          <p:cNvSpPr>
            <a:spLocks noGrp="1"/>
          </p:cNvSpPr>
          <p:nvPr/>
        </p:nvSpPr>
        <p:spPr>
          <a:xfrm>
            <a:off x="14801850" y="5810250"/>
            <a:ext cx="1428750" cy="8572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5550" b="1">
                <a:solidFill>
                  <a:srgbClr val="D9E4FF"/>
                </a:solidFill>
              </a:defRPr>
            </a:pPr>
            <a:r>
              <a:rPr sz="5550" b="1">
                <a:solidFill>
                  <a:srgbClr val="D9E4FF"/>
                </a:solidFill>
              </a:rPr>
              <a:t>TS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A4E6F84-9947-4553-AAA6-4577A38A4F5F}"/>
              </a:ext>
            </a:extLst>
          </p:cNvPr>
          <p:cNvSpPr>
            <a:spLocks noGrp="1"/>
          </p:cNvSpPr>
          <p:nvPr/>
        </p:nvSpPr>
        <p:spPr>
          <a:xfrm>
            <a:off x="2971800" y="8229600"/>
            <a:ext cx="12420600" cy="9525"/>
          </a:xfrm>
          <a:prstGeom prst="rect">
            <a:avLst/>
          </a:prstGeom>
          <a:solidFill>
            <a:srgbClr val="E5E5EA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7" name="motivation-takeaway">
            <a:extLst>
              <a:ext uri="{FF2B5EF4-FFF2-40B4-BE49-F238E27FC236}">
                <a16:creationId xmlns:a16="http://schemas.microsoft.com/office/drawing/2014/main" id="{D1F65327-BC4F-4C1E-9A70-E495E1FAC062}"/>
              </a:ext>
            </a:extLst>
          </p:cNvPr>
          <p:cNvSpPr>
            <a:spLocks noGrp="1"/>
          </p:cNvSpPr>
          <p:nvPr/>
        </p:nvSpPr>
        <p:spPr>
          <a:xfrm>
            <a:off x="3905250" y="8572500"/>
            <a:ext cx="10477500" cy="342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250" b="1" i="1">
                <a:solidFill>
                  <a:srgbClr val="0D0D0D"/>
                </a:solidFill>
              </a:defRPr>
            </a:pPr>
            <a:r>
              <a:rPr sz="2250" b="1" i="1">
                <a:solidFill>
                  <a:srgbClr val="0D0D0D"/>
                </a:solidFill>
              </a:rPr>
              <a:t>SPEC을 지키면 구현 언어와 트래커는 바뀔 수 있다.</a:t>
            </a:r>
          </a:p>
        </p:txBody>
      </p:sp>
      <p:sp>
        <p:nvSpPr>
          <p:cNvPr id="28" name="source-rail">
            <a:extLst>
              <a:ext uri="{FF2B5EF4-FFF2-40B4-BE49-F238E27FC236}">
                <a16:creationId xmlns:a16="http://schemas.microsoft.com/office/drawing/2014/main" id="{D6C9E43F-DF89-4708-A692-ED040075F3B9}"/>
              </a:ext>
            </a:extLst>
          </p:cNvPr>
          <p:cNvSpPr>
            <a:spLocks noGrp="1"/>
          </p:cNvSpPr>
          <p:nvPr/>
        </p:nvSpPr>
        <p:spPr>
          <a:xfrm>
            <a:off x="1143000" y="9753600"/>
            <a:ext cx="11906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ACACBE"/>
                </a:solidFill>
              </a:defRPr>
            </a:pPr>
            <a:r>
              <a:rPr sz="1125">
                <a:solidFill>
                  <a:srgbClr val="ACACBE"/>
                </a:solidFill>
              </a:rPr>
              <a:t>github-symphony · SPEC.md</a:t>
            </a:r>
          </a:p>
        </p:txBody>
      </p:sp>
      <p:sp>
        <p:nvSpPr>
          <p:cNvPr id="29" name="slide-page">
            <a:extLst>
              <a:ext uri="{FF2B5EF4-FFF2-40B4-BE49-F238E27FC236}">
                <a16:creationId xmlns:a16="http://schemas.microsoft.com/office/drawing/2014/main" id="{83D02A47-8640-4226-876B-564D879B5CDF}"/>
              </a:ext>
            </a:extLst>
          </p:cNvPr>
          <p:cNvSpPr>
            <a:spLocks noGrp="1"/>
          </p:cNvSpPr>
          <p:nvPr/>
        </p:nvSpPr>
        <p:spPr>
          <a:xfrm>
            <a:off x="16573500" y="9753600"/>
            <a:ext cx="762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125">
                <a:solidFill>
                  <a:srgbClr val="ACACBE"/>
                </a:solidFill>
              </a:defRPr>
            </a:pPr>
            <a:r>
              <a:rPr sz="1125">
                <a:solidFill>
                  <a:srgbClr val="ACACBE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98922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-bg">
            <a:extLst>
              <a:ext uri="{FF2B5EF4-FFF2-40B4-BE49-F238E27FC236}">
                <a16:creationId xmlns:a16="http://schemas.microsoft.com/office/drawing/2014/main" id="{6E86A03D-5F38-42B4-8FC1-CED12FE723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862C92D4-917B-404F-8E2E-BF0AB02DEF0F}"/>
              </a:ext>
            </a:extLst>
          </p:cNvPr>
          <p:cNvSpPr>
            <a:spLocks noGrp="1"/>
          </p:cNvSpPr>
          <p:nvPr/>
        </p:nvSpPr>
        <p:spPr>
          <a:xfrm>
            <a:off x="876300" y="876300"/>
            <a:ext cx="76200" cy="5334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slide-kicker">
            <a:extLst>
              <a:ext uri="{FF2B5EF4-FFF2-40B4-BE49-F238E27FC236}">
                <a16:creationId xmlns:a16="http://schemas.microsoft.com/office/drawing/2014/main" id="{E3E360EB-3E65-42B2-A11D-AF8A06E34D08}"/>
              </a:ext>
            </a:extLst>
          </p:cNvPr>
          <p:cNvSpPr>
            <a:spLocks noGrp="1"/>
          </p:cNvSpPr>
          <p:nvPr/>
        </p:nvSpPr>
        <p:spPr>
          <a:xfrm>
            <a:off x="1143000" y="704850"/>
            <a:ext cx="1524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A37F"/>
                </a:solidFill>
              </a:defRPr>
            </a:pPr>
            <a:r>
              <a:rPr sz="1350" b="1">
                <a:solidFill>
                  <a:srgbClr val="10A37F"/>
                </a:solidFill>
              </a:rPr>
              <a:t>08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7BFCC562-CBD3-40EB-AE4F-39D22B4BFC29}"/>
              </a:ext>
            </a:extLst>
          </p:cNvPr>
          <p:cNvSpPr>
            <a:spLocks noGrp="1"/>
          </p:cNvSpPr>
          <p:nvPr/>
        </p:nvSpPr>
        <p:spPr>
          <a:xfrm>
            <a:off x="1143000" y="990600"/>
            <a:ext cx="11239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0D0D0D"/>
                </a:solidFill>
              </a:defRPr>
            </a:pPr>
            <a:r>
              <a:rPr sz="3300" b="1">
                <a:solidFill>
                  <a:srgbClr val="0D0D0D"/>
                </a:solidFill>
              </a:rPr>
              <a:t>시행착오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9665C338-4417-4096-AF7F-081A3D6DCB77}"/>
              </a:ext>
            </a:extLst>
          </p:cNvPr>
          <p:cNvSpPr>
            <a:spLocks noGrp="1"/>
          </p:cNvSpPr>
          <p:nvPr/>
        </p:nvSpPr>
        <p:spPr>
          <a:xfrm>
            <a:off x="1143000" y="1581150"/>
            <a:ext cx="11239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E6E80"/>
                </a:solidFill>
              </a:defRPr>
            </a:pPr>
            <a:r>
              <a:rPr sz="1650">
                <a:solidFill>
                  <a:srgbClr val="6E6E80"/>
                </a:solidFill>
              </a:rPr>
              <a:t>SPEC을 정독하지 않았다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845E8713-E9BD-4D91-9363-D542CD0DF2A8}"/>
              </a:ext>
            </a:extLst>
          </p:cNvPr>
          <p:cNvSpPr>
            <a:spLocks noGrp="1"/>
          </p:cNvSpPr>
          <p:nvPr/>
        </p:nvSpPr>
        <p:spPr>
          <a:xfrm>
            <a:off x="1447800" y="2362200"/>
            <a:ext cx="15468600" cy="1143000"/>
          </a:xfrm>
          <a:prstGeom prst="roundRect">
            <a:avLst>
              <a:gd name="adj" fmla="val 15000"/>
            </a:avLst>
          </a:prstGeom>
          <a:solidFill>
            <a:srgbClr val="FFF6F5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D07FB4BF-542C-49F9-9CDA-247D6927B3A2}"/>
              </a:ext>
            </a:extLst>
          </p:cNvPr>
          <p:cNvSpPr>
            <a:spLocks noGrp="1"/>
          </p:cNvSpPr>
          <p:nvPr/>
        </p:nvSpPr>
        <p:spPr>
          <a:xfrm>
            <a:off x="1447800" y="2362200"/>
            <a:ext cx="76200" cy="1143000"/>
          </a:xfrm>
          <a:prstGeom prst="roundRect">
            <a:avLst>
              <a:gd name="adj" fmla="val 50000"/>
            </a:avLst>
          </a:prstGeom>
          <a:solidFill>
            <a:srgbClr val="E53935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8" name="mistake-quote">
            <a:extLst>
              <a:ext uri="{FF2B5EF4-FFF2-40B4-BE49-F238E27FC236}">
                <a16:creationId xmlns:a16="http://schemas.microsoft.com/office/drawing/2014/main" id="{507D51BB-908A-4FB8-A4AF-B96D9487C329}"/>
              </a:ext>
            </a:extLst>
          </p:cNvPr>
          <p:cNvSpPr>
            <a:spLocks noGrp="1"/>
          </p:cNvSpPr>
          <p:nvPr/>
        </p:nvSpPr>
        <p:spPr>
          <a:xfrm>
            <a:off x="1962150" y="2667000"/>
            <a:ext cx="99060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 i="1">
                <a:solidFill>
                  <a:srgbClr val="0D0D0D"/>
                </a:solidFill>
              </a:defRPr>
            </a:pPr>
            <a:r>
              <a:rPr sz="2550" b="1" i="1">
                <a:solidFill>
                  <a:srgbClr val="0D0D0D"/>
                </a:solidFill>
              </a:rPr>
              <a:t>"SPEC.md를 처음부터 정독했어야 했다"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22A0A7AB-61A0-4C85-886B-69A45AFCA771}"/>
              </a:ext>
            </a:extLst>
          </p:cNvPr>
          <p:cNvSpPr>
            <a:spLocks noGrp="1"/>
          </p:cNvSpPr>
          <p:nvPr/>
        </p:nvSpPr>
        <p:spPr>
          <a:xfrm>
            <a:off x="1447800" y="4191000"/>
            <a:ext cx="7239000" cy="2971800"/>
          </a:xfrm>
          <a:prstGeom prst="roundRect">
            <a:avLst>
              <a:gd name="adj" fmla="val 6410"/>
            </a:avLst>
          </a:prstGeom>
          <a:solidFill>
            <a:srgbClr val="F7F7F8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20F4A2E-BE39-4661-BDCB-1A88E0C03E70}"/>
              </a:ext>
            </a:extLst>
          </p:cNvPr>
          <p:cNvSpPr>
            <a:spLocks noGrp="1"/>
          </p:cNvSpPr>
          <p:nvPr/>
        </p:nvSpPr>
        <p:spPr>
          <a:xfrm>
            <a:off x="1447800" y="4191000"/>
            <a:ext cx="7239000" cy="76200"/>
          </a:xfrm>
          <a:prstGeom prst="roundRect">
            <a:avLst>
              <a:gd name="adj" fmla="val 50000"/>
            </a:avLst>
          </a:prstGeom>
          <a:solidFill>
            <a:srgbClr val="E53935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1" name="mistake1-label">
            <a:extLst>
              <a:ext uri="{FF2B5EF4-FFF2-40B4-BE49-F238E27FC236}">
                <a16:creationId xmlns:a16="http://schemas.microsoft.com/office/drawing/2014/main" id="{A6C9EF9E-8D92-4E16-8DE0-1B1787527472}"/>
              </a:ext>
            </a:extLst>
          </p:cNvPr>
          <p:cNvSpPr>
            <a:spLocks noGrp="1"/>
          </p:cNvSpPr>
          <p:nvPr/>
        </p:nvSpPr>
        <p:spPr>
          <a:xfrm>
            <a:off x="1885950" y="4629150"/>
            <a:ext cx="1143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E53935"/>
                </a:solidFill>
              </a:defRPr>
            </a:pPr>
            <a:r>
              <a:rPr sz="1500" b="1">
                <a:solidFill>
                  <a:srgbClr val="E53935"/>
                </a:solidFill>
              </a:rPr>
              <a:t>실수 1</a:t>
            </a:r>
          </a:p>
        </p:txBody>
      </p:sp>
      <p:sp>
        <p:nvSpPr>
          <p:cNvPr id="12" name="mistake1-title">
            <a:extLst>
              <a:ext uri="{FF2B5EF4-FFF2-40B4-BE49-F238E27FC236}">
                <a16:creationId xmlns:a16="http://schemas.microsoft.com/office/drawing/2014/main" id="{84FB288E-C943-4440-A5E4-5CB98544358F}"/>
              </a:ext>
            </a:extLst>
          </p:cNvPr>
          <p:cNvSpPr>
            <a:spLocks noGrp="1"/>
          </p:cNvSpPr>
          <p:nvPr/>
        </p:nvSpPr>
        <p:spPr>
          <a:xfrm>
            <a:off x="1885950" y="5029200"/>
            <a:ext cx="5715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0D0D0D"/>
                </a:solidFill>
              </a:defRPr>
            </a:pPr>
            <a:r>
              <a:rPr sz="2250" b="1">
                <a:solidFill>
                  <a:srgbClr val="0D0D0D"/>
                </a:solidFill>
              </a:rPr>
              <a:t>Agent가 오케스트레이터인 줄 알았다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56451575-3E8C-4B2C-A88A-2B2F0684A3DA}"/>
              </a:ext>
            </a:extLst>
          </p:cNvPr>
          <p:cNvSpPr>
            <a:spLocks noGrp="1"/>
          </p:cNvSpPr>
          <p:nvPr/>
        </p:nvSpPr>
        <p:spPr>
          <a:xfrm>
            <a:off x="1905000" y="59055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53935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4" name="bullet">
            <a:extLst>
              <a:ext uri="{FF2B5EF4-FFF2-40B4-BE49-F238E27FC236}">
                <a16:creationId xmlns:a16="http://schemas.microsoft.com/office/drawing/2014/main" id="{F658DEC7-2B11-43D8-AA1C-EB0AC3CC4CCF}"/>
              </a:ext>
            </a:extLst>
          </p:cNvPr>
          <p:cNvSpPr>
            <a:spLocks noGrp="1"/>
          </p:cNvSpPr>
          <p:nvPr/>
        </p:nvSpPr>
        <p:spPr>
          <a:xfrm>
            <a:off x="2133600" y="5791200"/>
            <a:ext cx="5676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0D0D0D"/>
                </a:solidFill>
              </a:defRPr>
            </a:pPr>
            <a:r>
              <a:rPr sz="1650" b="0">
                <a:solidFill>
                  <a:srgbClr val="0D0D0D"/>
                </a:solidFill>
              </a:rPr>
              <a:t>SPEC을 끝까지 읽지 않고 구현 시작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B89EF50F-ACE2-4997-9C96-1B3A7AD85A26}"/>
              </a:ext>
            </a:extLst>
          </p:cNvPr>
          <p:cNvSpPr>
            <a:spLocks noGrp="1"/>
          </p:cNvSpPr>
          <p:nvPr/>
        </p:nvSpPr>
        <p:spPr>
          <a:xfrm>
            <a:off x="1905000" y="64579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53935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6" name="bullet">
            <a:extLst>
              <a:ext uri="{FF2B5EF4-FFF2-40B4-BE49-F238E27FC236}">
                <a16:creationId xmlns:a16="http://schemas.microsoft.com/office/drawing/2014/main" id="{63FC8FC2-0518-49DC-B29F-2549D0FA80EE}"/>
              </a:ext>
            </a:extLst>
          </p:cNvPr>
          <p:cNvSpPr>
            <a:spLocks noGrp="1"/>
          </p:cNvSpPr>
          <p:nvPr/>
        </p:nvSpPr>
        <p:spPr>
          <a:xfrm>
            <a:off x="2133600" y="6343650"/>
            <a:ext cx="5676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0D0D0D"/>
                </a:solidFill>
              </a:defRPr>
            </a:pPr>
            <a:r>
              <a:rPr sz="1650" b="0">
                <a:solidFill>
                  <a:srgbClr val="0D0D0D"/>
                </a:solidFill>
              </a:rPr>
              <a:t>Agent 자체가 orchestration 역할을 맡는 설계로 흐름이 꼬임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162120B4-188A-4796-85FC-601F471F6581}"/>
              </a:ext>
            </a:extLst>
          </p:cNvPr>
          <p:cNvSpPr>
            <a:spLocks noGrp="1"/>
          </p:cNvSpPr>
          <p:nvPr/>
        </p:nvSpPr>
        <p:spPr>
          <a:xfrm>
            <a:off x="9601200" y="4191000"/>
            <a:ext cx="7239000" cy="2971800"/>
          </a:xfrm>
          <a:prstGeom prst="roundRect">
            <a:avLst>
              <a:gd name="adj" fmla="val 6410"/>
            </a:avLst>
          </a:prstGeom>
          <a:solidFill>
            <a:srgbClr val="F7F7F8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C9F63F64-3EB9-4A03-A99E-5FF60D4CFC89}"/>
              </a:ext>
            </a:extLst>
          </p:cNvPr>
          <p:cNvSpPr>
            <a:spLocks noGrp="1"/>
          </p:cNvSpPr>
          <p:nvPr/>
        </p:nvSpPr>
        <p:spPr>
          <a:xfrm>
            <a:off x="9601200" y="4191000"/>
            <a:ext cx="7239000" cy="76200"/>
          </a:xfrm>
          <a:prstGeom prst="roundRect">
            <a:avLst>
              <a:gd name="adj" fmla="val 50000"/>
            </a:avLst>
          </a:prstGeom>
          <a:solidFill>
            <a:srgbClr val="E6A817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9" name="mistake2-label">
            <a:extLst>
              <a:ext uri="{FF2B5EF4-FFF2-40B4-BE49-F238E27FC236}">
                <a16:creationId xmlns:a16="http://schemas.microsoft.com/office/drawing/2014/main" id="{132EB637-7231-4B70-99C4-E869090F490E}"/>
              </a:ext>
            </a:extLst>
          </p:cNvPr>
          <p:cNvSpPr>
            <a:spLocks noGrp="1"/>
          </p:cNvSpPr>
          <p:nvPr/>
        </p:nvSpPr>
        <p:spPr>
          <a:xfrm>
            <a:off x="10077450" y="4629150"/>
            <a:ext cx="1143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E6A817"/>
                </a:solidFill>
              </a:defRPr>
            </a:pPr>
            <a:r>
              <a:rPr sz="1500" b="1">
                <a:solidFill>
                  <a:srgbClr val="E6A817"/>
                </a:solidFill>
              </a:rPr>
              <a:t>실수 2</a:t>
            </a:r>
          </a:p>
        </p:txBody>
      </p:sp>
      <p:sp>
        <p:nvSpPr>
          <p:cNvPr id="20" name="mistake2-title">
            <a:extLst>
              <a:ext uri="{FF2B5EF4-FFF2-40B4-BE49-F238E27FC236}">
                <a16:creationId xmlns:a16="http://schemas.microsoft.com/office/drawing/2014/main" id="{9AA631B5-6B09-4D71-83B2-AA0880294891}"/>
              </a:ext>
            </a:extLst>
          </p:cNvPr>
          <p:cNvSpPr>
            <a:spLocks noGrp="1"/>
          </p:cNvSpPr>
          <p:nvPr/>
        </p:nvSpPr>
        <p:spPr>
          <a:xfrm>
            <a:off x="10077450" y="5029200"/>
            <a:ext cx="5715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0D0D0D"/>
                </a:solidFill>
              </a:defRPr>
            </a:pPr>
            <a:r>
              <a:rPr sz="2250" b="1">
                <a:solidFill>
                  <a:srgbClr val="0D0D0D"/>
                </a:solidFill>
              </a:rPr>
              <a:t>Web Dashboard까지 붙이며 크게 시작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38A1C7B2-BA8F-4D90-A024-0C374F82A570}"/>
              </a:ext>
            </a:extLst>
          </p:cNvPr>
          <p:cNvSpPr>
            <a:spLocks noGrp="1"/>
          </p:cNvSpPr>
          <p:nvPr/>
        </p:nvSpPr>
        <p:spPr>
          <a:xfrm>
            <a:off x="10096500" y="59055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6A817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2" name="bullet">
            <a:extLst>
              <a:ext uri="{FF2B5EF4-FFF2-40B4-BE49-F238E27FC236}">
                <a16:creationId xmlns:a16="http://schemas.microsoft.com/office/drawing/2014/main" id="{4525E203-92FE-4088-A928-5BE44E70EF48}"/>
              </a:ext>
            </a:extLst>
          </p:cNvPr>
          <p:cNvSpPr>
            <a:spLocks noGrp="1"/>
          </p:cNvSpPr>
          <p:nvPr/>
        </p:nvSpPr>
        <p:spPr>
          <a:xfrm>
            <a:off x="10325100" y="5791200"/>
            <a:ext cx="5676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0D0D0D"/>
                </a:solidFill>
              </a:defRPr>
            </a:pPr>
            <a:r>
              <a:rPr sz="1650" b="0">
                <a:solidFill>
                  <a:srgbClr val="0D0D0D"/>
                </a:solidFill>
              </a:rPr>
              <a:t>처음부터 UI, 모니터링, 운영 뷰까지 붙이려 함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B0F624F3-18F2-4BCD-930A-EEAEBF53402C}"/>
              </a:ext>
            </a:extLst>
          </p:cNvPr>
          <p:cNvSpPr>
            <a:spLocks noGrp="1"/>
          </p:cNvSpPr>
          <p:nvPr/>
        </p:nvSpPr>
        <p:spPr>
          <a:xfrm>
            <a:off x="10096500" y="64579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E6A817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4" name="bullet">
            <a:extLst>
              <a:ext uri="{FF2B5EF4-FFF2-40B4-BE49-F238E27FC236}">
                <a16:creationId xmlns:a16="http://schemas.microsoft.com/office/drawing/2014/main" id="{AE066B3F-B19D-417C-8DD6-D7A57BBD4313}"/>
              </a:ext>
            </a:extLst>
          </p:cNvPr>
          <p:cNvSpPr>
            <a:spLocks noGrp="1"/>
          </p:cNvSpPr>
          <p:nvPr/>
        </p:nvSpPr>
        <p:spPr>
          <a:xfrm>
            <a:off x="10325100" y="6343650"/>
            <a:ext cx="5676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0D0D0D"/>
                </a:solidFill>
              </a:defRPr>
            </a:pPr>
            <a:r>
              <a:rPr sz="1650" b="0">
                <a:solidFill>
                  <a:srgbClr val="0D0D0D"/>
                </a:solidFill>
              </a:rPr>
              <a:t>MVP보다 큰 설계로 시간을 쓰고 여러 번 다시 만듦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8E1F0990-3620-4533-A308-85CBCEC93CEC}"/>
              </a:ext>
            </a:extLst>
          </p:cNvPr>
          <p:cNvSpPr>
            <a:spLocks noGrp="1"/>
          </p:cNvSpPr>
          <p:nvPr/>
        </p:nvSpPr>
        <p:spPr>
          <a:xfrm>
            <a:off x="1447800" y="8001000"/>
            <a:ext cx="15468600" cy="838200"/>
          </a:xfrm>
          <a:prstGeom prst="roundRect">
            <a:avLst>
              <a:gd name="adj" fmla="val 20455"/>
            </a:avLst>
          </a:prstGeom>
          <a:solidFill>
            <a:srgbClr val="FFF9E8"/>
          </a:solidFill>
          <a:ln w="9525">
            <a:solidFill>
              <a:srgbClr val="F1D7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lesson">
            <a:extLst>
              <a:ext uri="{FF2B5EF4-FFF2-40B4-BE49-F238E27FC236}">
                <a16:creationId xmlns:a16="http://schemas.microsoft.com/office/drawing/2014/main" id="{8CC68D29-CE6C-4C2A-A7CC-E0453FC68455}"/>
              </a:ext>
            </a:extLst>
          </p:cNvPr>
          <p:cNvSpPr>
            <a:spLocks noGrp="1"/>
          </p:cNvSpPr>
          <p:nvPr/>
        </p:nvSpPr>
        <p:spPr>
          <a:xfrm>
            <a:off x="1866900" y="8229600"/>
            <a:ext cx="121920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7A5200"/>
                </a:solidFill>
              </a:defRPr>
            </a:pPr>
            <a:r>
              <a:rPr sz="2100" b="1">
                <a:solidFill>
                  <a:srgbClr val="7A5200"/>
                </a:solidFill>
              </a:rPr>
              <a:t>교훈: Orchestrator ≠ Agent. 결국 SPEC이 설계의 전부였다.</a:t>
            </a:r>
          </a:p>
        </p:txBody>
      </p:sp>
      <p:sp>
        <p:nvSpPr>
          <p:cNvPr id="27" name="source-rail">
            <a:extLst>
              <a:ext uri="{FF2B5EF4-FFF2-40B4-BE49-F238E27FC236}">
                <a16:creationId xmlns:a16="http://schemas.microsoft.com/office/drawing/2014/main" id="{A31D8254-7734-43D5-A80B-D6FD5C2CA903}"/>
              </a:ext>
            </a:extLst>
          </p:cNvPr>
          <p:cNvSpPr>
            <a:spLocks noGrp="1"/>
          </p:cNvSpPr>
          <p:nvPr/>
        </p:nvSpPr>
        <p:spPr>
          <a:xfrm>
            <a:off x="1143000" y="9753600"/>
            <a:ext cx="11906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ACACBE"/>
                </a:solidFill>
              </a:defRPr>
            </a:pPr>
            <a:r>
              <a:rPr sz="1125">
                <a:solidFill>
                  <a:srgbClr val="ACACBE"/>
                </a:solidFill>
              </a:rPr>
              <a:t>github-symphony · SPEC.md</a:t>
            </a:r>
          </a:p>
        </p:txBody>
      </p:sp>
      <p:sp>
        <p:nvSpPr>
          <p:cNvPr id="28" name="slide-page">
            <a:extLst>
              <a:ext uri="{FF2B5EF4-FFF2-40B4-BE49-F238E27FC236}">
                <a16:creationId xmlns:a16="http://schemas.microsoft.com/office/drawing/2014/main" id="{340EC146-A253-427E-B745-73F376C3521E}"/>
              </a:ext>
            </a:extLst>
          </p:cNvPr>
          <p:cNvSpPr>
            <a:spLocks noGrp="1"/>
          </p:cNvSpPr>
          <p:nvPr/>
        </p:nvSpPr>
        <p:spPr>
          <a:xfrm>
            <a:off x="16573500" y="9753600"/>
            <a:ext cx="762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125">
                <a:solidFill>
                  <a:srgbClr val="ACACBE"/>
                </a:solidFill>
              </a:defRPr>
            </a:pPr>
            <a:r>
              <a:rPr sz="1125">
                <a:solidFill>
                  <a:srgbClr val="ACACBE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25805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-bg">
            <a:extLst>
              <a:ext uri="{FF2B5EF4-FFF2-40B4-BE49-F238E27FC236}">
                <a16:creationId xmlns:a16="http://schemas.microsoft.com/office/drawing/2014/main" id="{88F37D4B-377D-4071-8F8A-F1E3FA167DB2}"/>
              </a:ext>
            </a:extLst>
          </p:cNvPr>
          <p:cNvSpPr>
            <a:spLocks noGrp="1"/>
          </p:cNvSpPr>
          <p:nvPr/>
        </p:nvSpPr>
        <p:spPr>
          <a:xfrm>
            <a:off x="0" y="3810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585EEB24-05D8-4C65-BE19-E760F8E555E5}"/>
              </a:ext>
            </a:extLst>
          </p:cNvPr>
          <p:cNvSpPr>
            <a:spLocks noGrp="1"/>
          </p:cNvSpPr>
          <p:nvPr/>
        </p:nvSpPr>
        <p:spPr>
          <a:xfrm>
            <a:off x="876300" y="876300"/>
            <a:ext cx="76200" cy="5334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slide-kicker">
            <a:extLst>
              <a:ext uri="{FF2B5EF4-FFF2-40B4-BE49-F238E27FC236}">
                <a16:creationId xmlns:a16="http://schemas.microsoft.com/office/drawing/2014/main" id="{86BA39B8-167F-4E19-889D-72D07FB2BB28}"/>
              </a:ext>
            </a:extLst>
          </p:cNvPr>
          <p:cNvSpPr>
            <a:spLocks noGrp="1"/>
          </p:cNvSpPr>
          <p:nvPr/>
        </p:nvSpPr>
        <p:spPr>
          <a:xfrm>
            <a:off x="1143000" y="704850"/>
            <a:ext cx="1524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A37F"/>
                </a:solidFill>
              </a:defRPr>
            </a:pPr>
            <a:r>
              <a:rPr sz="1350" b="1">
                <a:solidFill>
                  <a:srgbClr val="10A37F"/>
                </a:solidFill>
              </a:rPr>
              <a:t>09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DA08282C-6569-401B-9E24-7347861F67E4}"/>
              </a:ext>
            </a:extLst>
          </p:cNvPr>
          <p:cNvSpPr>
            <a:spLocks noGrp="1"/>
          </p:cNvSpPr>
          <p:nvPr/>
        </p:nvSpPr>
        <p:spPr>
          <a:xfrm>
            <a:off x="1143000" y="990600"/>
            <a:ext cx="11239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0D0D0D"/>
                </a:solidFill>
              </a:defRPr>
            </a:pPr>
            <a:r>
              <a:rPr sz="3300" b="1" dirty="0" err="1">
                <a:solidFill>
                  <a:srgbClr val="0D0D0D"/>
                </a:solidFill>
              </a:rPr>
              <a:t>openai</a:t>
            </a:r>
            <a:r>
              <a:rPr sz="3300" b="1" dirty="0">
                <a:solidFill>
                  <a:srgbClr val="0D0D0D"/>
                </a:solidFill>
              </a:rPr>
              <a:t>-symphony</a:t>
            </a:r>
            <a:r>
              <a:rPr lang="ko-KR" altLang="en-US" sz="3300" b="1" dirty="0">
                <a:solidFill>
                  <a:srgbClr val="0D0D0D"/>
                </a:solidFill>
              </a:rPr>
              <a:t> </a:t>
            </a:r>
            <a:r>
              <a:rPr lang="en-US" altLang="ko-KR" sz="3300" b="1" dirty="0">
                <a:solidFill>
                  <a:srgbClr val="0D0D0D"/>
                </a:solidFill>
              </a:rPr>
              <a:t>vs </a:t>
            </a:r>
            <a:r>
              <a:rPr lang="en" altLang="ko-KR" sz="3300" b="1" dirty="0" err="1">
                <a:solidFill>
                  <a:srgbClr val="0D0D0D"/>
                </a:solidFill>
              </a:rPr>
              <a:t>github</a:t>
            </a:r>
            <a:r>
              <a:rPr lang="en" altLang="ko-KR" sz="3300" b="1" dirty="0">
                <a:solidFill>
                  <a:srgbClr val="0D0D0D"/>
                </a:solidFill>
              </a:rPr>
              <a:t>-symphony</a:t>
            </a:r>
            <a:endParaRPr sz="3300" b="1" dirty="0">
              <a:solidFill>
                <a:srgbClr val="0D0D0D"/>
              </a:solidFill>
            </a:endParaRP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94331C3D-6A3D-4E02-B03B-259C934FD1AE}"/>
              </a:ext>
            </a:extLst>
          </p:cNvPr>
          <p:cNvSpPr>
            <a:spLocks noGrp="1"/>
          </p:cNvSpPr>
          <p:nvPr/>
        </p:nvSpPr>
        <p:spPr>
          <a:xfrm>
            <a:off x="1143000" y="1581150"/>
            <a:ext cx="11239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E6E80"/>
                </a:solidFill>
              </a:defRPr>
            </a:pPr>
            <a:r>
              <a:rPr sz="1650">
                <a:solidFill>
                  <a:srgbClr val="6E6E80"/>
                </a:solidFill>
              </a:rPr>
              <a:t>같은 SPEC, 다른 구현체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AECBEE8F-05FB-4F58-9C5B-C7924FC7FC07}"/>
              </a:ext>
            </a:extLst>
          </p:cNvPr>
          <p:cNvSpPr>
            <a:spLocks noGrp="1"/>
          </p:cNvSpPr>
          <p:nvPr/>
        </p:nvSpPr>
        <p:spPr>
          <a:xfrm>
            <a:off x="1447800" y="2514600"/>
            <a:ext cx="3429000" cy="914400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compare-0-0">
            <a:extLst>
              <a:ext uri="{FF2B5EF4-FFF2-40B4-BE49-F238E27FC236}">
                <a16:creationId xmlns:a16="http://schemas.microsoft.com/office/drawing/2014/main" id="{168B79AC-3D3E-476E-8C48-A13C25EB53C6}"/>
              </a:ext>
            </a:extLst>
          </p:cNvPr>
          <p:cNvSpPr>
            <a:spLocks noGrp="1"/>
          </p:cNvSpPr>
          <p:nvPr/>
        </p:nvSpPr>
        <p:spPr>
          <a:xfrm>
            <a:off x="1657350" y="2743200"/>
            <a:ext cx="2971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항목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E23D57AC-E095-46AD-9AC2-BA2360EA028B}"/>
              </a:ext>
            </a:extLst>
          </p:cNvPr>
          <p:cNvSpPr>
            <a:spLocks noGrp="1"/>
          </p:cNvSpPr>
          <p:nvPr/>
        </p:nvSpPr>
        <p:spPr>
          <a:xfrm>
            <a:off x="4876800" y="2514600"/>
            <a:ext cx="5334000" cy="914400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compare-0-1">
            <a:extLst>
              <a:ext uri="{FF2B5EF4-FFF2-40B4-BE49-F238E27FC236}">
                <a16:creationId xmlns:a16="http://schemas.microsoft.com/office/drawing/2014/main" id="{81BD5C77-9A37-4874-8B39-68D1142C9C33}"/>
              </a:ext>
            </a:extLst>
          </p:cNvPr>
          <p:cNvSpPr>
            <a:spLocks noGrp="1"/>
          </p:cNvSpPr>
          <p:nvPr/>
        </p:nvSpPr>
        <p:spPr>
          <a:xfrm>
            <a:off x="5086350" y="2743200"/>
            <a:ext cx="4876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openai-symphony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59DD532A-998C-482A-B01C-33D905B2311D}"/>
              </a:ext>
            </a:extLst>
          </p:cNvPr>
          <p:cNvSpPr>
            <a:spLocks noGrp="1"/>
          </p:cNvSpPr>
          <p:nvPr/>
        </p:nvSpPr>
        <p:spPr>
          <a:xfrm>
            <a:off x="10210800" y="2514600"/>
            <a:ext cx="6705600" cy="914400"/>
          </a:xfrm>
          <a:prstGeom prst="roundRect">
            <a:avLst>
              <a:gd name="adj" fmla="val 8333"/>
            </a:avLst>
          </a:prstGeom>
          <a:solidFill>
            <a:srgbClr val="10A37F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compare-0-2">
            <a:extLst>
              <a:ext uri="{FF2B5EF4-FFF2-40B4-BE49-F238E27FC236}">
                <a16:creationId xmlns:a16="http://schemas.microsoft.com/office/drawing/2014/main" id="{460C91C0-D15C-4A12-9DC9-AABF530CE29A}"/>
              </a:ext>
            </a:extLst>
          </p:cNvPr>
          <p:cNvSpPr>
            <a:spLocks noGrp="1"/>
          </p:cNvSpPr>
          <p:nvPr/>
        </p:nvSpPr>
        <p:spPr>
          <a:xfrm>
            <a:off x="10420350" y="2743200"/>
            <a:ext cx="6210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github-symphony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6BD34F-CE0B-413D-85DD-EE1697473D85}"/>
              </a:ext>
            </a:extLst>
          </p:cNvPr>
          <p:cNvSpPr>
            <a:spLocks noGrp="1"/>
          </p:cNvSpPr>
          <p:nvPr/>
        </p:nvSpPr>
        <p:spPr>
          <a:xfrm>
            <a:off x="1447800" y="3352800"/>
            <a:ext cx="3429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compare-1-0">
            <a:extLst>
              <a:ext uri="{FF2B5EF4-FFF2-40B4-BE49-F238E27FC236}">
                <a16:creationId xmlns:a16="http://schemas.microsoft.com/office/drawing/2014/main" id="{A9014EB9-0845-4F68-97D7-427FEC5730D7}"/>
              </a:ext>
            </a:extLst>
          </p:cNvPr>
          <p:cNvSpPr>
            <a:spLocks noGrp="1"/>
          </p:cNvSpPr>
          <p:nvPr/>
        </p:nvSpPr>
        <p:spPr>
          <a:xfrm>
            <a:off x="1657350" y="3619500"/>
            <a:ext cx="2971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6E6E80"/>
                </a:solidFill>
              </a:defRPr>
            </a:pPr>
            <a:r>
              <a:rPr sz="1725" b="1">
                <a:solidFill>
                  <a:srgbClr val="6E6E80"/>
                </a:solidFill>
              </a:rPr>
              <a:t>언어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FBAB2D4-67D5-4F08-908E-BF8F476E28F2}"/>
              </a:ext>
            </a:extLst>
          </p:cNvPr>
          <p:cNvSpPr>
            <a:spLocks noGrp="1"/>
          </p:cNvSpPr>
          <p:nvPr/>
        </p:nvSpPr>
        <p:spPr>
          <a:xfrm>
            <a:off x="4876800" y="3352800"/>
            <a:ext cx="5334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compare-1-1">
            <a:extLst>
              <a:ext uri="{FF2B5EF4-FFF2-40B4-BE49-F238E27FC236}">
                <a16:creationId xmlns:a16="http://schemas.microsoft.com/office/drawing/2014/main" id="{9D22B831-9C03-47E2-AF4C-9A5D0A5BB7D0}"/>
              </a:ext>
            </a:extLst>
          </p:cNvPr>
          <p:cNvSpPr>
            <a:spLocks noGrp="1"/>
          </p:cNvSpPr>
          <p:nvPr/>
        </p:nvSpPr>
        <p:spPr>
          <a:xfrm>
            <a:off x="5086350" y="3619500"/>
            <a:ext cx="4876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0D0D0D"/>
                </a:solidFill>
              </a:defRPr>
            </a:pPr>
            <a:r>
              <a:rPr sz="1725" b="0">
                <a:solidFill>
                  <a:srgbClr val="0D0D0D"/>
                </a:solidFill>
              </a:rPr>
              <a:t>Elixir (GenServer)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9442E8E-FC25-4136-807F-FDACBCFEC349}"/>
              </a:ext>
            </a:extLst>
          </p:cNvPr>
          <p:cNvSpPr>
            <a:spLocks noGrp="1"/>
          </p:cNvSpPr>
          <p:nvPr/>
        </p:nvSpPr>
        <p:spPr>
          <a:xfrm>
            <a:off x="10210800" y="3352800"/>
            <a:ext cx="6705600" cy="914400"/>
          </a:xfrm>
          <a:prstGeom prst="rect">
            <a:avLst/>
          </a:prstGeom>
          <a:solidFill>
            <a:srgbClr val="F1FBF7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compare-1-2">
            <a:extLst>
              <a:ext uri="{FF2B5EF4-FFF2-40B4-BE49-F238E27FC236}">
                <a16:creationId xmlns:a16="http://schemas.microsoft.com/office/drawing/2014/main" id="{1092617A-AC7A-498C-964C-D66AF5083E35}"/>
              </a:ext>
            </a:extLst>
          </p:cNvPr>
          <p:cNvSpPr>
            <a:spLocks noGrp="1"/>
          </p:cNvSpPr>
          <p:nvPr/>
        </p:nvSpPr>
        <p:spPr>
          <a:xfrm>
            <a:off x="10420350" y="3619500"/>
            <a:ext cx="6210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075F4A"/>
                </a:solidFill>
              </a:defRPr>
            </a:pPr>
            <a:r>
              <a:rPr sz="1725" b="1">
                <a:solidFill>
                  <a:srgbClr val="075F4A"/>
                </a:solidFill>
              </a:rPr>
              <a:t>TypeScript (Node.js)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AE56F1E-757E-449F-9C06-5335B9A7A135}"/>
              </a:ext>
            </a:extLst>
          </p:cNvPr>
          <p:cNvSpPr>
            <a:spLocks noGrp="1"/>
          </p:cNvSpPr>
          <p:nvPr/>
        </p:nvSpPr>
        <p:spPr>
          <a:xfrm>
            <a:off x="1447800" y="4267200"/>
            <a:ext cx="3429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compare-2-0">
            <a:extLst>
              <a:ext uri="{FF2B5EF4-FFF2-40B4-BE49-F238E27FC236}">
                <a16:creationId xmlns:a16="http://schemas.microsoft.com/office/drawing/2014/main" id="{35AF41CF-0F19-47B9-BAC7-5523D471DB62}"/>
              </a:ext>
            </a:extLst>
          </p:cNvPr>
          <p:cNvSpPr>
            <a:spLocks noGrp="1"/>
          </p:cNvSpPr>
          <p:nvPr/>
        </p:nvSpPr>
        <p:spPr>
          <a:xfrm>
            <a:off x="1657350" y="4495800"/>
            <a:ext cx="2971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6E6E80"/>
                </a:solidFill>
              </a:defRPr>
            </a:pPr>
            <a:r>
              <a:rPr sz="1725" b="1">
                <a:solidFill>
                  <a:srgbClr val="6E6E80"/>
                </a:solidFill>
              </a:rPr>
              <a:t>Issue Tracker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D96876D-1C55-4BD5-AD14-86752416DB8C}"/>
              </a:ext>
            </a:extLst>
          </p:cNvPr>
          <p:cNvSpPr>
            <a:spLocks noGrp="1"/>
          </p:cNvSpPr>
          <p:nvPr/>
        </p:nvSpPr>
        <p:spPr>
          <a:xfrm>
            <a:off x="4876800" y="4267200"/>
            <a:ext cx="5334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compare-2-1">
            <a:extLst>
              <a:ext uri="{FF2B5EF4-FFF2-40B4-BE49-F238E27FC236}">
                <a16:creationId xmlns:a16="http://schemas.microsoft.com/office/drawing/2014/main" id="{09604964-9458-4608-BCA9-5EA0BF67490A}"/>
              </a:ext>
            </a:extLst>
          </p:cNvPr>
          <p:cNvSpPr>
            <a:spLocks noGrp="1"/>
          </p:cNvSpPr>
          <p:nvPr/>
        </p:nvSpPr>
        <p:spPr>
          <a:xfrm>
            <a:off x="5086350" y="4495800"/>
            <a:ext cx="4876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0D0D0D"/>
                </a:solidFill>
              </a:defRPr>
            </a:pPr>
            <a:r>
              <a:rPr sz="1725" b="0">
                <a:solidFill>
                  <a:srgbClr val="0D0D0D"/>
                </a:solidFill>
              </a:rPr>
              <a:t>Linear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495161B-8E67-47A6-9373-CD00070D8AE0}"/>
              </a:ext>
            </a:extLst>
          </p:cNvPr>
          <p:cNvSpPr>
            <a:spLocks noGrp="1"/>
          </p:cNvSpPr>
          <p:nvPr/>
        </p:nvSpPr>
        <p:spPr>
          <a:xfrm>
            <a:off x="10210800" y="4267200"/>
            <a:ext cx="6705600" cy="914400"/>
          </a:xfrm>
          <a:prstGeom prst="rect">
            <a:avLst/>
          </a:prstGeom>
          <a:solidFill>
            <a:srgbClr val="F1FBF7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compare-2-2">
            <a:extLst>
              <a:ext uri="{FF2B5EF4-FFF2-40B4-BE49-F238E27FC236}">
                <a16:creationId xmlns:a16="http://schemas.microsoft.com/office/drawing/2014/main" id="{43670E17-1585-4A9D-8F33-14FB6756AD11}"/>
              </a:ext>
            </a:extLst>
          </p:cNvPr>
          <p:cNvSpPr>
            <a:spLocks noGrp="1"/>
          </p:cNvSpPr>
          <p:nvPr/>
        </p:nvSpPr>
        <p:spPr>
          <a:xfrm>
            <a:off x="10420350" y="4495800"/>
            <a:ext cx="6210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075F4A"/>
                </a:solidFill>
              </a:defRPr>
            </a:pPr>
            <a:r>
              <a:rPr sz="1725" b="1">
                <a:solidFill>
                  <a:srgbClr val="075F4A"/>
                </a:solidFill>
              </a:rPr>
              <a:t>GitHub Projects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A4B5029-E240-4434-AF45-D45CC597F55B}"/>
              </a:ext>
            </a:extLst>
          </p:cNvPr>
          <p:cNvSpPr>
            <a:spLocks noGrp="1"/>
          </p:cNvSpPr>
          <p:nvPr/>
        </p:nvSpPr>
        <p:spPr>
          <a:xfrm>
            <a:off x="1447800" y="5105400"/>
            <a:ext cx="3429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compare-3-0">
            <a:extLst>
              <a:ext uri="{FF2B5EF4-FFF2-40B4-BE49-F238E27FC236}">
                <a16:creationId xmlns:a16="http://schemas.microsoft.com/office/drawing/2014/main" id="{F0CBE03F-3D34-41FA-880C-D6F471F3C39D}"/>
              </a:ext>
            </a:extLst>
          </p:cNvPr>
          <p:cNvSpPr>
            <a:spLocks noGrp="1"/>
          </p:cNvSpPr>
          <p:nvPr/>
        </p:nvSpPr>
        <p:spPr>
          <a:xfrm>
            <a:off x="1657350" y="5372100"/>
            <a:ext cx="2971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6E6E80"/>
                </a:solidFill>
              </a:defRPr>
            </a:pPr>
            <a:r>
              <a:rPr sz="1725" b="1">
                <a:solidFill>
                  <a:srgbClr val="6E6E80"/>
                </a:solidFill>
              </a:rPr>
              <a:t>에이전트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95B850B-3CD6-47BD-8FCB-B4C421E556CB}"/>
              </a:ext>
            </a:extLst>
          </p:cNvPr>
          <p:cNvSpPr>
            <a:spLocks noGrp="1"/>
          </p:cNvSpPr>
          <p:nvPr/>
        </p:nvSpPr>
        <p:spPr>
          <a:xfrm>
            <a:off x="4876800" y="5105400"/>
            <a:ext cx="5334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compare-3-1">
            <a:extLst>
              <a:ext uri="{FF2B5EF4-FFF2-40B4-BE49-F238E27FC236}">
                <a16:creationId xmlns:a16="http://schemas.microsoft.com/office/drawing/2014/main" id="{77819E40-AF03-4175-AD1A-2AD2F37C67EB}"/>
              </a:ext>
            </a:extLst>
          </p:cNvPr>
          <p:cNvSpPr>
            <a:spLocks noGrp="1"/>
          </p:cNvSpPr>
          <p:nvPr/>
        </p:nvSpPr>
        <p:spPr>
          <a:xfrm>
            <a:off x="5086350" y="5372100"/>
            <a:ext cx="4876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0D0D0D"/>
                </a:solidFill>
              </a:defRPr>
            </a:pPr>
            <a:r>
              <a:rPr sz="1725" b="0">
                <a:solidFill>
                  <a:srgbClr val="0D0D0D"/>
                </a:solidFill>
              </a:rPr>
              <a:t>Codex / Kata CLI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41F7B91-3AD2-4DA6-9FFB-F21312CCFDE3}"/>
              </a:ext>
            </a:extLst>
          </p:cNvPr>
          <p:cNvSpPr>
            <a:spLocks noGrp="1"/>
          </p:cNvSpPr>
          <p:nvPr/>
        </p:nvSpPr>
        <p:spPr>
          <a:xfrm>
            <a:off x="10210800" y="5105400"/>
            <a:ext cx="6705600" cy="914400"/>
          </a:xfrm>
          <a:prstGeom prst="rect">
            <a:avLst/>
          </a:prstGeom>
          <a:solidFill>
            <a:srgbClr val="F1FBF7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compare-3-2">
            <a:extLst>
              <a:ext uri="{FF2B5EF4-FFF2-40B4-BE49-F238E27FC236}">
                <a16:creationId xmlns:a16="http://schemas.microsoft.com/office/drawing/2014/main" id="{998AC073-B800-4500-B0E9-BB56790C8995}"/>
              </a:ext>
            </a:extLst>
          </p:cNvPr>
          <p:cNvSpPr>
            <a:spLocks noGrp="1"/>
          </p:cNvSpPr>
          <p:nvPr/>
        </p:nvSpPr>
        <p:spPr>
          <a:xfrm>
            <a:off x="10420350" y="5372100"/>
            <a:ext cx="6210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075F4A"/>
                </a:solidFill>
              </a:defRPr>
            </a:pPr>
            <a:r>
              <a:rPr sz="1725" b="1">
                <a:solidFill>
                  <a:srgbClr val="075F4A"/>
                </a:solidFill>
              </a:rPr>
              <a:t>Claude Code 등 설정 가능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14E965C-EC37-4B58-ADCA-BD7D2BDCD744}"/>
              </a:ext>
            </a:extLst>
          </p:cNvPr>
          <p:cNvSpPr>
            <a:spLocks noGrp="1"/>
          </p:cNvSpPr>
          <p:nvPr/>
        </p:nvSpPr>
        <p:spPr>
          <a:xfrm>
            <a:off x="10210800" y="2514600"/>
            <a:ext cx="6705600" cy="3505200"/>
          </a:xfrm>
          <a:prstGeom prst="rect">
            <a:avLst/>
          </a:prstGeom>
          <a:noFill/>
          <a:ln w="28575">
            <a:solidFill>
              <a:srgbClr val="10A37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compare-takeaway">
            <a:extLst>
              <a:ext uri="{FF2B5EF4-FFF2-40B4-BE49-F238E27FC236}">
                <a16:creationId xmlns:a16="http://schemas.microsoft.com/office/drawing/2014/main" id="{EED9F7B9-CEC1-4706-9D4E-1D13BA280B55}"/>
              </a:ext>
            </a:extLst>
          </p:cNvPr>
          <p:cNvSpPr>
            <a:spLocks noGrp="1"/>
          </p:cNvSpPr>
          <p:nvPr/>
        </p:nvSpPr>
        <p:spPr>
          <a:xfrm>
            <a:off x="1409700" y="7677150"/>
            <a:ext cx="142875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D0D0D"/>
                </a:solidFill>
              </a:defRPr>
            </a:pPr>
            <a:r>
              <a:rPr sz="1950" b="1" dirty="0" err="1">
                <a:solidFill>
                  <a:srgbClr val="0D0D0D"/>
                </a:solidFill>
              </a:rPr>
              <a:t>차별점은</a:t>
            </a:r>
            <a:r>
              <a:rPr sz="1950" b="1" dirty="0">
                <a:solidFill>
                  <a:srgbClr val="0D0D0D"/>
                </a:solidFill>
              </a:rPr>
              <a:t> “GitHub </a:t>
            </a:r>
            <a:r>
              <a:rPr sz="1950" b="1" dirty="0" err="1">
                <a:solidFill>
                  <a:srgbClr val="0D0D0D"/>
                </a:solidFill>
              </a:rPr>
              <a:t>Projects를</a:t>
            </a:r>
            <a:r>
              <a:rPr sz="1950" b="1" dirty="0">
                <a:solidFill>
                  <a:srgbClr val="0D0D0D"/>
                </a:solidFill>
              </a:rPr>
              <a:t> control </a:t>
            </a:r>
            <a:r>
              <a:rPr sz="1950" b="1" dirty="0" err="1">
                <a:solidFill>
                  <a:srgbClr val="0D0D0D"/>
                </a:solidFill>
              </a:rPr>
              <a:t>plane으로</a:t>
            </a:r>
            <a:r>
              <a:rPr sz="1950" b="1" dirty="0">
                <a:solidFill>
                  <a:srgbClr val="0D0D0D"/>
                </a:solidFill>
              </a:rPr>
              <a:t> </a:t>
            </a:r>
            <a:r>
              <a:rPr sz="1950" b="1" dirty="0" err="1">
                <a:solidFill>
                  <a:srgbClr val="0D0D0D"/>
                </a:solidFill>
              </a:rPr>
              <a:t>쓴다”와</a:t>
            </a:r>
            <a:r>
              <a:rPr sz="1950" b="1" dirty="0">
                <a:solidFill>
                  <a:srgbClr val="0D0D0D"/>
                </a:solidFill>
              </a:rPr>
              <a:t> “TypeScript </a:t>
            </a:r>
            <a:r>
              <a:rPr sz="1950" b="1" dirty="0" err="1">
                <a:solidFill>
                  <a:srgbClr val="0D0D0D"/>
                </a:solidFill>
              </a:rPr>
              <a:t>생태계로</a:t>
            </a:r>
            <a:r>
              <a:rPr sz="1950" b="1" dirty="0">
                <a:solidFill>
                  <a:srgbClr val="0D0D0D"/>
                </a:solidFill>
              </a:rPr>
              <a:t> </a:t>
            </a:r>
            <a:r>
              <a:rPr sz="1950" b="1" dirty="0" err="1">
                <a:solidFill>
                  <a:srgbClr val="0D0D0D"/>
                </a:solidFill>
              </a:rPr>
              <a:t>옮겼다”에</a:t>
            </a:r>
            <a:r>
              <a:rPr sz="1950" b="1" dirty="0">
                <a:solidFill>
                  <a:srgbClr val="0D0D0D"/>
                </a:solidFill>
              </a:rPr>
              <a:t> </a:t>
            </a:r>
            <a:r>
              <a:rPr sz="1950" b="1" dirty="0" err="1">
                <a:solidFill>
                  <a:srgbClr val="0D0D0D"/>
                </a:solidFill>
              </a:rPr>
              <a:t>있다</a:t>
            </a:r>
            <a:r>
              <a:rPr sz="1950" b="1" dirty="0">
                <a:solidFill>
                  <a:srgbClr val="0D0D0D"/>
                </a:solidFill>
              </a:rPr>
              <a:t>.</a:t>
            </a:r>
          </a:p>
        </p:txBody>
      </p:sp>
      <p:sp>
        <p:nvSpPr>
          <p:cNvPr id="32" name="source-rail">
            <a:extLst>
              <a:ext uri="{FF2B5EF4-FFF2-40B4-BE49-F238E27FC236}">
                <a16:creationId xmlns:a16="http://schemas.microsoft.com/office/drawing/2014/main" id="{C25DD080-B859-411E-8BF6-78092D8266B3}"/>
              </a:ext>
            </a:extLst>
          </p:cNvPr>
          <p:cNvSpPr>
            <a:spLocks noGrp="1"/>
          </p:cNvSpPr>
          <p:nvPr/>
        </p:nvSpPr>
        <p:spPr>
          <a:xfrm>
            <a:off x="1143000" y="9753600"/>
            <a:ext cx="11906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ACACBE"/>
                </a:solidFill>
              </a:defRPr>
            </a:pPr>
            <a:r>
              <a:rPr sz="1125">
                <a:solidFill>
                  <a:srgbClr val="ACACBE"/>
                </a:solidFill>
              </a:rPr>
              <a:t>github-symphony · SPEC.md</a:t>
            </a:r>
          </a:p>
        </p:txBody>
      </p:sp>
      <p:sp>
        <p:nvSpPr>
          <p:cNvPr id="33" name="slide-page">
            <a:extLst>
              <a:ext uri="{FF2B5EF4-FFF2-40B4-BE49-F238E27FC236}">
                <a16:creationId xmlns:a16="http://schemas.microsoft.com/office/drawing/2014/main" id="{3A0F7A26-8D72-46DE-A835-415538A318FA}"/>
              </a:ext>
            </a:extLst>
          </p:cNvPr>
          <p:cNvSpPr>
            <a:spLocks noGrp="1"/>
          </p:cNvSpPr>
          <p:nvPr/>
        </p:nvSpPr>
        <p:spPr>
          <a:xfrm>
            <a:off x="16573500" y="9753600"/>
            <a:ext cx="762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125">
                <a:solidFill>
                  <a:srgbClr val="ACACBE"/>
                </a:solidFill>
              </a:defRPr>
            </a:pPr>
            <a:r>
              <a:rPr sz="1125">
                <a:solidFill>
                  <a:srgbClr val="ACACBE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24313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-bg">
            <a:extLst>
              <a:ext uri="{FF2B5EF4-FFF2-40B4-BE49-F238E27FC236}">
                <a16:creationId xmlns:a16="http://schemas.microsoft.com/office/drawing/2014/main" id="{A32CCF6E-037B-4273-9018-AEED7653B2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6086EDFB-93C7-4EDC-BCBD-8CB125261679}"/>
              </a:ext>
            </a:extLst>
          </p:cNvPr>
          <p:cNvSpPr>
            <a:spLocks noGrp="1"/>
          </p:cNvSpPr>
          <p:nvPr/>
        </p:nvSpPr>
        <p:spPr>
          <a:xfrm>
            <a:off x="876300" y="876300"/>
            <a:ext cx="76200" cy="5334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slide-kicker">
            <a:extLst>
              <a:ext uri="{FF2B5EF4-FFF2-40B4-BE49-F238E27FC236}">
                <a16:creationId xmlns:a16="http://schemas.microsoft.com/office/drawing/2014/main" id="{DE1D6442-D1D2-4F38-9339-B5334FC8942D}"/>
              </a:ext>
            </a:extLst>
          </p:cNvPr>
          <p:cNvSpPr>
            <a:spLocks noGrp="1"/>
          </p:cNvSpPr>
          <p:nvPr/>
        </p:nvSpPr>
        <p:spPr>
          <a:xfrm>
            <a:off x="1143000" y="704850"/>
            <a:ext cx="1524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A37F"/>
                </a:solidFill>
              </a:defRPr>
            </a:pPr>
            <a:r>
              <a:rPr sz="1350" b="1">
                <a:solidFill>
                  <a:srgbClr val="10A37F"/>
                </a:solidFill>
              </a:rPr>
              <a:t>10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7C9A286F-599C-49BA-A91D-1ECB74C5C131}"/>
              </a:ext>
            </a:extLst>
          </p:cNvPr>
          <p:cNvSpPr>
            <a:spLocks noGrp="1"/>
          </p:cNvSpPr>
          <p:nvPr/>
        </p:nvSpPr>
        <p:spPr>
          <a:xfrm>
            <a:off x="1143000" y="990600"/>
            <a:ext cx="11239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0D0D0D"/>
                </a:solidFill>
              </a:defRPr>
            </a:pPr>
            <a:r>
              <a:rPr sz="3300" b="1">
                <a:solidFill>
                  <a:srgbClr val="0D0D0D"/>
                </a:solidFill>
              </a:rPr>
              <a:t>편한 점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1E80F6E4-AA03-47AA-A4F0-A14EA62C775A}"/>
              </a:ext>
            </a:extLst>
          </p:cNvPr>
          <p:cNvSpPr>
            <a:spLocks noGrp="1"/>
          </p:cNvSpPr>
          <p:nvPr/>
        </p:nvSpPr>
        <p:spPr>
          <a:xfrm>
            <a:off x="1143000" y="1581150"/>
            <a:ext cx="11239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E6E80"/>
                </a:solidFill>
              </a:defRPr>
            </a:pPr>
            <a:r>
              <a:rPr sz="1650">
                <a:solidFill>
                  <a:srgbClr val="6E6E80"/>
                </a:solidFill>
              </a:rPr>
              <a:t>사람은 설계하고, 에이전트는 병렬로 실행한다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A0686136-3047-41E6-8706-48BA9BC1AB81}"/>
              </a:ext>
            </a:extLst>
          </p:cNvPr>
          <p:cNvSpPr>
            <a:spLocks noGrp="1"/>
          </p:cNvSpPr>
          <p:nvPr/>
        </p:nvSpPr>
        <p:spPr>
          <a:xfrm>
            <a:off x="1447800" y="2819400"/>
            <a:ext cx="7239000" cy="2133600"/>
          </a:xfrm>
          <a:prstGeom prst="roundRect">
            <a:avLst>
              <a:gd name="adj" fmla="val 8929"/>
            </a:avLst>
          </a:prstGeom>
          <a:solidFill>
            <a:srgbClr val="F4FBF8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5CA55526-66C5-4F66-A932-585D0C23A758}"/>
              </a:ext>
            </a:extLst>
          </p:cNvPr>
          <p:cNvSpPr>
            <a:spLocks noGrp="1"/>
          </p:cNvSpPr>
          <p:nvPr/>
        </p:nvSpPr>
        <p:spPr>
          <a:xfrm>
            <a:off x="1447800" y="2819400"/>
            <a:ext cx="7239000" cy="76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8" name="pro-no-0">
            <a:extLst>
              <a:ext uri="{FF2B5EF4-FFF2-40B4-BE49-F238E27FC236}">
                <a16:creationId xmlns:a16="http://schemas.microsoft.com/office/drawing/2014/main" id="{5EF15B42-B3A6-41EA-9362-4A75CAE0A5B2}"/>
              </a:ext>
            </a:extLst>
          </p:cNvPr>
          <p:cNvSpPr>
            <a:spLocks noGrp="1"/>
          </p:cNvSpPr>
          <p:nvPr/>
        </p:nvSpPr>
        <p:spPr>
          <a:xfrm>
            <a:off x="1771650" y="3105150"/>
            <a:ext cx="666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0A37F"/>
                </a:solidFill>
              </a:defRPr>
            </a:pPr>
            <a:r>
              <a:rPr sz="1725" b="1">
                <a:solidFill>
                  <a:srgbClr val="10A37F"/>
                </a:solidFill>
              </a:rPr>
              <a:t>01</a:t>
            </a:r>
          </a:p>
        </p:txBody>
      </p:sp>
      <p:sp>
        <p:nvSpPr>
          <p:cNvPr id="9" name="pro-title-0">
            <a:extLst>
              <a:ext uri="{FF2B5EF4-FFF2-40B4-BE49-F238E27FC236}">
                <a16:creationId xmlns:a16="http://schemas.microsoft.com/office/drawing/2014/main" id="{886CB916-6B93-4834-A8E0-411244D769E2}"/>
              </a:ext>
            </a:extLst>
          </p:cNvPr>
          <p:cNvSpPr>
            <a:spLocks noGrp="1"/>
          </p:cNvSpPr>
          <p:nvPr/>
        </p:nvSpPr>
        <p:spPr>
          <a:xfrm>
            <a:off x="1771650" y="3543300"/>
            <a:ext cx="5905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0D0D0D"/>
                </a:solidFill>
              </a:defRPr>
            </a:pPr>
            <a:r>
              <a:rPr sz="2250" b="1">
                <a:solidFill>
                  <a:srgbClr val="0D0D0D"/>
                </a:solidFill>
              </a:rPr>
              <a:t>인지 부하 감소</a:t>
            </a:r>
          </a:p>
        </p:txBody>
      </p:sp>
      <p:sp>
        <p:nvSpPr>
          <p:cNvPr id="10" name="pro-body-0">
            <a:extLst>
              <a:ext uri="{FF2B5EF4-FFF2-40B4-BE49-F238E27FC236}">
                <a16:creationId xmlns:a16="http://schemas.microsoft.com/office/drawing/2014/main" id="{D1B2B41D-CC05-4117-BA5E-E953498FEA4A}"/>
              </a:ext>
            </a:extLst>
          </p:cNvPr>
          <p:cNvSpPr>
            <a:spLocks noGrp="1"/>
          </p:cNvSpPr>
          <p:nvPr/>
        </p:nvSpPr>
        <p:spPr>
          <a:xfrm>
            <a:off x="1771650" y="4019550"/>
            <a:ext cx="61912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E6E80"/>
                </a:solidFill>
              </a:defRPr>
            </a:pPr>
            <a:r>
              <a:rPr sz="1650">
                <a:solidFill>
                  <a:srgbClr val="6E6E80"/>
                </a:solidFill>
              </a:rPr>
              <a:t>5개 이상의 세션을 동시에 돌릴 수 있어 멀티태스킹이 실질적으로 가능해진다.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20B4DA97-9FBD-41E9-A628-3713D2FD5931}"/>
              </a:ext>
            </a:extLst>
          </p:cNvPr>
          <p:cNvSpPr>
            <a:spLocks noGrp="1"/>
          </p:cNvSpPr>
          <p:nvPr/>
        </p:nvSpPr>
        <p:spPr>
          <a:xfrm>
            <a:off x="9601200" y="2819400"/>
            <a:ext cx="7239000" cy="2133600"/>
          </a:xfrm>
          <a:prstGeom prst="roundRect">
            <a:avLst>
              <a:gd name="adj" fmla="val 8929"/>
            </a:avLst>
          </a:prstGeom>
          <a:solidFill>
            <a:srgbClr val="F4FBF8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9F60C1BB-8EEC-40C9-A340-DB63DCEC2556}"/>
              </a:ext>
            </a:extLst>
          </p:cNvPr>
          <p:cNvSpPr>
            <a:spLocks noGrp="1"/>
          </p:cNvSpPr>
          <p:nvPr/>
        </p:nvSpPr>
        <p:spPr>
          <a:xfrm>
            <a:off x="9601200" y="2819400"/>
            <a:ext cx="7239000" cy="76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3" name="pro-no-1">
            <a:extLst>
              <a:ext uri="{FF2B5EF4-FFF2-40B4-BE49-F238E27FC236}">
                <a16:creationId xmlns:a16="http://schemas.microsoft.com/office/drawing/2014/main" id="{61AA85D9-1386-4D68-BA95-7F381A45F3F6}"/>
              </a:ext>
            </a:extLst>
          </p:cNvPr>
          <p:cNvSpPr>
            <a:spLocks noGrp="1"/>
          </p:cNvSpPr>
          <p:nvPr/>
        </p:nvSpPr>
        <p:spPr>
          <a:xfrm>
            <a:off x="9963150" y="3105150"/>
            <a:ext cx="666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0A37F"/>
                </a:solidFill>
              </a:defRPr>
            </a:pPr>
            <a:r>
              <a:rPr sz="1725" b="1">
                <a:solidFill>
                  <a:srgbClr val="10A37F"/>
                </a:solidFill>
              </a:rPr>
              <a:t>02</a:t>
            </a:r>
          </a:p>
        </p:txBody>
      </p:sp>
      <p:sp>
        <p:nvSpPr>
          <p:cNvPr id="14" name="pro-title-1">
            <a:extLst>
              <a:ext uri="{FF2B5EF4-FFF2-40B4-BE49-F238E27FC236}">
                <a16:creationId xmlns:a16="http://schemas.microsoft.com/office/drawing/2014/main" id="{6B133A87-FDA8-40C8-B4F3-D14BB79F8C0E}"/>
              </a:ext>
            </a:extLst>
          </p:cNvPr>
          <p:cNvSpPr>
            <a:spLocks noGrp="1"/>
          </p:cNvSpPr>
          <p:nvPr/>
        </p:nvSpPr>
        <p:spPr>
          <a:xfrm>
            <a:off x="9963150" y="3543300"/>
            <a:ext cx="5905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0D0D0D"/>
                </a:solidFill>
              </a:defRPr>
            </a:pPr>
            <a:r>
              <a:rPr sz="2250" b="1">
                <a:solidFill>
                  <a:srgbClr val="0D0D0D"/>
                </a:solidFill>
              </a:rPr>
              <a:t>설계에 집중</a:t>
            </a:r>
          </a:p>
        </p:txBody>
      </p:sp>
      <p:sp>
        <p:nvSpPr>
          <p:cNvPr id="15" name="pro-body-1">
            <a:extLst>
              <a:ext uri="{FF2B5EF4-FFF2-40B4-BE49-F238E27FC236}">
                <a16:creationId xmlns:a16="http://schemas.microsoft.com/office/drawing/2014/main" id="{72CC47F3-A7C5-4B57-8F46-43AA94DD5F65}"/>
              </a:ext>
            </a:extLst>
          </p:cNvPr>
          <p:cNvSpPr>
            <a:spLocks noGrp="1"/>
          </p:cNvSpPr>
          <p:nvPr/>
        </p:nvSpPr>
        <p:spPr>
          <a:xfrm>
            <a:off x="9963150" y="4019550"/>
            <a:ext cx="61912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E6E80"/>
                </a:solidFill>
              </a:defRPr>
            </a:pPr>
            <a:r>
              <a:rPr sz="1650">
                <a:solidFill>
                  <a:srgbClr val="6E6E80"/>
                </a:solidFill>
              </a:rPr>
              <a:t>이슈 분해, blocking 관계, 상태 전환이 개발 흐름의 핵심 인터페이스가 된다.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47CC34A1-B55B-4D0B-AB67-9C18B7450F20}"/>
              </a:ext>
            </a:extLst>
          </p:cNvPr>
          <p:cNvSpPr>
            <a:spLocks noGrp="1"/>
          </p:cNvSpPr>
          <p:nvPr/>
        </p:nvSpPr>
        <p:spPr>
          <a:xfrm>
            <a:off x="1447800" y="5486400"/>
            <a:ext cx="7239000" cy="2133600"/>
          </a:xfrm>
          <a:prstGeom prst="roundRect">
            <a:avLst>
              <a:gd name="adj" fmla="val 8929"/>
            </a:avLst>
          </a:prstGeom>
          <a:solidFill>
            <a:srgbClr val="F4FBF8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E2983DDF-F712-4A9D-8E59-2791D070DC08}"/>
              </a:ext>
            </a:extLst>
          </p:cNvPr>
          <p:cNvSpPr>
            <a:spLocks noGrp="1"/>
          </p:cNvSpPr>
          <p:nvPr/>
        </p:nvSpPr>
        <p:spPr>
          <a:xfrm>
            <a:off x="1447800" y="5486400"/>
            <a:ext cx="7239000" cy="76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8" name="pro-no-2">
            <a:extLst>
              <a:ext uri="{FF2B5EF4-FFF2-40B4-BE49-F238E27FC236}">
                <a16:creationId xmlns:a16="http://schemas.microsoft.com/office/drawing/2014/main" id="{C5FECE8E-2D29-4D78-8317-33EDDE72F65D}"/>
              </a:ext>
            </a:extLst>
          </p:cNvPr>
          <p:cNvSpPr>
            <a:spLocks noGrp="1"/>
          </p:cNvSpPr>
          <p:nvPr/>
        </p:nvSpPr>
        <p:spPr>
          <a:xfrm>
            <a:off x="1771650" y="5829300"/>
            <a:ext cx="666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0A37F"/>
                </a:solidFill>
              </a:defRPr>
            </a:pPr>
            <a:r>
              <a:rPr sz="1725" b="1">
                <a:solidFill>
                  <a:srgbClr val="10A37F"/>
                </a:solidFill>
              </a:rPr>
              <a:t>03</a:t>
            </a:r>
          </a:p>
        </p:txBody>
      </p:sp>
      <p:sp>
        <p:nvSpPr>
          <p:cNvPr id="19" name="pro-title-2">
            <a:extLst>
              <a:ext uri="{FF2B5EF4-FFF2-40B4-BE49-F238E27FC236}">
                <a16:creationId xmlns:a16="http://schemas.microsoft.com/office/drawing/2014/main" id="{F60DBAD9-F552-42B4-859C-652B2C9606E0}"/>
              </a:ext>
            </a:extLst>
          </p:cNvPr>
          <p:cNvSpPr>
            <a:spLocks noGrp="1"/>
          </p:cNvSpPr>
          <p:nvPr/>
        </p:nvSpPr>
        <p:spPr>
          <a:xfrm>
            <a:off x="1771650" y="6267450"/>
            <a:ext cx="5905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0D0D0D"/>
                </a:solidFill>
              </a:defRPr>
            </a:pPr>
            <a:r>
              <a:rPr sz="2250" b="1">
                <a:solidFill>
                  <a:srgbClr val="0D0D0D"/>
                </a:solidFill>
              </a:rPr>
              <a:t>외부 관측 가능</a:t>
            </a:r>
          </a:p>
        </p:txBody>
      </p:sp>
      <p:sp>
        <p:nvSpPr>
          <p:cNvPr id="20" name="pro-body-2">
            <a:extLst>
              <a:ext uri="{FF2B5EF4-FFF2-40B4-BE49-F238E27FC236}">
                <a16:creationId xmlns:a16="http://schemas.microsoft.com/office/drawing/2014/main" id="{6A1E48D5-E043-4B9B-B0F5-D61B055C6B37}"/>
              </a:ext>
            </a:extLst>
          </p:cNvPr>
          <p:cNvSpPr>
            <a:spLocks noGrp="1"/>
          </p:cNvSpPr>
          <p:nvPr/>
        </p:nvSpPr>
        <p:spPr>
          <a:xfrm>
            <a:off x="1771650" y="6743700"/>
            <a:ext cx="61912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E6E80"/>
                </a:solidFill>
              </a:defRPr>
            </a:pPr>
            <a:r>
              <a:rPr sz="1650">
                <a:solidFill>
                  <a:srgbClr val="6E6E80"/>
                </a:solidFill>
              </a:rPr>
              <a:t>커밋, 푸시, 이슈 코멘트로 조직 누구나 진행 상황을 확인할 수 있다.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66336E75-AB61-495C-A15C-83E0AE997F5D}"/>
              </a:ext>
            </a:extLst>
          </p:cNvPr>
          <p:cNvSpPr>
            <a:spLocks noGrp="1"/>
          </p:cNvSpPr>
          <p:nvPr/>
        </p:nvSpPr>
        <p:spPr>
          <a:xfrm>
            <a:off x="9601200" y="5486400"/>
            <a:ext cx="7239000" cy="2133600"/>
          </a:xfrm>
          <a:prstGeom prst="roundRect">
            <a:avLst>
              <a:gd name="adj" fmla="val 8929"/>
            </a:avLst>
          </a:prstGeom>
          <a:solidFill>
            <a:srgbClr val="F4FBF8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BB82E99D-88D6-4201-8AAF-E2645F4CF837}"/>
              </a:ext>
            </a:extLst>
          </p:cNvPr>
          <p:cNvSpPr>
            <a:spLocks noGrp="1"/>
          </p:cNvSpPr>
          <p:nvPr/>
        </p:nvSpPr>
        <p:spPr>
          <a:xfrm>
            <a:off x="9601200" y="5486400"/>
            <a:ext cx="7239000" cy="762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3" name="pro-no-3">
            <a:extLst>
              <a:ext uri="{FF2B5EF4-FFF2-40B4-BE49-F238E27FC236}">
                <a16:creationId xmlns:a16="http://schemas.microsoft.com/office/drawing/2014/main" id="{BCE26411-2565-418C-853F-91A8A8DA1BA5}"/>
              </a:ext>
            </a:extLst>
          </p:cNvPr>
          <p:cNvSpPr>
            <a:spLocks noGrp="1"/>
          </p:cNvSpPr>
          <p:nvPr/>
        </p:nvSpPr>
        <p:spPr>
          <a:xfrm>
            <a:off x="9963150" y="5829300"/>
            <a:ext cx="666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0A37F"/>
                </a:solidFill>
              </a:defRPr>
            </a:pPr>
            <a:r>
              <a:rPr sz="1725" b="1">
                <a:solidFill>
                  <a:srgbClr val="10A37F"/>
                </a:solidFill>
              </a:rPr>
              <a:t>04</a:t>
            </a:r>
          </a:p>
        </p:txBody>
      </p:sp>
      <p:sp>
        <p:nvSpPr>
          <p:cNvPr id="24" name="pro-title-3">
            <a:extLst>
              <a:ext uri="{FF2B5EF4-FFF2-40B4-BE49-F238E27FC236}">
                <a16:creationId xmlns:a16="http://schemas.microsoft.com/office/drawing/2014/main" id="{6AB0A6C6-5764-4988-974B-AC2B9E0DAE36}"/>
              </a:ext>
            </a:extLst>
          </p:cNvPr>
          <p:cNvSpPr>
            <a:spLocks noGrp="1"/>
          </p:cNvSpPr>
          <p:nvPr/>
        </p:nvSpPr>
        <p:spPr>
          <a:xfrm>
            <a:off x="9963150" y="6267450"/>
            <a:ext cx="5905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0D0D0D"/>
                </a:solidFill>
              </a:defRPr>
            </a:pPr>
            <a:r>
              <a:rPr sz="2250" b="1">
                <a:solidFill>
                  <a:srgbClr val="0D0D0D"/>
                </a:solidFill>
              </a:rPr>
              <a:t>휴대폰으로 업무 처리</a:t>
            </a:r>
          </a:p>
        </p:txBody>
      </p:sp>
      <p:sp>
        <p:nvSpPr>
          <p:cNvPr id="25" name="pro-body-3">
            <a:extLst>
              <a:ext uri="{FF2B5EF4-FFF2-40B4-BE49-F238E27FC236}">
                <a16:creationId xmlns:a16="http://schemas.microsoft.com/office/drawing/2014/main" id="{3773D52F-E66E-42B7-A535-69B20B8F72F3}"/>
              </a:ext>
            </a:extLst>
          </p:cNvPr>
          <p:cNvSpPr>
            <a:spLocks noGrp="1"/>
          </p:cNvSpPr>
          <p:nvPr/>
        </p:nvSpPr>
        <p:spPr>
          <a:xfrm>
            <a:off x="9963150" y="6743700"/>
            <a:ext cx="61912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E6E80"/>
                </a:solidFill>
              </a:defRPr>
            </a:pPr>
            <a:r>
              <a:rPr sz="1650">
                <a:solidFill>
                  <a:srgbClr val="6E6E80"/>
                </a:solidFill>
              </a:rPr>
              <a:t>PM Agent로 이슈 발행까지 자동화하면 장소와 기기 제약이 줄어든다.</a:t>
            </a:r>
          </a:p>
        </p:txBody>
      </p:sp>
      <p:sp>
        <p:nvSpPr>
          <p:cNvPr id="26" name="source-rail">
            <a:extLst>
              <a:ext uri="{FF2B5EF4-FFF2-40B4-BE49-F238E27FC236}">
                <a16:creationId xmlns:a16="http://schemas.microsoft.com/office/drawing/2014/main" id="{53362FA9-26F3-4571-B972-1A8BB7FA1B46}"/>
              </a:ext>
            </a:extLst>
          </p:cNvPr>
          <p:cNvSpPr>
            <a:spLocks noGrp="1"/>
          </p:cNvSpPr>
          <p:nvPr/>
        </p:nvSpPr>
        <p:spPr>
          <a:xfrm>
            <a:off x="1143000" y="9753600"/>
            <a:ext cx="11906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ACACBE"/>
                </a:solidFill>
              </a:defRPr>
            </a:pPr>
            <a:r>
              <a:rPr sz="1125">
                <a:solidFill>
                  <a:srgbClr val="ACACBE"/>
                </a:solidFill>
              </a:rPr>
              <a:t>github-symphony · SPEC.md</a:t>
            </a:r>
          </a:p>
        </p:txBody>
      </p:sp>
      <p:sp>
        <p:nvSpPr>
          <p:cNvPr id="27" name="slide-page">
            <a:extLst>
              <a:ext uri="{FF2B5EF4-FFF2-40B4-BE49-F238E27FC236}">
                <a16:creationId xmlns:a16="http://schemas.microsoft.com/office/drawing/2014/main" id="{F58521E6-E3A0-463A-A8B9-304CB6BB4A1A}"/>
              </a:ext>
            </a:extLst>
          </p:cNvPr>
          <p:cNvSpPr>
            <a:spLocks noGrp="1"/>
          </p:cNvSpPr>
          <p:nvPr/>
        </p:nvSpPr>
        <p:spPr>
          <a:xfrm>
            <a:off x="16573500" y="9753600"/>
            <a:ext cx="762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125">
                <a:solidFill>
                  <a:srgbClr val="ACACBE"/>
                </a:solidFill>
              </a:defRPr>
            </a:pPr>
            <a:r>
              <a:rPr sz="1125">
                <a:solidFill>
                  <a:srgbClr val="ACACBE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4717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-bg">
            <a:extLst>
              <a:ext uri="{FF2B5EF4-FFF2-40B4-BE49-F238E27FC236}">
                <a16:creationId xmlns:a16="http://schemas.microsoft.com/office/drawing/2014/main" id="{C00B4121-8A6C-4F1A-9C28-555C30605F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E9B10A55-79D9-4367-8866-521DF678C5DC}"/>
              </a:ext>
            </a:extLst>
          </p:cNvPr>
          <p:cNvSpPr>
            <a:spLocks noGrp="1"/>
          </p:cNvSpPr>
          <p:nvPr/>
        </p:nvSpPr>
        <p:spPr>
          <a:xfrm>
            <a:off x="876300" y="876300"/>
            <a:ext cx="76200" cy="5334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slide-kicker">
            <a:extLst>
              <a:ext uri="{FF2B5EF4-FFF2-40B4-BE49-F238E27FC236}">
                <a16:creationId xmlns:a16="http://schemas.microsoft.com/office/drawing/2014/main" id="{DC5EAF4F-3607-4B2F-B5C4-091573769907}"/>
              </a:ext>
            </a:extLst>
          </p:cNvPr>
          <p:cNvSpPr>
            <a:spLocks noGrp="1"/>
          </p:cNvSpPr>
          <p:nvPr/>
        </p:nvSpPr>
        <p:spPr>
          <a:xfrm>
            <a:off x="1143000" y="704850"/>
            <a:ext cx="1524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A37F"/>
                </a:solidFill>
              </a:defRPr>
            </a:pPr>
            <a:r>
              <a:rPr sz="1350" b="1">
                <a:solidFill>
                  <a:srgbClr val="10A37F"/>
                </a:solidFill>
              </a:rPr>
              <a:t>11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45D8E96D-0B9E-4670-B100-FBB8FAC0EBE0}"/>
              </a:ext>
            </a:extLst>
          </p:cNvPr>
          <p:cNvSpPr>
            <a:spLocks noGrp="1"/>
          </p:cNvSpPr>
          <p:nvPr/>
        </p:nvSpPr>
        <p:spPr>
          <a:xfrm>
            <a:off x="1143000" y="990600"/>
            <a:ext cx="11239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0D0D0D"/>
                </a:solidFill>
              </a:defRPr>
            </a:pPr>
            <a:r>
              <a:rPr sz="3300" b="1">
                <a:solidFill>
                  <a:srgbClr val="0D0D0D"/>
                </a:solidFill>
              </a:rPr>
              <a:t>불편한 점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3F809DEB-1B80-4666-8828-8ADDDB1D83F4}"/>
              </a:ext>
            </a:extLst>
          </p:cNvPr>
          <p:cNvSpPr>
            <a:spLocks noGrp="1"/>
          </p:cNvSpPr>
          <p:nvPr/>
        </p:nvSpPr>
        <p:spPr>
          <a:xfrm>
            <a:off x="1143000" y="1581150"/>
            <a:ext cx="11239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E6E80"/>
                </a:solidFill>
              </a:defRPr>
            </a:pPr>
            <a:r>
              <a:rPr sz="1650">
                <a:solidFill>
                  <a:srgbClr val="6E6E80"/>
                </a:solidFill>
              </a:rPr>
              <a:t>자동화가 강해질수록 설계와 검증의 책임도 커진다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D730F5FA-BA94-4CF7-A79C-BC5E50200112}"/>
              </a:ext>
            </a:extLst>
          </p:cNvPr>
          <p:cNvSpPr>
            <a:spLocks noGrp="1"/>
          </p:cNvSpPr>
          <p:nvPr/>
        </p:nvSpPr>
        <p:spPr>
          <a:xfrm>
            <a:off x="1447800" y="2819400"/>
            <a:ext cx="7239000" cy="2133600"/>
          </a:xfrm>
          <a:prstGeom prst="roundRect">
            <a:avLst>
              <a:gd name="adj" fmla="val 8929"/>
            </a:avLst>
          </a:prstGeom>
          <a:solidFill>
            <a:srgbClr val="FFFAF5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7B4BD491-2323-4335-A5FB-CF95E948A06A}"/>
              </a:ext>
            </a:extLst>
          </p:cNvPr>
          <p:cNvSpPr>
            <a:spLocks noGrp="1"/>
          </p:cNvSpPr>
          <p:nvPr/>
        </p:nvSpPr>
        <p:spPr>
          <a:xfrm>
            <a:off x="1447800" y="2819400"/>
            <a:ext cx="7239000" cy="76200"/>
          </a:xfrm>
          <a:prstGeom prst="roundRect">
            <a:avLst>
              <a:gd name="adj" fmla="val 50000"/>
            </a:avLst>
          </a:prstGeom>
          <a:solidFill>
            <a:srgbClr val="E53935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8" name="con-no-0">
            <a:extLst>
              <a:ext uri="{FF2B5EF4-FFF2-40B4-BE49-F238E27FC236}">
                <a16:creationId xmlns:a16="http://schemas.microsoft.com/office/drawing/2014/main" id="{A6429811-71DA-4646-AEF3-3FA1916C8334}"/>
              </a:ext>
            </a:extLst>
          </p:cNvPr>
          <p:cNvSpPr>
            <a:spLocks noGrp="1"/>
          </p:cNvSpPr>
          <p:nvPr/>
        </p:nvSpPr>
        <p:spPr>
          <a:xfrm>
            <a:off x="1771650" y="3105150"/>
            <a:ext cx="666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E53935"/>
                </a:solidFill>
              </a:defRPr>
            </a:pPr>
            <a:r>
              <a:rPr sz="1725" b="1">
                <a:solidFill>
                  <a:srgbClr val="E53935"/>
                </a:solidFill>
              </a:rPr>
              <a:t>01</a:t>
            </a:r>
          </a:p>
        </p:txBody>
      </p:sp>
      <p:sp>
        <p:nvSpPr>
          <p:cNvPr id="9" name="con-title-0">
            <a:extLst>
              <a:ext uri="{FF2B5EF4-FFF2-40B4-BE49-F238E27FC236}">
                <a16:creationId xmlns:a16="http://schemas.microsoft.com/office/drawing/2014/main" id="{A1954A94-CDBF-439F-BC0E-9B978D6B5DB8}"/>
              </a:ext>
            </a:extLst>
          </p:cNvPr>
          <p:cNvSpPr>
            <a:spLocks noGrp="1"/>
          </p:cNvSpPr>
          <p:nvPr/>
        </p:nvSpPr>
        <p:spPr>
          <a:xfrm>
            <a:off x="1771650" y="3543300"/>
            <a:ext cx="5905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0D0D0D"/>
                </a:solidFill>
              </a:defRPr>
            </a:pPr>
            <a:r>
              <a:rPr sz="2250" b="1">
                <a:solidFill>
                  <a:srgbClr val="0D0D0D"/>
                </a:solidFill>
              </a:rPr>
              <a:t>PR 전까지 브레이크 불가</a:t>
            </a:r>
          </a:p>
        </p:txBody>
      </p:sp>
      <p:sp>
        <p:nvSpPr>
          <p:cNvPr id="10" name="con-body-0">
            <a:extLst>
              <a:ext uri="{FF2B5EF4-FFF2-40B4-BE49-F238E27FC236}">
                <a16:creationId xmlns:a16="http://schemas.microsoft.com/office/drawing/2014/main" id="{ACCD7066-D2FB-4426-9DE1-CA1661A5B800}"/>
              </a:ext>
            </a:extLst>
          </p:cNvPr>
          <p:cNvSpPr>
            <a:spLocks noGrp="1"/>
          </p:cNvSpPr>
          <p:nvPr/>
        </p:nvSpPr>
        <p:spPr>
          <a:xfrm>
            <a:off x="1771650" y="4019550"/>
            <a:ext cx="61912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6E6E80"/>
                </a:solidFill>
              </a:defRPr>
            </a:pPr>
            <a:r>
              <a:rPr sz="1575" dirty="0" err="1">
                <a:solidFill>
                  <a:srgbClr val="6E6E80"/>
                </a:solidFill>
              </a:rPr>
              <a:t>이슈와</a:t>
            </a:r>
            <a:r>
              <a:rPr sz="1575" dirty="0">
                <a:solidFill>
                  <a:srgbClr val="6E6E80"/>
                </a:solidFill>
              </a:rPr>
              <a:t> </a:t>
            </a:r>
            <a:r>
              <a:rPr sz="1575" dirty="0" err="1">
                <a:solidFill>
                  <a:srgbClr val="6E6E80"/>
                </a:solidFill>
              </a:rPr>
              <a:t>설계</a:t>
            </a:r>
            <a:r>
              <a:rPr sz="1575" dirty="0">
                <a:solidFill>
                  <a:srgbClr val="6E6E80"/>
                </a:solidFill>
              </a:rPr>
              <a:t> </a:t>
            </a:r>
            <a:r>
              <a:rPr sz="1575" dirty="0" err="1">
                <a:solidFill>
                  <a:srgbClr val="6E6E80"/>
                </a:solidFill>
              </a:rPr>
              <a:t>문서가</a:t>
            </a:r>
            <a:r>
              <a:rPr sz="1575" dirty="0">
                <a:solidFill>
                  <a:srgbClr val="6E6E80"/>
                </a:solidFill>
              </a:rPr>
              <a:t> </a:t>
            </a:r>
            <a:r>
              <a:rPr sz="1575" dirty="0" err="1">
                <a:solidFill>
                  <a:srgbClr val="6E6E80"/>
                </a:solidFill>
              </a:rPr>
              <a:t>부실하면</a:t>
            </a:r>
            <a:r>
              <a:rPr sz="1575" dirty="0">
                <a:solidFill>
                  <a:srgbClr val="6E6E80"/>
                </a:solidFill>
              </a:rPr>
              <a:t> </a:t>
            </a:r>
            <a:r>
              <a:rPr sz="1575" dirty="0" err="1">
                <a:solidFill>
                  <a:srgbClr val="6E6E80"/>
                </a:solidFill>
              </a:rPr>
              <a:t>PR이</a:t>
            </a:r>
            <a:r>
              <a:rPr sz="1575" dirty="0">
                <a:solidFill>
                  <a:srgbClr val="6E6E80"/>
                </a:solidFill>
              </a:rPr>
              <a:t> </a:t>
            </a:r>
            <a:r>
              <a:rPr sz="1575" dirty="0" err="1">
                <a:solidFill>
                  <a:srgbClr val="6E6E80"/>
                </a:solidFill>
              </a:rPr>
              <a:t>올라오기</a:t>
            </a:r>
            <a:r>
              <a:rPr sz="1575" dirty="0">
                <a:solidFill>
                  <a:srgbClr val="6E6E80"/>
                </a:solidFill>
              </a:rPr>
              <a:t> </a:t>
            </a:r>
            <a:r>
              <a:rPr sz="1575" dirty="0" err="1">
                <a:solidFill>
                  <a:srgbClr val="6E6E80"/>
                </a:solidFill>
              </a:rPr>
              <a:t>전까지</a:t>
            </a:r>
            <a:r>
              <a:rPr sz="1575" dirty="0">
                <a:solidFill>
                  <a:srgbClr val="6E6E80"/>
                </a:solidFill>
              </a:rPr>
              <a:t> </a:t>
            </a:r>
            <a:r>
              <a:rPr sz="1575" dirty="0" err="1">
                <a:solidFill>
                  <a:srgbClr val="6E6E80"/>
                </a:solidFill>
              </a:rPr>
              <a:t>중단하기</a:t>
            </a:r>
            <a:r>
              <a:rPr sz="1575" dirty="0">
                <a:solidFill>
                  <a:srgbClr val="6E6E80"/>
                </a:solidFill>
              </a:rPr>
              <a:t> </a:t>
            </a:r>
            <a:r>
              <a:rPr sz="1575" dirty="0" err="1">
                <a:solidFill>
                  <a:srgbClr val="6E6E80"/>
                </a:solidFill>
              </a:rPr>
              <a:t>어렵다</a:t>
            </a:r>
            <a:r>
              <a:rPr sz="1575" dirty="0">
                <a:solidFill>
                  <a:srgbClr val="6E6E80"/>
                </a:solidFill>
              </a:rPr>
              <a:t>. →</a:t>
            </a:r>
            <a:r>
              <a:rPr lang="ko-KR" altLang="en-US" sz="1575" dirty="0">
                <a:solidFill>
                  <a:srgbClr val="6E6E80"/>
                </a:solidFill>
              </a:rPr>
              <a:t>상태를 강제로 바꾸거나</a:t>
            </a:r>
            <a:r>
              <a:rPr lang="en-US" altLang="ko-KR" sz="1575" dirty="0">
                <a:solidFill>
                  <a:srgbClr val="6E6E80"/>
                </a:solidFill>
              </a:rPr>
              <a:t>,</a:t>
            </a:r>
            <a:r>
              <a:rPr sz="1575" dirty="0">
                <a:solidFill>
                  <a:srgbClr val="6E6E80"/>
                </a:solidFill>
              </a:rPr>
              <a:t> blocker </a:t>
            </a:r>
            <a:r>
              <a:rPr sz="1575" dirty="0" err="1">
                <a:solidFill>
                  <a:srgbClr val="6E6E80"/>
                </a:solidFill>
              </a:rPr>
              <a:t>플래그</a:t>
            </a:r>
            <a:r>
              <a:rPr lang="ko-KR" altLang="en-US" sz="1575" dirty="0">
                <a:solidFill>
                  <a:srgbClr val="6E6E80"/>
                </a:solidFill>
              </a:rPr>
              <a:t> 추가</a:t>
            </a:r>
            <a:endParaRPr sz="1575" dirty="0">
              <a:solidFill>
                <a:srgbClr val="6E6E80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9E759054-C420-44F2-8E9F-032FC5AA5D14}"/>
              </a:ext>
            </a:extLst>
          </p:cNvPr>
          <p:cNvSpPr>
            <a:spLocks noGrp="1"/>
          </p:cNvSpPr>
          <p:nvPr/>
        </p:nvSpPr>
        <p:spPr>
          <a:xfrm>
            <a:off x="9601200" y="2819400"/>
            <a:ext cx="7239000" cy="2133600"/>
          </a:xfrm>
          <a:prstGeom prst="roundRect">
            <a:avLst>
              <a:gd name="adj" fmla="val 8929"/>
            </a:avLst>
          </a:prstGeom>
          <a:solidFill>
            <a:srgbClr val="FFFAF5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BEB1BCF1-D82C-4B79-B782-076EEC832030}"/>
              </a:ext>
            </a:extLst>
          </p:cNvPr>
          <p:cNvSpPr>
            <a:spLocks noGrp="1"/>
          </p:cNvSpPr>
          <p:nvPr/>
        </p:nvSpPr>
        <p:spPr>
          <a:xfrm>
            <a:off x="9601200" y="2819400"/>
            <a:ext cx="7239000" cy="76200"/>
          </a:xfrm>
          <a:prstGeom prst="roundRect">
            <a:avLst>
              <a:gd name="adj" fmla="val 50000"/>
            </a:avLst>
          </a:prstGeom>
          <a:solidFill>
            <a:srgbClr val="E6A817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3" name="con-no-1">
            <a:extLst>
              <a:ext uri="{FF2B5EF4-FFF2-40B4-BE49-F238E27FC236}">
                <a16:creationId xmlns:a16="http://schemas.microsoft.com/office/drawing/2014/main" id="{46D62CD5-83A4-4CBB-A409-4626EE6B1275}"/>
              </a:ext>
            </a:extLst>
          </p:cNvPr>
          <p:cNvSpPr>
            <a:spLocks noGrp="1"/>
          </p:cNvSpPr>
          <p:nvPr/>
        </p:nvSpPr>
        <p:spPr>
          <a:xfrm>
            <a:off x="9963150" y="3105150"/>
            <a:ext cx="666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E6A817"/>
                </a:solidFill>
              </a:defRPr>
            </a:pPr>
            <a:r>
              <a:rPr sz="1725" b="1">
                <a:solidFill>
                  <a:srgbClr val="E6A817"/>
                </a:solidFill>
              </a:rPr>
              <a:t>02</a:t>
            </a:r>
          </a:p>
        </p:txBody>
      </p:sp>
      <p:sp>
        <p:nvSpPr>
          <p:cNvPr id="14" name="con-title-1">
            <a:extLst>
              <a:ext uri="{FF2B5EF4-FFF2-40B4-BE49-F238E27FC236}">
                <a16:creationId xmlns:a16="http://schemas.microsoft.com/office/drawing/2014/main" id="{08014C1D-D2B0-4475-B410-6AE7929BA896}"/>
              </a:ext>
            </a:extLst>
          </p:cNvPr>
          <p:cNvSpPr>
            <a:spLocks noGrp="1"/>
          </p:cNvSpPr>
          <p:nvPr/>
        </p:nvSpPr>
        <p:spPr>
          <a:xfrm>
            <a:off x="9963150" y="3543300"/>
            <a:ext cx="5905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0D0D0D"/>
                </a:solidFill>
              </a:defRPr>
            </a:pPr>
            <a:r>
              <a:rPr sz="2250" b="1">
                <a:solidFill>
                  <a:srgbClr val="0D0D0D"/>
                </a:solidFill>
              </a:rPr>
              <a:t>CI/CD 없으면 효과 반감</a:t>
            </a:r>
          </a:p>
        </p:txBody>
      </p:sp>
      <p:sp>
        <p:nvSpPr>
          <p:cNvPr id="15" name="con-body-1">
            <a:extLst>
              <a:ext uri="{FF2B5EF4-FFF2-40B4-BE49-F238E27FC236}">
                <a16:creationId xmlns:a16="http://schemas.microsoft.com/office/drawing/2014/main" id="{D047F85D-B064-4EDC-9248-852F56A93354}"/>
              </a:ext>
            </a:extLst>
          </p:cNvPr>
          <p:cNvSpPr>
            <a:spLocks noGrp="1"/>
          </p:cNvSpPr>
          <p:nvPr/>
        </p:nvSpPr>
        <p:spPr>
          <a:xfrm>
            <a:off x="9963150" y="4019550"/>
            <a:ext cx="61912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6E6E80"/>
                </a:solidFill>
              </a:defRPr>
            </a:pPr>
            <a:r>
              <a:rPr sz="1575" dirty="0" err="1">
                <a:solidFill>
                  <a:srgbClr val="6E6E80"/>
                </a:solidFill>
              </a:rPr>
              <a:t>내</a:t>
            </a:r>
            <a:r>
              <a:rPr sz="1575" dirty="0">
                <a:solidFill>
                  <a:srgbClr val="6E6E80"/>
                </a:solidFill>
              </a:rPr>
              <a:t> </a:t>
            </a:r>
            <a:r>
              <a:rPr sz="1575" dirty="0" err="1">
                <a:solidFill>
                  <a:srgbClr val="6E6E80"/>
                </a:solidFill>
              </a:rPr>
              <a:t>컴퓨터에서</a:t>
            </a:r>
            <a:r>
              <a:rPr sz="1575" dirty="0">
                <a:solidFill>
                  <a:srgbClr val="6E6E80"/>
                </a:solidFill>
              </a:rPr>
              <a:t> </a:t>
            </a:r>
            <a:r>
              <a:rPr sz="1575" dirty="0" err="1">
                <a:solidFill>
                  <a:srgbClr val="6E6E80"/>
                </a:solidFill>
              </a:rPr>
              <a:t>즉시</a:t>
            </a:r>
            <a:r>
              <a:rPr sz="1575" dirty="0">
                <a:solidFill>
                  <a:srgbClr val="6E6E80"/>
                </a:solidFill>
              </a:rPr>
              <a:t> </a:t>
            </a:r>
            <a:r>
              <a:rPr sz="1575" dirty="0" err="1">
                <a:solidFill>
                  <a:srgbClr val="6E6E80"/>
                </a:solidFill>
              </a:rPr>
              <a:t>확인하지</a:t>
            </a:r>
            <a:r>
              <a:rPr sz="1575" dirty="0">
                <a:solidFill>
                  <a:srgbClr val="6E6E80"/>
                </a:solidFill>
              </a:rPr>
              <a:t> </a:t>
            </a:r>
            <a:r>
              <a:rPr sz="1575" dirty="0" err="1">
                <a:solidFill>
                  <a:srgbClr val="6E6E80"/>
                </a:solidFill>
              </a:rPr>
              <a:t>못하므로</a:t>
            </a:r>
            <a:r>
              <a:rPr sz="1575" dirty="0">
                <a:solidFill>
                  <a:srgbClr val="6E6E80"/>
                </a:solidFill>
              </a:rPr>
              <a:t> </a:t>
            </a:r>
            <a:endParaRPr lang="en-US" sz="1575" dirty="0">
              <a:solidFill>
                <a:srgbClr val="6E6E80"/>
              </a:solidFill>
            </a:endParaRPr>
          </a:p>
          <a:p>
            <a:pPr>
              <a:defRPr sz="1575">
                <a:solidFill>
                  <a:srgbClr val="6E6E80"/>
                </a:solidFill>
              </a:defRPr>
            </a:pPr>
            <a:r>
              <a:rPr sz="1575" dirty="0" err="1">
                <a:solidFill>
                  <a:srgbClr val="6E6E80"/>
                </a:solidFill>
              </a:rPr>
              <a:t>자동</a:t>
            </a:r>
            <a:r>
              <a:rPr sz="1575" dirty="0">
                <a:solidFill>
                  <a:srgbClr val="6E6E80"/>
                </a:solidFill>
              </a:rPr>
              <a:t> </a:t>
            </a:r>
            <a:r>
              <a:rPr sz="1575" dirty="0" err="1">
                <a:solidFill>
                  <a:srgbClr val="6E6E80"/>
                </a:solidFill>
              </a:rPr>
              <a:t>검증</a:t>
            </a:r>
            <a:r>
              <a:rPr sz="1575" dirty="0">
                <a:solidFill>
                  <a:srgbClr val="6E6E80"/>
                </a:solidFill>
              </a:rPr>
              <a:t> </a:t>
            </a:r>
            <a:r>
              <a:rPr sz="1575" dirty="0" err="1">
                <a:solidFill>
                  <a:srgbClr val="6E6E80"/>
                </a:solidFill>
              </a:rPr>
              <a:t>파이프라인이</a:t>
            </a:r>
            <a:r>
              <a:rPr sz="1575" dirty="0">
                <a:solidFill>
                  <a:srgbClr val="6E6E80"/>
                </a:solidFill>
              </a:rPr>
              <a:t> </a:t>
            </a:r>
            <a:r>
              <a:rPr sz="1575" dirty="0" err="1">
                <a:solidFill>
                  <a:srgbClr val="6E6E80"/>
                </a:solidFill>
              </a:rPr>
              <a:t>중요하다</a:t>
            </a:r>
            <a:r>
              <a:rPr sz="1575" dirty="0">
                <a:solidFill>
                  <a:srgbClr val="6E6E80"/>
                </a:solidFill>
              </a:rPr>
              <a:t>.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4D892FA7-B39A-4B8E-BF8C-312F8FAD1EC2}"/>
              </a:ext>
            </a:extLst>
          </p:cNvPr>
          <p:cNvSpPr>
            <a:spLocks noGrp="1"/>
          </p:cNvSpPr>
          <p:nvPr/>
        </p:nvSpPr>
        <p:spPr>
          <a:xfrm>
            <a:off x="1447800" y="5486400"/>
            <a:ext cx="7239000" cy="2133600"/>
          </a:xfrm>
          <a:prstGeom prst="roundRect">
            <a:avLst>
              <a:gd name="adj" fmla="val 8929"/>
            </a:avLst>
          </a:prstGeom>
          <a:solidFill>
            <a:srgbClr val="FFFAF5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9221CF4E-F359-4488-880C-CDD6BB8E53F7}"/>
              </a:ext>
            </a:extLst>
          </p:cNvPr>
          <p:cNvSpPr>
            <a:spLocks noGrp="1"/>
          </p:cNvSpPr>
          <p:nvPr/>
        </p:nvSpPr>
        <p:spPr>
          <a:xfrm>
            <a:off x="1447800" y="5486400"/>
            <a:ext cx="7239000" cy="76200"/>
          </a:xfrm>
          <a:prstGeom prst="roundRect">
            <a:avLst>
              <a:gd name="adj" fmla="val 50000"/>
            </a:avLst>
          </a:prstGeom>
          <a:solidFill>
            <a:srgbClr val="E6A817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8" name="con-no-2">
            <a:extLst>
              <a:ext uri="{FF2B5EF4-FFF2-40B4-BE49-F238E27FC236}">
                <a16:creationId xmlns:a16="http://schemas.microsoft.com/office/drawing/2014/main" id="{505058C8-0484-46ED-9BBC-F8D5CA8139DF}"/>
              </a:ext>
            </a:extLst>
          </p:cNvPr>
          <p:cNvSpPr>
            <a:spLocks noGrp="1"/>
          </p:cNvSpPr>
          <p:nvPr/>
        </p:nvSpPr>
        <p:spPr>
          <a:xfrm>
            <a:off x="1771650" y="5829300"/>
            <a:ext cx="666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E6A817"/>
                </a:solidFill>
              </a:defRPr>
            </a:pPr>
            <a:r>
              <a:rPr sz="1725" b="1">
                <a:solidFill>
                  <a:srgbClr val="E6A817"/>
                </a:solidFill>
              </a:rPr>
              <a:t>03</a:t>
            </a:r>
          </a:p>
        </p:txBody>
      </p:sp>
      <p:sp>
        <p:nvSpPr>
          <p:cNvPr id="19" name="con-title-2">
            <a:extLst>
              <a:ext uri="{FF2B5EF4-FFF2-40B4-BE49-F238E27FC236}">
                <a16:creationId xmlns:a16="http://schemas.microsoft.com/office/drawing/2014/main" id="{9D6AD011-EA70-44E7-A891-3A8F763CDA4E}"/>
              </a:ext>
            </a:extLst>
          </p:cNvPr>
          <p:cNvSpPr>
            <a:spLocks noGrp="1"/>
          </p:cNvSpPr>
          <p:nvPr/>
        </p:nvSpPr>
        <p:spPr>
          <a:xfrm>
            <a:off x="1771650" y="6267450"/>
            <a:ext cx="5905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0D0D0D"/>
                </a:solidFill>
              </a:defRPr>
            </a:pPr>
            <a:r>
              <a:rPr sz="2250" b="1">
                <a:solidFill>
                  <a:srgbClr val="0D0D0D"/>
                </a:solidFill>
              </a:rPr>
              <a:t>이슈 분해 단위 설계 필요</a:t>
            </a:r>
          </a:p>
        </p:txBody>
      </p:sp>
      <p:sp>
        <p:nvSpPr>
          <p:cNvPr id="20" name="con-body-2">
            <a:extLst>
              <a:ext uri="{FF2B5EF4-FFF2-40B4-BE49-F238E27FC236}">
                <a16:creationId xmlns:a16="http://schemas.microsoft.com/office/drawing/2014/main" id="{E53B906C-CDF3-4A91-8FE1-862E0172CFD0}"/>
              </a:ext>
            </a:extLst>
          </p:cNvPr>
          <p:cNvSpPr>
            <a:spLocks noGrp="1"/>
          </p:cNvSpPr>
          <p:nvPr/>
        </p:nvSpPr>
        <p:spPr>
          <a:xfrm>
            <a:off x="1771650" y="6743700"/>
            <a:ext cx="6191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6E6E80"/>
                </a:solidFill>
              </a:defRPr>
            </a:pPr>
            <a:r>
              <a:rPr sz="1575">
                <a:solidFill>
                  <a:srgbClr val="6E6E80"/>
                </a:solidFill>
              </a:rPr>
              <a:t>PM.md로 이슈 작성 규칙과 분해 규칙을 먼저 정해야 한다.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BEFE7AAF-42C5-4EEC-9DC8-A2EC19FC5B47}"/>
              </a:ext>
            </a:extLst>
          </p:cNvPr>
          <p:cNvSpPr>
            <a:spLocks noGrp="1"/>
          </p:cNvSpPr>
          <p:nvPr/>
        </p:nvSpPr>
        <p:spPr>
          <a:xfrm>
            <a:off x="9601200" y="5486400"/>
            <a:ext cx="7239000" cy="2133600"/>
          </a:xfrm>
          <a:prstGeom prst="roundRect">
            <a:avLst>
              <a:gd name="adj" fmla="val 8929"/>
            </a:avLst>
          </a:prstGeom>
          <a:solidFill>
            <a:srgbClr val="FFFAF5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2D22BF51-4B5C-4472-A46F-5D6862977EE7}"/>
              </a:ext>
            </a:extLst>
          </p:cNvPr>
          <p:cNvSpPr>
            <a:spLocks noGrp="1"/>
          </p:cNvSpPr>
          <p:nvPr/>
        </p:nvSpPr>
        <p:spPr>
          <a:xfrm>
            <a:off x="9601200" y="5486400"/>
            <a:ext cx="7239000" cy="76200"/>
          </a:xfrm>
          <a:prstGeom prst="roundRect">
            <a:avLst>
              <a:gd name="adj" fmla="val 50000"/>
            </a:avLst>
          </a:prstGeom>
          <a:solidFill>
            <a:srgbClr val="E6A817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3" name="con-no-3">
            <a:extLst>
              <a:ext uri="{FF2B5EF4-FFF2-40B4-BE49-F238E27FC236}">
                <a16:creationId xmlns:a16="http://schemas.microsoft.com/office/drawing/2014/main" id="{4555F847-518C-4C78-A26B-FCED29CE1483}"/>
              </a:ext>
            </a:extLst>
          </p:cNvPr>
          <p:cNvSpPr>
            <a:spLocks noGrp="1"/>
          </p:cNvSpPr>
          <p:nvPr/>
        </p:nvSpPr>
        <p:spPr>
          <a:xfrm>
            <a:off x="9963150" y="5829300"/>
            <a:ext cx="666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E6A817"/>
                </a:solidFill>
              </a:defRPr>
            </a:pPr>
            <a:r>
              <a:rPr sz="1725" b="1">
                <a:solidFill>
                  <a:srgbClr val="E6A817"/>
                </a:solidFill>
              </a:rPr>
              <a:t>04</a:t>
            </a:r>
          </a:p>
        </p:txBody>
      </p:sp>
      <p:sp>
        <p:nvSpPr>
          <p:cNvPr id="24" name="con-title-3">
            <a:extLst>
              <a:ext uri="{FF2B5EF4-FFF2-40B4-BE49-F238E27FC236}">
                <a16:creationId xmlns:a16="http://schemas.microsoft.com/office/drawing/2014/main" id="{0CCB5BC4-DF4A-4928-A6CC-51F03034F4A5}"/>
              </a:ext>
            </a:extLst>
          </p:cNvPr>
          <p:cNvSpPr>
            <a:spLocks noGrp="1"/>
          </p:cNvSpPr>
          <p:nvPr/>
        </p:nvSpPr>
        <p:spPr>
          <a:xfrm>
            <a:off x="9963150" y="6267450"/>
            <a:ext cx="5905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0D0D0D"/>
                </a:solidFill>
              </a:defRPr>
            </a:pPr>
            <a:r>
              <a:rPr sz="2250" b="1">
                <a:solidFill>
                  <a:srgbClr val="0D0D0D"/>
                </a:solidFill>
              </a:rPr>
              <a:t>검증할 것이 쏟아진다</a:t>
            </a:r>
          </a:p>
        </p:txBody>
      </p:sp>
      <p:sp>
        <p:nvSpPr>
          <p:cNvPr id="25" name="con-body-3">
            <a:extLst>
              <a:ext uri="{FF2B5EF4-FFF2-40B4-BE49-F238E27FC236}">
                <a16:creationId xmlns:a16="http://schemas.microsoft.com/office/drawing/2014/main" id="{E4AA1BC6-7E07-4B6C-BC3F-CB351DD6C1FF}"/>
              </a:ext>
            </a:extLst>
          </p:cNvPr>
          <p:cNvSpPr>
            <a:spLocks noGrp="1"/>
          </p:cNvSpPr>
          <p:nvPr/>
        </p:nvSpPr>
        <p:spPr>
          <a:xfrm>
            <a:off x="9963150" y="6743700"/>
            <a:ext cx="6191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6E6E80"/>
                </a:solidFill>
              </a:defRPr>
            </a:pPr>
            <a:r>
              <a:rPr sz="1575">
                <a:solidFill>
                  <a:srgbClr val="6E6E80"/>
                </a:solidFill>
              </a:rPr>
              <a:t>PR이 많아질수록 리뷰 부담이 커지고 테스트 자동화가 필수가 된다.</a:t>
            </a:r>
          </a:p>
        </p:txBody>
      </p:sp>
      <p:sp>
        <p:nvSpPr>
          <p:cNvPr id="26" name="source-rail">
            <a:extLst>
              <a:ext uri="{FF2B5EF4-FFF2-40B4-BE49-F238E27FC236}">
                <a16:creationId xmlns:a16="http://schemas.microsoft.com/office/drawing/2014/main" id="{695320AA-1C93-414A-AE3A-62060699481E}"/>
              </a:ext>
            </a:extLst>
          </p:cNvPr>
          <p:cNvSpPr>
            <a:spLocks noGrp="1"/>
          </p:cNvSpPr>
          <p:nvPr/>
        </p:nvSpPr>
        <p:spPr>
          <a:xfrm>
            <a:off x="1143000" y="9753600"/>
            <a:ext cx="11906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ACACBE"/>
                </a:solidFill>
              </a:defRPr>
            </a:pPr>
            <a:r>
              <a:rPr sz="1125">
                <a:solidFill>
                  <a:srgbClr val="ACACBE"/>
                </a:solidFill>
              </a:rPr>
              <a:t>github-symphony · SPEC.md</a:t>
            </a:r>
          </a:p>
        </p:txBody>
      </p:sp>
      <p:sp>
        <p:nvSpPr>
          <p:cNvPr id="27" name="slide-page">
            <a:extLst>
              <a:ext uri="{FF2B5EF4-FFF2-40B4-BE49-F238E27FC236}">
                <a16:creationId xmlns:a16="http://schemas.microsoft.com/office/drawing/2014/main" id="{8999075D-F023-477E-8894-C4F18A80D1D5}"/>
              </a:ext>
            </a:extLst>
          </p:cNvPr>
          <p:cNvSpPr>
            <a:spLocks noGrp="1"/>
          </p:cNvSpPr>
          <p:nvPr/>
        </p:nvSpPr>
        <p:spPr>
          <a:xfrm>
            <a:off x="16573500" y="9753600"/>
            <a:ext cx="762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125">
                <a:solidFill>
                  <a:srgbClr val="ACACBE"/>
                </a:solidFill>
              </a:defRPr>
            </a:pPr>
            <a:r>
              <a:rPr sz="1125">
                <a:solidFill>
                  <a:srgbClr val="ACACBE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45205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bg">
            <a:extLst>
              <a:ext uri="{FF2B5EF4-FFF2-40B4-BE49-F238E27FC236}">
                <a16:creationId xmlns:a16="http://schemas.microsoft.com/office/drawing/2014/main" id="{F17C3DC8-3C7D-45D4-B9B3-00BBEE30CEF4}"/>
              </a:ext>
            </a:extLst>
          </p:cNvPr>
          <p:cNvSpPr>
            <a:spLocks noGrp="1"/>
          </p:cNvSpPr>
          <p:nvPr/>
        </p:nvSpPr>
        <p:spPr>
          <a:xfrm>
            <a:off x="121920" y="1905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8073346F-89F3-4236-A53F-13A3EBD043BC}"/>
              </a:ext>
            </a:extLst>
          </p:cNvPr>
          <p:cNvSpPr>
            <a:spLocks noGrp="1"/>
          </p:cNvSpPr>
          <p:nvPr/>
        </p:nvSpPr>
        <p:spPr>
          <a:xfrm>
            <a:off x="876300" y="876300"/>
            <a:ext cx="76200" cy="5334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slide-kicker">
            <a:extLst>
              <a:ext uri="{FF2B5EF4-FFF2-40B4-BE49-F238E27FC236}">
                <a16:creationId xmlns:a16="http://schemas.microsoft.com/office/drawing/2014/main" id="{3D217A21-8D77-42F9-8B63-D3C07BD37E31}"/>
              </a:ext>
            </a:extLst>
          </p:cNvPr>
          <p:cNvSpPr>
            <a:spLocks noGrp="1"/>
          </p:cNvSpPr>
          <p:nvPr/>
        </p:nvSpPr>
        <p:spPr>
          <a:xfrm>
            <a:off x="1143000" y="704850"/>
            <a:ext cx="1524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0A37F"/>
                </a:solidFill>
              </a:defRPr>
            </a:pPr>
            <a:r>
              <a:rPr sz="1350" b="1">
                <a:solidFill>
                  <a:srgbClr val="10A37F"/>
                </a:solidFill>
              </a:rPr>
              <a:t>12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6F9AF7B3-D760-4FC1-9B68-2B1091A8A59D}"/>
              </a:ext>
            </a:extLst>
          </p:cNvPr>
          <p:cNvSpPr>
            <a:spLocks noGrp="1"/>
          </p:cNvSpPr>
          <p:nvPr/>
        </p:nvSpPr>
        <p:spPr>
          <a:xfrm>
            <a:off x="1143000" y="990600"/>
            <a:ext cx="112395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300" b="1">
                <a:solidFill>
                  <a:srgbClr val="0D0D0D"/>
                </a:solidFill>
              </a:defRPr>
            </a:pPr>
            <a:r>
              <a:rPr sz="3300" b="1">
                <a:solidFill>
                  <a:srgbClr val="0D0D0D"/>
                </a:solidFill>
              </a:rPr>
              <a:t>시사점</a:t>
            </a:r>
          </a:p>
        </p:txBody>
      </p:sp>
      <p:sp>
        <p:nvSpPr>
          <p:cNvPr id="5" name="slide-subtitle">
            <a:extLst>
              <a:ext uri="{FF2B5EF4-FFF2-40B4-BE49-F238E27FC236}">
                <a16:creationId xmlns:a16="http://schemas.microsoft.com/office/drawing/2014/main" id="{97D3DCF3-BED4-4520-90BA-92C3320F16EC}"/>
              </a:ext>
            </a:extLst>
          </p:cNvPr>
          <p:cNvSpPr>
            <a:spLocks noGrp="1"/>
          </p:cNvSpPr>
          <p:nvPr/>
        </p:nvSpPr>
        <p:spPr>
          <a:xfrm>
            <a:off x="1143000" y="1581150"/>
            <a:ext cx="11239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E6E80"/>
                </a:solidFill>
              </a:defRPr>
            </a:pPr>
            <a:r>
              <a:rPr sz="1650">
                <a:solidFill>
                  <a:srgbClr val="6E6E80"/>
                </a:solidFill>
              </a:rPr>
              <a:t>SPEC.md 하나가 배포 파이프라인이 되는 시대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A3D73639-B3EC-4F97-8CDD-A7E8FA0001BF}"/>
              </a:ext>
            </a:extLst>
          </p:cNvPr>
          <p:cNvSpPr>
            <a:spLocks noGrp="1"/>
          </p:cNvSpPr>
          <p:nvPr/>
        </p:nvSpPr>
        <p:spPr>
          <a:xfrm>
            <a:off x="1447800" y="2667000"/>
            <a:ext cx="15468600" cy="1295400"/>
          </a:xfrm>
          <a:prstGeom prst="roundRect">
            <a:avLst>
              <a:gd name="adj" fmla="val 13235"/>
            </a:avLst>
          </a:prstGeom>
          <a:solidFill>
            <a:srgbClr val="F2FBF7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FE5EC881-1E2B-4B8F-AEC1-2702A562760B}"/>
              </a:ext>
            </a:extLst>
          </p:cNvPr>
          <p:cNvSpPr>
            <a:spLocks noGrp="1"/>
          </p:cNvSpPr>
          <p:nvPr/>
        </p:nvSpPr>
        <p:spPr>
          <a:xfrm>
            <a:off x="1447800" y="2667000"/>
            <a:ext cx="152400" cy="1295400"/>
          </a:xfrm>
          <a:prstGeom prst="roundRect">
            <a:avLst>
              <a:gd name="adj" fmla="val 25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8" name="imp-title-0">
            <a:extLst>
              <a:ext uri="{FF2B5EF4-FFF2-40B4-BE49-F238E27FC236}">
                <a16:creationId xmlns:a16="http://schemas.microsoft.com/office/drawing/2014/main" id="{523503D7-7BB3-4FDD-A830-D2F81169596B}"/>
              </a:ext>
            </a:extLst>
          </p:cNvPr>
          <p:cNvSpPr>
            <a:spLocks noGrp="1"/>
          </p:cNvSpPr>
          <p:nvPr/>
        </p:nvSpPr>
        <p:spPr>
          <a:xfrm>
            <a:off x="1962150" y="2971800"/>
            <a:ext cx="40005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10A37F"/>
                </a:solidFill>
              </a:defRPr>
            </a:pPr>
            <a:r>
              <a:rPr sz="2400" b="1">
                <a:solidFill>
                  <a:srgbClr val="10A37F"/>
                </a:solidFill>
              </a:rPr>
              <a:t>대 딸깍의 시대</a:t>
            </a:r>
          </a:p>
        </p:txBody>
      </p:sp>
      <p:sp>
        <p:nvSpPr>
          <p:cNvPr id="9" name="imp-body-0">
            <a:extLst>
              <a:ext uri="{FF2B5EF4-FFF2-40B4-BE49-F238E27FC236}">
                <a16:creationId xmlns:a16="http://schemas.microsoft.com/office/drawing/2014/main" id="{2FE529E4-2941-4C6E-B084-0C9DC5039A22}"/>
              </a:ext>
            </a:extLst>
          </p:cNvPr>
          <p:cNvSpPr>
            <a:spLocks noGrp="1"/>
          </p:cNvSpPr>
          <p:nvPr/>
        </p:nvSpPr>
        <p:spPr>
          <a:xfrm>
            <a:off x="6286500" y="2952750"/>
            <a:ext cx="9334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0D0D0D"/>
                </a:solidFill>
              </a:defRPr>
            </a:pPr>
            <a:r>
              <a:rPr sz="1800" dirty="0" err="1">
                <a:solidFill>
                  <a:srgbClr val="0D0D0D"/>
                </a:solidFill>
              </a:rPr>
              <a:t>SPEC.md</a:t>
            </a:r>
            <a:r>
              <a:rPr sz="1800" dirty="0">
                <a:solidFill>
                  <a:srgbClr val="0D0D0D"/>
                </a:solidFill>
              </a:rPr>
              <a:t> </a:t>
            </a:r>
            <a:r>
              <a:rPr sz="1800" dirty="0" err="1">
                <a:solidFill>
                  <a:srgbClr val="0D0D0D"/>
                </a:solidFill>
              </a:rPr>
              <a:t>하나로</a:t>
            </a:r>
            <a:r>
              <a:rPr sz="1800" dirty="0">
                <a:solidFill>
                  <a:srgbClr val="0D0D0D"/>
                </a:solidFill>
              </a:rPr>
              <a:t> </a:t>
            </a:r>
            <a:r>
              <a:rPr sz="1800" dirty="0" err="1">
                <a:solidFill>
                  <a:srgbClr val="0D0D0D"/>
                </a:solidFill>
              </a:rPr>
              <a:t>소프트웨어를</a:t>
            </a:r>
            <a:r>
              <a:rPr sz="1800" dirty="0">
                <a:solidFill>
                  <a:srgbClr val="0D0D0D"/>
                </a:solidFill>
              </a:rPr>
              <a:t> </a:t>
            </a:r>
            <a:r>
              <a:rPr sz="1800" dirty="0" err="1">
                <a:solidFill>
                  <a:srgbClr val="0D0D0D"/>
                </a:solidFill>
              </a:rPr>
              <a:t>배포하는</a:t>
            </a:r>
            <a:r>
              <a:rPr sz="1800" dirty="0">
                <a:solidFill>
                  <a:srgbClr val="0D0D0D"/>
                </a:solidFill>
              </a:rPr>
              <a:t> </a:t>
            </a:r>
            <a:r>
              <a:rPr sz="1800" dirty="0" err="1">
                <a:solidFill>
                  <a:srgbClr val="0D0D0D"/>
                </a:solidFill>
              </a:rPr>
              <a:t>새로운</a:t>
            </a:r>
            <a:r>
              <a:rPr sz="1800" dirty="0">
                <a:solidFill>
                  <a:srgbClr val="0D0D0D"/>
                </a:solidFill>
              </a:rPr>
              <a:t> </a:t>
            </a:r>
            <a:r>
              <a:rPr sz="1800" dirty="0" err="1">
                <a:solidFill>
                  <a:srgbClr val="0D0D0D"/>
                </a:solidFill>
              </a:rPr>
              <a:t>패러다임</a:t>
            </a:r>
            <a:r>
              <a:rPr sz="1800" dirty="0">
                <a:solidFill>
                  <a:srgbClr val="0D0D0D"/>
                </a:solidFill>
              </a:rPr>
              <a:t>. </a:t>
            </a:r>
            <a:endParaRPr lang="en-US" sz="1800" dirty="0">
              <a:solidFill>
                <a:srgbClr val="0D0D0D"/>
              </a:solidFill>
            </a:endParaRPr>
          </a:p>
          <a:p>
            <a:pPr>
              <a:defRPr sz="1800">
                <a:solidFill>
                  <a:srgbClr val="0D0D0D"/>
                </a:solidFill>
              </a:defRPr>
            </a:pPr>
            <a:r>
              <a:rPr sz="1800" dirty="0" err="1">
                <a:solidFill>
                  <a:srgbClr val="0D0D0D"/>
                </a:solidFill>
              </a:rPr>
              <a:t>설계</a:t>
            </a:r>
            <a:r>
              <a:rPr sz="1800" dirty="0">
                <a:solidFill>
                  <a:srgbClr val="0D0D0D"/>
                </a:solidFill>
              </a:rPr>
              <a:t> </a:t>
            </a:r>
            <a:r>
              <a:rPr sz="1800" dirty="0" err="1">
                <a:solidFill>
                  <a:srgbClr val="0D0D0D"/>
                </a:solidFill>
              </a:rPr>
              <a:t>문서가</a:t>
            </a:r>
            <a:r>
              <a:rPr sz="1800" dirty="0">
                <a:solidFill>
                  <a:srgbClr val="0D0D0D"/>
                </a:solidFill>
              </a:rPr>
              <a:t> </a:t>
            </a:r>
            <a:r>
              <a:rPr sz="1800" dirty="0" err="1">
                <a:solidFill>
                  <a:srgbClr val="0D0D0D"/>
                </a:solidFill>
              </a:rPr>
              <a:t>곧</a:t>
            </a:r>
            <a:r>
              <a:rPr sz="1800" dirty="0">
                <a:solidFill>
                  <a:srgbClr val="0D0D0D"/>
                </a:solidFill>
              </a:rPr>
              <a:t> </a:t>
            </a:r>
            <a:r>
              <a:rPr sz="1800" dirty="0" err="1">
                <a:solidFill>
                  <a:srgbClr val="0D0D0D"/>
                </a:solidFill>
              </a:rPr>
              <a:t>실행</a:t>
            </a:r>
            <a:r>
              <a:rPr sz="1800" dirty="0">
                <a:solidFill>
                  <a:srgbClr val="0D0D0D"/>
                </a:solidFill>
              </a:rPr>
              <a:t> </a:t>
            </a:r>
            <a:r>
              <a:rPr sz="1800" dirty="0" err="1">
                <a:solidFill>
                  <a:srgbClr val="0D0D0D"/>
                </a:solidFill>
              </a:rPr>
              <a:t>파이프라인이</a:t>
            </a:r>
            <a:r>
              <a:rPr sz="1800" dirty="0">
                <a:solidFill>
                  <a:srgbClr val="0D0D0D"/>
                </a:solidFill>
              </a:rPr>
              <a:t> </a:t>
            </a:r>
            <a:r>
              <a:rPr sz="1800" dirty="0" err="1">
                <a:solidFill>
                  <a:srgbClr val="0D0D0D"/>
                </a:solidFill>
              </a:rPr>
              <a:t>된다</a:t>
            </a:r>
            <a:r>
              <a:rPr sz="1800" dirty="0">
                <a:solidFill>
                  <a:srgbClr val="0D0D0D"/>
                </a:solidFill>
              </a:rPr>
              <a:t>.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B055A50C-2FE7-496C-9961-578B24B665CC}"/>
              </a:ext>
            </a:extLst>
          </p:cNvPr>
          <p:cNvSpPr>
            <a:spLocks noGrp="1"/>
          </p:cNvSpPr>
          <p:nvPr/>
        </p:nvSpPr>
        <p:spPr>
          <a:xfrm>
            <a:off x="1447800" y="4495800"/>
            <a:ext cx="15468600" cy="1295400"/>
          </a:xfrm>
          <a:prstGeom prst="roundRect">
            <a:avLst>
              <a:gd name="adj" fmla="val 13235"/>
            </a:avLst>
          </a:prstGeom>
          <a:solidFill>
            <a:srgbClr val="F5F8FF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34C0A19B-4781-4945-8CCE-76A59E74F6AA}"/>
              </a:ext>
            </a:extLst>
          </p:cNvPr>
          <p:cNvSpPr>
            <a:spLocks noGrp="1"/>
          </p:cNvSpPr>
          <p:nvPr/>
        </p:nvSpPr>
        <p:spPr>
          <a:xfrm>
            <a:off x="1447800" y="4495800"/>
            <a:ext cx="152400" cy="12954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2" name="imp-title-1">
            <a:extLst>
              <a:ext uri="{FF2B5EF4-FFF2-40B4-BE49-F238E27FC236}">
                <a16:creationId xmlns:a16="http://schemas.microsoft.com/office/drawing/2014/main" id="{062046D8-6343-4023-B26E-2E7E1EF2BC3A}"/>
              </a:ext>
            </a:extLst>
          </p:cNvPr>
          <p:cNvSpPr>
            <a:spLocks noGrp="1"/>
          </p:cNvSpPr>
          <p:nvPr/>
        </p:nvSpPr>
        <p:spPr>
          <a:xfrm>
            <a:off x="1962150" y="4781550"/>
            <a:ext cx="40005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rPr sz="2400" b="1">
                <a:solidFill>
                  <a:srgbClr val="2563EB"/>
                </a:solidFill>
              </a:rPr>
              <a:t>대 워터폴의 시대</a:t>
            </a:r>
          </a:p>
        </p:txBody>
      </p:sp>
      <p:sp>
        <p:nvSpPr>
          <p:cNvPr id="13" name="imp-body-1">
            <a:extLst>
              <a:ext uri="{FF2B5EF4-FFF2-40B4-BE49-F238E27FC236}">
                <a16:creationId xmlns:a16="http://schemas.microsoft.com/office/drawing/2014/main" id="{2D6F7109-B58A-4957-9FB1-76AB84DE86EE}"/>
              </a:ext>
            </a:extLst>
          </p:cNvPr>
          <p:cNvSpPr>
            <a:spLocks noGrp="1"/>
          </p:cNvSpPr>
          <p:nvPr/>
        </p:nvSpPr>
        <p:spPr>
          <a:xfrm>
            <a:off x="6286500" y="4762500"/>
            <a:ext cx="9334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0D0D0D"/>
                </a:solidFill>
              </a:defRPr>
            </a:pPr>
            <a:r>
              <a:rPr sz="1800" dirty="0" err="1">
                <a:solidFill>
                  <a:srgbClr val="0D0D0D"/>
                </a:solidFill>
              </a:rPr>
              <a:t>에이전트는</a:t>
            </a:r>
            <a:r>
              <a:rPr sz="1800" dirty="0">
                <a:solidFill>
                  <a:srgbClr val="0D0D0D"/>
                </a:solidFill>
              </a:rPr>
              <a:t> </a:t>
            </a:r>
            <a:r>
              <a:rPr sz="1800" dirty="0" err="1">
                <a:solidFill>
                  <a:srgbClr val="0D0D0D"/>
                </a:solidFill>
              </a:rPr>
              <a:t>명세서대로</a:t>
            </a:r>
            <a:r>
              <a:rPr sz="1800" dirty="0">
                <a:solidFill>
                  <a:srgbClr val="0D0D0D"/>
                </a:solidFill>
              </a:rPr>
              <a:t> </a:t>
            </a:r>
            <a:r>
              <a:rPr sz="1800" dirty="0" err="1">
                <a:solidFill>
                  <a:srgbClr val="0D0D0D"/>
                </a:solidFill>
              </a:rPr>
              <a:t>만든다</a:t>
            </a:r>
            <a:r>
              <a:rPr sz="1800" dirty="0">
                <a:solidFill>
                  <a:srgbClr val="0D0D0D"/>
                </a:solidFill>
              </a:rPr>
              <a:t>. </a:t>
            </a:r>
            <a:endParaRPr lang="en-US" sz="1800" dirty="0">
              <a:solidFill>
                <a:srgbClr val="0D0D0D"/>
              </a:solidFill>
            </a:endParaRPr>
          </a:p>
          <a:p>
            <a:pPr>
              <a:defRPr sz="1800">
                <a:solidFill>
                  <a:srgbClr val="0D0D0D"/>
                </a:solidFill>
              </a:defRPr>
            </a:pPr>
            <a:r>
              <a:rPr sz="1800" dirty="0" err="1">
                <a:solidFill>
                  <a:srgbClr val="0D0D0D"/>
                </a:solidFill>
              </a:rPr>
              <a:t>그래서</a:t>
            </a:r>
            <a:r>
              <a:rPr sz="1800" dirty="0">
                <a:solidFill>
                  <a:srgbClr val="0D0D0D"/>
                </a:solidFill>
              </a:rPr>
              <a:t> </a:t>
            </a:r>
            <a:r>
              <a:rPr sz="1800" dirty="0" err="1">
                <a:solidFill>
                  <a:srgbClr val="0D0D0D"/>
                </a:solidFill>
              </a:rPr>
              <a:t>설계와</a:t>
            </a:r>
            <a:r>
              <a:rPr sz="1800" dirty="0">
                <a:solidFill>
                  <a:srgbClr val="0D0D0D"/>
                </a:solidFill>
              </a:rPr>
              <a:t> </a:t>
            </a:r>
            <a:r>
              <a:rPr sz="1800" dirty="0" err="1">
                <a:solidFill>
                  <a:srgbClr val="0D0D0D"/>
                </a:solidFill>
              </a:rPr>
              <a:t>테스트에</a:t>
            </a:r>
            <a:r>
              <a:rPr sz="1800" dirty="0">
                <a:solidFill>
                  <a:srgbClr val="0D0D0D"/>
                </a:solidFill>
              </a:rPr>
              <a:t> </a:t>
            </a:r>
            <a:r>
              <a:rPr sz="1800" dirty="0" err="1">
                <a:solidFill>
                  <a:srgbClr val="0D0D0D"/>
                </a:solidFill>
              </a:rPr>
              <a:t>더</a:t>
            </a:r>
            <a:r>
              <a:rPr sz="1800" dirty="0">
                <a:solidFill>
                  <a:srgbClr val="0D0D0D"/>
                </a:solidFill>
              </a:rPr>
              <a:t> </a:t>
            </a:r>
            <a:r>
              <a:rPr sz="1800" dirty="0" err="1">
                <a:solidFill>
                  <a:srgbClr val="0D0D0D"/>
                </a:solidFill>
              </a:rPr>
              <a:t>집중해야</a:t>
            </a:r>
            <a:r>
              <a:rPr sz="1800" dirty="0">
                <a:solidFill>
                  <a:srgbClr val="0D0D0D"/>
                </a:solidFill>
              </a:rPr>
              <a:t> </a:t>
            </a:r>
            <a:r>
              <a:rPr sz="1800" dirty="0" err="1">
                <a:solidFill>
                  <a:srgbClr val="0D0D0D"/>
                </a:solidFill>
              </a:rPr>
              <a:t>한다</a:t>
            </a:r>
            <a:r>
              <a:rPr sz="1800" dirty="0">
                <a:solidFill>
                  <a:srgbClr val="0D0D0D"/>
                </a:solidFill>
              </a:rPr>
              <a:t>.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130B21AA-A97E-413C-8B0E-05E2967704E2}"/>
              </a:ext>
            </a:extLst>
          </p:cNvPr>
          <p:cNvSpPr>
            <a:spLocks noGrp="1"/>
          </p:cNvSpPr>
          <p:nvPr/>
        </p:nvSpPr>
        <p:spPr>
          <a:xfrm>
            <a:off x="1447800" y="6324600"/>
            <a:ext cx="15468600" cy="1295400"/>
          </a:xfrm>
          <a:prstGeom prst="roundRect">
            <a:avLst>
              <a:gd name="adj" fmla="val 13235"/>
            </a:avLst>
          </a:prstGeom>
          <a:solidFill>
            <a:srgbClr val="FFF8F2"/>
          </a:solidFill>
          <a:ln w="9525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78460805-767A-4EC0-BDE3-0E9450105A90}"/>
              </a:ext>
            </a:extLst>
          </p:cNvPr>
          <p:cNvSpPr>
            <a:spLocks noGrp="1"/>
          </p:cNvSpPr>
          <p:nvPr/>
        </p:nvSpPr>
        <p:spPr>
          <a:xfrm>
            <a:off x="1447800" y="6324600"/>
            <a:ext cx="152400" cy="1295400"/>
          </a:xfrm>
          <a:prstGeom prst="roundRect">
            <a:avLst>
              <a:gd name="adj" fmla="val 25000"/>
            </a:avLst>
          </a:prstGeom>
          <a:solidFill>
            <a:srgbClr val="F97316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6" name="imp-title-2">
            <a:extLst>
              <a:ext uri="{FF2B5EF4-FFF2-40B4-BE49-F238E27FC236}">
                <a16:creationId xmlns:a16="http://schemas.microsoft.com/office/drawing/2014/main" id="{AF3C13B3-1E3E-4B28-8F0C-10E15F01B30E}"/>
              </a:ext>
            </a:extLst>
          </p:cNvPr>
          <p:cNvSpPr>
            <a:spLocks noGrp="1"/>
          </p:cNvSpPr>
          <p:nvPr/>
        </p:nvSpPr>
        <p:spPr>
          <a:xfrm>
            <a:off x="1962150" y="6591300"/>
            <a:ext cx="40005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F97316"/>
                </a:solidFill>
              </a:defRPr>
            </a:pPr>
            <a:r>
              <a:rPr sz="2400" b="1">
                <a:solidFill>
                  <a:srgbClr val="F97316"/>
                </a:solidFill>
              </a:rPr>
              <a:t>AI Workflow가 새로운 먹거리</a:t>
            </a:r>
          </a:p>
        </p:txBody>
      </p:sp>
      <p:sp>
        <p:nvSpPr>
          <p:cNvPr id="17" name="imp-body-2">
            <a:extLst>
              <a:ext uri="{FF2B5EF4-FFF2-40B4-BE49-F238E27FC236}">
                <a16:creationId xmlns:a16="http://schemas.microsoft.com/office/drawing/2014/main" id="{3F3A476E-9449-4EF2-A28B-7966EE85A046}"/>
              </a:ext>
            </a:extLst>
          </p:cNvPr>
          <p:cNvSpPr>
            <a:spLocks noGrp="1"/>
          </p:cNvSpPr>
          <p:nvPr/>
        </p:nvSpPr>
        <p:spPr>
          <a:xfrm>
            <a:off x="6286500" y="6572250"/>
            <a:ext cx="9334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0D0D0D"/>
                </a:solidFill>
              </a:defRPr>
            </a:pPr>
            <a:r>
              <a:rPr sz="1800" dirty="0" err="1">
                <a:solidFill>
                  <a:srgbClr val="0D0D0D"/>
                </a:solidFill>
              </a:rPr>
              <a:t>Symphony는</a:t>
            </a:r>
            <a:r>
              <a:rPr sz="1800" dirty="0">
                <a:solidFill>
                  <a:srgbClr val="0D0D0D"/>
                </a:solidFill>
              </a:rPr>
              <a:t> </a:t>
            </a:r>
            <a:r>
              <a:rPr sz="1800" dirty="0" err="1">
                <a:solidFill>
                  <a:srgbClr val="0D0D0D"/>
                </a:solidFill>
              </a:rPr>
              <a:t>여러</a:t>
            </a:r>
            <a:r>
              <a:rPr sz="1800" dirty="0">
                <a:solidFill>
                  <a:srgbClr val="0D0D0D"/>
                </a:solidFill>
              </a:rPr>
              <a:t> AI Workflow </a:t>
            </a:r>
            <a:r>
              <a:rPr sz="1800" dirty="0" err="1">
                <a:solidFill>
                  <a:srgbClr val="0D0D0D"/>
                </a:solidFill>
              </a:rPr>
              <a:t>중</a:t>
            </a:r>
            <a:r>
              <a:rPr sz="1800" dirty="0">
                <a:solidFill>
                  <a:srgbClr val="0D0D0D"/>
                </a:solidFill>
              </a:rPr>
              <a:t> </a:t>
            </a:r>
            <a:r>
              <a:rPr sz="1800" dirty="0" err="1">
                <a:solidFill>
                  <a:srgbClr val="0D0D0D"/>
                </a:solidFill>
              </a:rPr>
              <a:t>하나다</a:t>
            </a:r>
            <a:r>
              <a:rPr sz="1800" dirty="0">
                <a:solidFill>
                  <a:srgbClr val="0D0D0D"/>
                </a:solidFill>
              </a:rPr>
              <a:t>.</a:t>
            </a:r>
            <a:r>
              <a:rPr lang="ko-KR" altLang="en-US" sz="1800" dirty="0">
                <a:solidFill>
                  <a:srgbClr val="0D0D0D"/>
                </a:solidFill>
              </a:rPr>
              <a:t> </a:t>
            </a:r>
            <a:r>
              <a:rPr lang="en-US" altLang="ko-KR" sz="1800" dirty="0">
                <a:solidFill>
                  <a:srgbClr val="0D0D0D"/>
                </a:solidFill>
              </a:rPr>
              <a:t>Agent</a:t>
            </a:r>
            <a:r>
              <a:rPr lang="ko-KR" altLang="en-US" sz="1800" dirty="0">
                <a:solidFill>
                  <a:srgbClr val="0D0D0D"/>
                </a:solidFill>
              </a:rPr>
              <a:t>가 많을수록 컴퓨팅 파워가 모자르다</a:t>
            </a:r>
            <a:r>
              <a:rPr lang="en-US" altLang="ko-KR" sz="1800" dirty="0">
                <a:solidFill>
                  <a:srgbClr val="0D0D0D"/>
                </a:solidFill>
              </a:rPr>
              <a:t>.</a:t>
            </a:r>
            <a:endParaRPr lang="en-US" sz="1800" dirty="0">
              <a:solidFill>
                <a:srgbClr val="0D0D0D"/>
              </a:solidFill>
            </a:endParaRPr>
          </a:p>
          <a:p>
            <a:pPr>
              <a:defRPr sz="1800">
                <a:solidFill>
                  <a:srgbClr val="0D0D0D"/>
                </a:solidFill>
              </a:defRPr>
            </a:pPr>
            <a:r>
              <a:rPr sz="1800" dirty="0" err="1">
                <a:solidFill>
                  <a:srgbClr val="0D0D0D"/>
                </a:solidFill>
              </a:rPr>
              <a:t>컴퓨팅과</a:t>
            </a:r>
            <a:r>
              <a:rPr sz="1800" dirty="0">
                <a:solidFill>
                  <a:srgbClr val="0D0D0D"/>
                </a:solidFill>
              </a:rPr>
              <a:t> </a:t>
            </a:r>
            <a:r>
              <a:rPr sz="1800" dirty="0" err="1">
                <a:solidFill>
                  <a:srgbClr val="0D0D0D"/>
                </a:solidFill>
              </a:rPr>
              <a:t>인프라를</a:t>
            </a:r>
            <a:r>
              <a:rPr sz="1800" dirty="0">
                <a:solidFill>
                  <a:srgbClr val="0D0D0D"/>
                </a:solidFill>
              </a:rPr>
              <a:t> </a:t>
            </a:r>
            <a:r>
              <a:rPr sz="1800" dirty="0" err="1">
                <a:solidFill>
                  <a:srgbClr val="0D0D0D"/>
                </a:solidFill>
              </a:rPr>
              <a:t>다룰</a:t>
            </a:r>
            <a:r>
              <a:rPr sz="1800" dirty="0">
                <a:solidFill>
                  <a:srgbClr val="0D0D0D"/>
                </a:solidFill>
              </a:rPr>
              <a:t> </a:t>
            </a:r>
            <a:r>
              <a:rPr sz="1800" dirty="0" err="1">
                <a:solidFill>
                  <a:srgbClr val="0D0D0D"/>
                </a:solidFill>
              </a:rPr>
              <a:t>줄</a:t>
            </a:r>
            <a:r>
              <a:rPr sz="1800" dirty="0">
                <a:solidFill>
                  <a:srgbClr val="0D0D0D"/>
                </a:solidFill>
              </a:rPr>
              <a:t> </a:t>
            </a:r>
            <a:r>
              <a:rPr sz="1800" dirty="0" err="1">
                <a:solidFill>
                  <a:srgbClr val="0D0D0D"/>
                </a:solidFill>
              </a:rPr>
              <a:t>아는</a:t>
            </a:r>
            <a:r>
              <a:rPr sz="1800" dirty="0">
                <a:solidFill>
                  <a:srgbClr val="0D0D0D"/>
                </a:solidFill>
              </a:rPr>
              <a:t> </a:t>
            </a:r>
            <a:r>
              <a:rPr sz="1800" dirty="0" err="1">
                <a:solidFill>
                  <a:srgbClr val="0D0D0D"/>
                </a:solidFill>
              </a:rPr>
              <a:t>개발자가</a:t>
            </a:r>
            <a:r>
              <a:rPr sz="1800" dirty="0">
                <a:solidFill>
                  <a:srgbClr val="0D0D0D"/>
                </a:solidFill>
              </a:rPr>
              <a:t> </a:t>
            </a:r>
            <a:r>
              <a:rPr sz="1800" dirty="0" err="1">
                <a:solidFill>
                  <a:srgbClr val="0D0D0D"/>
                </a:solidFill>
              </a:rPr>
              <a:t>유리해진다</a:t>
            </a:r>
            <a:r>
              <a:rPr sz="1800" dirty="0">
                <a:solidFill>
                  <a:srgbClr val="0D0D0D"/>
                </a:solidFill>
              </a:rPr>
              <a:t>.</a:t>
            </a:r>
          </a:p>
        </p:txBody>
      </p:sp>
      <p:sp>
        <p:nvSpPr>
          <p:cNvPr id="18" name="imp-takeaway">
            <a:extLst>
              <a:ext uri="{FF2B5EF4-FFF2-40B4-BE49-F238E27FC236}">
                <a16:creationId xmlns:a16="http://schemas.microsoft.com/office/drawing/2014/main" id="{8F692F69-BBC3-4EDB-86A8-2DD2CE4D5776}"/>
              </a:ext>
            </a:extLst>
          </p:cNvPr>
          <p:cNvSpPr>
            <a:spLocks noGrp="1"/>
          </p:cNvSpPr>
          <p:nvPr/>
        </p:nvSpPr>
        <p:spPr>
          <a:xfrm>
            <a:off x="1428750" y="8477250"/>
            <a:ext cx="138112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D0D0D"/>
                </a:solidFill>
              </a:defRPr>
            </a:pPr>
            <a:r>
              <a:rPr sz="2550" b="1">
                <a:solidFill>
                  <a:srgbClr val="0D0D0D"/>
                </a:solidFill>
              </a:rPr>
              <a:t>개발자는 코드 작성자에서 workflow designer로 이동한다.</a:t>
            </a:r>
          </a:p>
        </p:txBody>
      </p:sp>
      <p:sp>
        <p:nvSpPr>
          <p:cNvPr id="19" name="source-rail">
            <a:extLst>
              <a:ext uri="{FF2B5EF4-FFF2-40B4-BE49-F238E27FC236}">
                <a16:creationId xmlns:a16="http://schemas.microsoft.com/office/drawing/2014/main" id="{57383489-CF97-456F-AF7A-51E2D2D9CB78}"/>
              </a:ext>
            </a:extLst>
          </p:cNvPr>
          <p:cNvSpPr>
            <a:spLocks noGrp="1"/>
          </p:cNvSpPr>
          <p:nvPr/>
        </p:nvSpPr>
        <p:spPr>
          <a:xfrm>
            <a:off x="1143000" y="9753600"/>
            <a:ext cx="119062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ACACBE"/>
                </a:solidFill>
              </a:defRPr>
            </a:pPr>
            <a:r>
              <a:rPr sz="1125">
                <a:solidFill>
                  <a:srgbClr val="ACACBE"/>
                </a:solidFill>
              </a:rPr>
              <a:t>github-symphony · SPEC.md</a:t>
            </a:r>
          </a:p>
        </p:txBody>
      </p:sp>
      <p:sp>
        <p:nvSpPr>
          <p:cNvPr id="20" name="slide-page">
            <a:extLst>
              <a:ext uri="{FF2B5EF4-FFF2-40B4-BE49-F238E27FC236}">
                <a16:creationId xmlns:a16="http://schemas.microsoft.com/office/drawing/2014/main" id="{B738EA66-27B0-4982-AA80-76C90868676C}"/>
              </a:ext>
            </a:extLst>
          </p:cNvPr>
          <p:cNvSpPr>
            <a:spLocks noGrp="1"/>
          </p:cNvSpPr>
          <p:nvPr/>
        </p:nvSpPr>
        <p:spPr>
          <a:xfrm>
            <a:off x="16573500" y="9753600"/>
            <a:ext cx="762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125">
                <a:solidFill>
                  <a:srgbClr val="ACACBE"/>
                </a:solidFill>
              </a:defRPr>
            </a:pPr>
            <a:r>
              <a:rPr sz="1125">
                <a:solidFill>
                  <a:srgbClr val="ACACBE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06547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bg">
            <a:extLst>
              <a:ext uri="{FF2B5EF4-FFF2-40B4-BE49-F238E27FC236}">
                <a16:creationId xmlns:a16="http://schemas.microsoft.com/office/drawing/2014/main" id="{3459A450-A2C5-4B35-8B1D-03038CC863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0D0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6A72919-E2C5-4144-B2E2-BB9E586D8D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4800" cy="10287000"/>
          </a:xfrm>
          <a:prstGeom prst="rect">
            <a:avLst/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closing-title">
            <a:extLst>
              <a:ext uri="{FF2B5EF4-FFF2-40B4-BE49-F238E27FC236}">
                <a16:creationId xmlns:a16="http://schemas.microsoft.com/office/drawing/2014/main" id="{5C104E35-9700-4F3A-A1C8-C33E4ED977D1}"/>
              </a:ext>
            </a:extLst>
          </p:cNvPr>
          <p:cNvSpPr>
            <a:spLocks noGrp="1"/>
          </p:cNvSpPr>
          <p:nvPr/>
        </p:nvSpPr>
        <p:spPr>
          <a:xfrm>
            <a:off x="1143000" y="2381250"/>
            <a:ext cx="1000125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550" b="1">
                <a:solidFill>
                  <a:srgbClr val="FFFFFF"/>
                </a:solidFill>
              </a:defRPr>
            </a:pPr>
            <a:r>
              <a:rPr sz="5550" b="1">
                <a:solidFill>
                  <a:srgbClr val="FFFFFF"/>
                </a:solidFill>
              </a:rPr>
              <a:t>github-symphony</a:t>
            </a:r>
          </a:p>
        </p:txBody>
      </p:sp>
      <p:sp>
        <p:nvSpPr>
          <p:cNvPr id="4" name="closing-subtitle">
            <a:extLst>
              <a:ext uri="{FF2B5EF4-FFF2-40B4-BE49-F238E27FC236}">
                <a16:creationId xmlns:a16="http://schemas.microsoft.com/office/drawing/2014/main" id="{AE40A989-60BA-4435-9DF7-644BD5293913}"/>
              </a:ext>
            </a:extLst>
          </p:cNvPr>
          <p:cNvSpPr>
            <a:spLocks noGrp="1"/>
          </p:cNvSpPr>
          <p:nvPr/>
        </p:nvSpPr>
        <p:spPr>
          <a:xfrm>
            <a:off x="1181100" y="3390900"/>
            <a:ext cx="91440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>
                <a:solidFill>
                  <a:srgbClr val="DDE7E2"/>
                </a:solidFill>
              </a:defRPr>
            </a:pPr>
            <a:r>
              <a:rPr sz="2325">
                <a:solidFill>
                  <a:srgbClr val="DDE7E2"/>
                </a:solidFill>
              </a:rPr>
              <a:t>SPEC.md로 소프트웨어를 배포하는 새로운 시대</a:t>
            </a:r>
          </a:p>
        </p:txBody>
      </p:sp>
      <p:sp>
        <p:nvSpPr>
          <p:cNvPr id="5" name="rule">
            <a:extLst>
              <a:ext uri="{FF2B5EF4-FFF2-40B4-BE49-F238E27FC236}">
                <a16:creationId xmlns:a16="http://schemas.microsoft.com/office/drawing/2014/main" id="{0045DA6A-A43C-4A87-AA91-BF232229F181}"/>
              </a:ext>
            </a:extLst>
          </p:cNvPr>
          <p:cNvSpPr>
            <a:spLocks noGrp="1"/>
          </p:cNvSpPr>
          <p:nvPr/>
        </p:nvSpPr>
        <p:spPr>
          <a:xfrm>
            <a:off x="1181100" y="4229100"/>
            <a:ext cx="4000500" cy="57150"/>
          </a:xfrm>
          <a:prstGeom prst="rect">
            <a:avLst/>
          </a:prstGeom>
          <a:solidFill>
            <a:srgbClr val="10A37F"/>
          </a:solidFill>
          <a:ln w="0">
            <a:solidFill>
              <a:srgbClr val="10A37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13F97E86-EDF4-409F-9571-B3866719CDA2}"/>
              </a:ext>
            </a:extLst>
          </p:cNvPr>
          <p:cNvSpPr>
            <a:spLocks noGrp="1"/>
          </p:cNvSpPr>
          <p:nvPr/>
        </p:nvSpPr>
        <p:spPr>
          <a:xfrm>
            <a:off x="1219200" y="5257800"/>
            <a:ext cx="9372600" cy="1143000"/>
          </a:xfrm>
          <a:prstGeom prst="roundRect">
            <a:avLst>
              <a:gd name="adj" fmla="val 15000"/>
            </a:avLst>
          </a:prstGeom>
          <a:solidFill>
            <a:srgbClr val="202123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B5572244-7843-4130-AD37-C1548C18A3B5}"/>
              </a:ext>
            </a:extLst>
          </p:cNvPr>
          <p:cNvSpPr>
            <a:spLocks noGrp="1"/>
          </p:cNvSpPr>
          <p:nvPr/>
        </p:nvSpPr>
        <p:spPr>
          <a:xfrm>
            <a:off x="1219200" y="5257800"/>
            <a:ext cx="76200" cy="1143000"/>
          </a:xfrm>
          <a:prstGeom prst="roundRect">
            <a:avLst>
              <a:gd name="adj" fmla="val 50000"/>
            </a:avLst>
          </a:prstGeom>
          <a:solidFill>
            <a:srgbClr val="10A37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8" name="repo-link">
            <a:extLst>
              <a:ext uri="{FF2B5EF4-FFF2-40B4-BE49-F238E27FC236}">
                <a16:creationId xmlns:a16="http://schemas.microsoft.com/office/drawing/2014/main" id="{BDFD9E04-8974-40CD-AD9F-B8044ABE46F8}"/>
              </a:ext>
            </a:extLst>
          </p:cNvPr>
          <p:cNvSpPr>
            <a:spLocks noGrp="1"/>
          </p:cNvSpPr>
          <p:nvPr/>
        </p:nvSpPr>
        <p:spPr>
          <a:xfrm>
            <a:off x="1638300" y="5581650"/>
            <a:ext cx="8096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github.com/hojinzs/github-symphony</a:t>
            </a:r>
          </a:p>
        </p:txBody>
      </p:sp>
      <p:sp>
        <p:nvSpPr>
          <p:cNvPr id="9" name="qa">
            <a:extLst>
              <a:ext uri="{FF2B5EF4-FFF2-40B4-BE49-F238E27FC236}">
                <a16:creationId xmlns:a16="http://schemas.microsoft.com/office/drawing/2014/main" id="{DC30F9B8-45BC-478A-9EFE-D0758DB7FCF3}"/>
              </a:ext>
            </a:extLst>
          </p:cNvPr>
          <p:cNvSpPr>
            <a:spLocks noGrp="1"/>
          </p:cNvSpPr>
          <p:nvPr/>
        </p:nvSpPr>
        <p:spPr>
          <a:xfrm>
            <a:off x="1181100" y="7429500"/>
            <a:ext cx="3429000" cy="952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150" b="1">
                <a:solidFill>
                  <a:srgbClr val="10A37F"/>
                </a:solidFill>
              </a:defRPr>
            </a:pPr>
            <a:r>
              <a:rPr sz="6150" b="1">
                <a:solidFill>
                  <a:srgbClr val="10A37F"/>
                </a:solidFill>
              </a:rPr>
              <a:t>Q&amp;A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3441607D-6A33-4C6C-8C85-72DAE4C433F6}"/>
              </a:ext>
            </a:extLst>
          </p:cNvPr>
          <p:cNvSpPr>
            <a:spLocks noGrp="1"/>
          </p:cNvSpPr>
          <p:nvPr/>
        </p:nvSpPr>
        <p:spPr>
          <a:xfrm>
            <a:off x="13258800" y="1600200"/>
            <a:ext cx="3429000" cy="6781800"/>
          </a:xfrm>
          <a:prstGeom prst="roundRect">
            <a:avLst>
              <a:gd name="adj" fmla="val 7778"/>
            </a:avLst>
          </a:prstGeom>
          <a:solidFill>
            <a:srgbClr val="202123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pec-card-title">
            <a:extLst>
              <a:ext uri="{FF2B5EF4-FFF2-40B4-BE49-F238E27FC236}">
                <a16:creationId xmlns:a16="http://schemas.microsoft.com/office/drawing/2014/main" id="{0A62E3E0-AA51-4CEE-BF68-DE4484A6156A}"/>
              </a:ext>
            </a:extLst>
          </p:cNvPr>
          <p:cNvSpPr>
            <a:spLocks noGrp="1"/>
          </p:cNvSpPr>
          <p:nvPr/>
        </p:nvSpPr>
        <p:spPr>
          <a:xfrm>
            <a:off x="13754100" y="2343150"/>
            <a:ext cx="2286000" cy="4381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SPEC.md</a:t>
            </a:r>
          </a:p>
        </p:txBody>
      </p:sp>
      <p:sp>
        <p:nvSpPr>
          <p:cNvPr id="12" name="spec-card-flow">
            <a:extLst>
              <a:ext uri="{FF2B5EF4-FFF2-40B4-BE49-F238E27FC236}">
                <a16:creationId xmlns:a16="http://schemas.microsoft.com/office/drawing/2014/main" id="{D5E7F6DA-B56E-42AC-A5A5-FBA1A3105C05}"/>
              </a:ext>
            </a:extLst>
          </p:cNvPr>
          <p:cNvSpPr>
            <a:spLocks noGrp="1"/>
          </p:cNvSpPr>
          <p:nvPr/>
        </p:nvSpPr>
        <p:spPr>
          <a:xfrm>
            <a:off x="13811250" y="3429000"/>
            <a:ext cx="2381250" cy="12382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2025">
                <a:solidFill>
                  <a:srgbClr val="C8D4CF"/>
                </a:solidFill>
              </a:defRPr>
            </a:pPr>
            <a:r>
              <a:rPr sz="2025">
                <a:solidFill>
                  <a:srgbClr val="C8D4CF"/>
                </a:solidFill>
              </a:rPr>
              <a:t>Issue Tracker</a:t>
            </a:r>
          </a:p>
          <a:p>
            <a:pPr algn="ctr">
              <a:defRPr sz="2025">
                <a:solidFill>
                  <a:srgbClr val="C8D4CF"/>
                </a:solidFill>
              </a:defRPr>
            </a:pPr>
            <a:r>
              <a:rPr sz="2025">
                <a:solidFill>
                  <a:srgbClr val="C8D4CF"/>
                </a:solidFill>
              </a:rPr>
              <a:t>→ Orchestrator</a:t>
            </a:r>
          </a:p>
          <a:p>
            <a:pPr algn="ctr">
              <a:defRPr sz="2025">
                <a:solidFill>
                  <a:srgbClr val="C8D4CF"/>
                </a:solidFill>
              </a:defRPr>
            </a:pPr>
            <a:r>
              <a:rPr sz="2025">
                <a:solidFill>
                  <a:srgbClr val="C8D4CF"/>
                </a:solidFill>
              </a:rPr>
              <a:t>→ Agent Runner</a:t>
            </a:r>
          </a:p>
          <a:p>
            <a:pPr algn="ctr">
              <a:defRPr sz="2025">
                <a:solidFill>
                  <a:srgbClr val="C8D4CF"/>
                </a:solidFill>
              </a:defRPr>
            </a:pPr>
            <a:r>
              <a:rPr sz="2025">
                <a:solidFill>
                  <a:srgbClr val="C8D4CF"/>
                </a:solidFill>
              </a:rPr>
              <a:t>→ PR + CI</a:t>
            </a:r>
          </a:p>
        </p:txBody>
      </p:sp>
      <p:sp>
        <p:nvSpPr>
          <p:cNvPr id="13" name="spec-card-caption">
            <a:extLst>
              <a:ext uri="{FF2B5EF4-FFF2-40B4-BE49-F238E27FC236}">
                <a16:creationId xmlns:a16="http://schemas.microsoft.com/office/drawing/2014/main" id="{F838608F-1DDC-4A98-A0D5-8AC1657A6F2A}"/>
              </a:ext>
            </a:extLst>
          </p:cNvPr>
          <p:cNvSpPr>
            <a:spLocks noGrp="1"/>
          </p:cNvSpPr>
          <p:nvPr/>
        </p:nvSpPr>
        <p:spPr>
          <a:xfrm>
            <a:off x="13620750" y="6572250"/>
            <a:ext cx="28575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>
                <a:solidFill>
                  <a:srgbClr val="7EE0C4"/>
                </a:solidFill>
              </a:defRPr>
            </a:pPr>
            <a:r>
              <a:rPr sz="1500">
                <a:solidFill>
                  <a:srgbClr val="7EE0C4"/>
                </a:solidFill>
              </a:rPr>
              <a:t>control plane for agents</a:t>
            </a:r>
          </a:p>
        </p:txBody>
      </p:sp>
      <p:sp>
        <p:nvSpPr>
          <p:cNvPr id="14" name="dark-footer">
            <a:extLst>
              <a:ext uri="{FF2B5EF4-FFF2-40B4-BE49-F238E27FC236}">
                <a16:creationId xmlns:a16="http://schemas.microsoft.com/office/drawing/2014/main" id="{36B60E38-D4FC-463C-AC24-99EF44F61E0F}"/>
              </a:ext>
            </a:extLst>
          </p:cNvPr>
          <p:cNvSpPr>
            <a:spLocks noGrp="1"/>
          </p:cNvSpPr>
          <p:nvPr/>
        </p:nvSpPr>
        <p:spPr>
          <a:xfrm>
            <a:off x="1143000" y="9601200"/>
            <a:ext cx="8572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BFC7C2"/>
                </a:solidFill>
              </a:defRPr>
            </a:pPr>
            <a:r>
              <a:rPr sz="1425">
                <a:solidFill>
                  <a:srgbClr val="BFC7C2"/>
                </a:solidFill>
              </a:rPr>
              <a:t>OpenAI Symphony 기반 · GitHub Projects + TypeScript 구현체</a:t>
            </a:r>
          </a:p>
        </p:txBody>
      </p:sp>
    </p:spTree>
    <p:extLst>
      <p:ext uri="{BB962C8B-B14F-4D97-AF65-F5344CB8AC3E}">
        <p14:creationId xmlns:p14="http://schemas.microsoft.com/office/powerpoint/2010/main" val="153814487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1102</Words>
  <Application>Microsoft Macintosh PowerPoint</Application>
  <DocSecurity>0</DocSecurity>
  <PresentationFormat>사용자 지정</PresentationFormat>
  <Paragraphs>255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5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호진 이</cp:lastModifiedBy>
  <cp:revision>18</cp:revision>
  <dcterms:created xsi:type="dcterms:W3CDTF">2026-04-29T13:55:53Z</dcterms:created>
  <dcterms:modified xsi:type="dcterms:W3CDTF">2026-04-29T14:23:21Z</dcterms:modified>
</cp:coreProperties>
</file>